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Semi-Bold" charset="1" panose="00000700000000000000"/>
      <p:regular r:id="rId19"/>
    </p:embeddedFont>
    <p:embeddedFont>
      <p:font typeface="Open Sans Bold" charset="1" panose="00000000000000000000"/>
      <p:regular r:id="rId20"/>
    </p:embeddedFont>
    <p:embeddedFont>
      <p:font typeface="Open Sans"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028700" y="3055194"/>
            <a:ext cx="953768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Data </a:t>
            </a:r>
          </a:p>
        </p:txBody>
      </p:sp>
      <p:sp>
        <p:nvSpPr>
          <p:cNvPr name="TextBox 17" id="17"/>
          <p:cNvSpPr txBox="true"/>
          <p:nvPr/>
        </p:nvSpPr>
        <p:spPr>
          <a:xfrm rot="0">
            <a:off x="1028700" y="4450251"/>
            <a:ext cx="764062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Analytics</a:t>
            </a:r>
          </a:p>
        </p:txBody>
      </p:sp>
      <p:sp>
        <p:nvSpPr>
          <p:cNvPr name="TextBox 18" id="18"/>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19" id="19"/>
          <p:cNvSpPr txBox="true"/>
          <p:nvPr/>
        </p:nvSpPr>
        <p:spPr>
          <a:xfrm rot="0">
            <a:off x="1624608" y="8018950"/>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Presented by:</a:t>
            </a:r>
          </a:p>
        </p:txBody>
      </p:sp>
      <p:sp>
        <p:nvSpPr>
          <p:cNvPr name="TextBox 20" id="20"/>
          <p:cNvSpPr txBox="true"/>
          <p:nvPr/>
        </p:nvSpPr>
        <p:spPr>
          <a:xfrm rot="0">
            <a:off x="1624608" y="8511884"/>
            <a:ext cx="3976232" cy="422238"/>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Aaron</a:t>
            </a:r>
            <a:r>
              <a:rPr lang="en-US" sz="2499">
                <a:solidFill>
                  <a:srgbClr val="1E293B"/>
                </a:solidFill>
                <a:latin typeface="Open Sans"/>
                <a:ea typeface="Open Sans"/>
                <a:cs typeface="Open Sans"/>
                <a:sym typeface="Open Sans"/>
              </a:rPr>
              <a:t> Mensah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596462" y="1128021"/>
            <a:ext cx="7662838" cy="3642637"/>
            <a:chOff x="0" y="0"/>
            <a:chExt cx="1187174" cy="564340"/>
          </a:xfrm>
        </p:grpSpPr>
        <p:sp>
          <p:nvSpPr>
            <p:cNvPr name="Freeform 7" id="7"/>
            <p:cNvSpPr/>
            <p:nvPr/>
          </p:nvSpPr>
          <p:spPr>
            <a:xfrm flipH="false" flipV="false" rot="0">
              <a:off x="0" y="0"/>
              <a:ext cx="1187174" cy="564340"/>
            </a:xfrm>
            <a:custGeom>
              <a:avLst/>
              <a:gdLst/>
              <a:ahLst/>
              <a:cxnLst/>
              <a:rect r="r" b="b" t="t" l="l"/>
              <a:pathLst>
                <a:path h="564340" w="1187174">
                  <a:moveTo>
                    <a:pt x="14144" y="0"/>
                  </a:moveTo>
                  <a:lnTo>
                    <a:pt x="1173030" y="0"/>
                  </a:lnTo>
                  <a:cubicBezTo>
                    <a:pt x="1180841" y="0"/>
                    <a:pt x="1187174" y="6333"/>
                    <a:pt x="1187174" y="14144"/>
                  </a:cubicBezTo>
                  <a:lnTo>
                    <a:pt x="1187174" y="550195"/>
                  </a:lnTo>
                  <a:cubicBezTo>
                    <a:pt x="1187174" y="553947"/>
                    <a:pt x="1185684" y="557544"/>
                    <a:pt x="1183031" y="560197"/>
                  </a:cubicBezTo>
                  <a:cubicBezTo>
                    <a:pt x="1180379" y="562850"/>
                    <a:pt x="1176781" y="564340"/>
                    <a:pt x="1173030" y="564340"/>
                  </a:cubicBezTo>
                  <a:lnTo>
                    <a:pt x="14144" y="564340"/>
                  </a:lnTo>
                  <a:cubicBezTo>
                    <a:pt x="10393" y="564340"/>
                    <a:pt x="6795" y="562850"/>
                    <a:pt x="4143" y="560197"/>
                  </a:cubicBezTo>
                  <a:cubicBezTo>
                    <a:pt x="1490" y="557544"/>
                    <a:pt x="0" y="553947"/>
                    <a:pt x="0" y="550195"/>
                  </a:cubicBezTo>
                  <a:lnTo>
                    <a:pt x="0" y="14144"/>
                  </a:lnTo>
                  <a:cubicBezTo>
                    <a:pt x="0" y="10393"/>
                    <a:pt x="1490" y="6795"/>
                    <a:pt x="4143" y="4143"/>
                  </a:cubicBezTo>
                  <a:cubicBezTo>
                    <a:pt x="6795" y="1490"/>
                    <a:pt x="10393" y="0"/>
                    <a:pt x="14144" y="0"/>
                  </a:cubicBezTo>
                  <a:close/>
                </a:path>
              </a:pathLst>
            </a:custGeom>
            <a:blipFill>
              <a:blip r:embed="rId4"/>
              <a:stretch>
                <a:fillRect l="0" t="-20209" r="0" b="-20209"/>
              </a:stretch>
            </a:blipFill>
          </p:spPr>
        </p:sp>
      </p:grpSp>
      <p:sp>
        <p:nvSpPr>
          <p:cNvPr name="TextBox 8" id="8"/>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9" id="9"/>
          <p:cNvSpPr txBox="true"/>
          <p:nvPr/>
        </p:nvSpPr>
        <p:spPr>
          <a:xfrm rot="0">
            <a:off x="1028700" y="2324088"/>
            <a:ext cx="551580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Executive Summary</a:t>
            </a:r>
          </a:p>
        </p:txBody>
      </p:sp>
      <p:sp>
        <p:nvSpPr>
          <p:cNvPr name="TextBox 10" id="10"/>
          <p:cNvSpPr txBox="true"/>
          <p:nvPr/>
        </p:nvSpPr>
        <p:spPr>
          <a:xfrm rot="0">
            <a:off x="1028700"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sp>
        <p:nvSpPr>
          <p:cNvPr name="TextBox 11" id="11"/>
          <p:cNvSpPr txBox="true"/>
          <p:nvPr/>
        </p:nvSpPr>
        <p:spPr>
          <a:xfrm rot="0">
            <a:off x="9596462"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143500"/>
            <a:ext cx="3928440" cy="2009215"/>
            <a:chOff x="0" y="0"/>
            <a:chExt cx="1034651" cy="529176"/>
          </a:xfrm>
        </p:grpSpPr>
        <p:sp>
          <p:nvSpPr>
            <p:cNvPr name="Freeform 7" id="7"/>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8" id="8"/>
            <p:cNvSpPr txBox="true"/>
            <p:nvPr/>
          </p:nvSpPr>
          <p:spPr>
            <a:xfrm>
              <a:off x="0" y="-47625"/>
              <a:ext cx="1034651" cy="576801"/>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5128590" y="5143500"/>
            <a:ext cx="3928440" cy="2009215"/>
            <a:chOff x="0" y="0"/>
            <a:chExt cx="1034651" cy="529176"/>
          </a:xfrm>
        </p:grpSpPr>
        <p:sp>
          <p:nvSpPr>
            <p:cNvPr name="Freeform 10" id="10"/>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11" id="11"/>
            <p:cNvSpPr txBox="true"/>
            <p:nvPr/>
          </p:nvSpPr>
          <p:spPr>
            <a:xfrm>
              <a:off x="0" y="-47625"/>
              <a:ext cx="1034651" cy="576801"/>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9228481" y="5143500"/>
            <a:ext cx="3928440" cy="2009215"/>
            <a:chOff x="0" y="0"/>
            <a:chExt cx="1034651" cy="529176"/>
          </a:xfrm>
        </p:grpSpPr>
        <p:sp>
          <p:nvSpPr>
            <p:cNvPr name="Freeform 13" id="13"/>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14" id="14"/>
            <p:cNvSpPr txBox="true"/>
            <p:nvPr/>
          </p:nvSpPr>
          <p:spPr>
            <a:xfrm>
              <a:off x="0" y="-47625"/>
              <a:ext cx="1034651" cy="576801"/>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13330860" y="5143500"/>
            <a:ext cx="3928440" cy="2009215"/>
            <a:chOff x="0" y="0"/>
            <a:chExt cx="1034651" cy="529176"/>
          </a:xfrm>
        </p:grpSpPr>
        <p:sp>
          <p:nvSpPr>
            <p:cNvPr name="Freeform 16" id="16"/>
            <p:cNvSpPr/>
            <p:nvPr/>
          </p:nvSpPr>
          <p:spPr>
            <a:xfrm flipH="false" flipV="false" rot="0">
              <a:off x="0" y="0"/>
              <a:ext cx="1034651" cy="529176"/>
            </a:xfrm>
            <a:custGeom>
              <a:avLst/>
              <a:gdLst/>
              <a:ahLst/>
              <a:cxnLst/>
              <a:rect r="r" b="b" t="t" l="l"/>
              <a:pathLst>
                <a:path h="529176" w="1034651">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17" id="17"/>
            <p:cNvSpPr txBox="true"/>
            <p:nvPr/>
          </p:nvSpPr>
          <p:spPr>
            <a:xfrm>
              <a:off x="0" y="-47625"/>
              <a:ext cx="1034651" cy="576801"/>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1028700" y="6706187"/>
            <a:ext cx="3928440" cy="2552113"/>
            <a:chOff x="0" y="0"/>
            <a:chExt cx="1034651" cy="672161"/>
          </a:xfrm>
        </p:grpSpPr>
        <p:sp>
          <p:nvSpPr>
            <p:cNvPr name="Freeform 19" id="19"/>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0" id="20"/>
            <p:cNvSpPr txBox="true"/>
            <p:nvPr/>
          </p:nvSpPr>
          <p:spPr>
            <a:xfrm>
              <a:off x="0" y="-47625"/>
              <a:ext cx="1034651" cy="719786"/>
            </a:xfrm>
            <a:prstGeom prst="rect">
              <a:avLst/>
            </a:prstGeom>
          </p:spPr>
          <p:txBody>
            <a:bodyPr anchor="ctr" rtlCol="false" tIns="50800" lIns="50800" bIns="50800" rIns="50800"/>
            <a:lstStyle/>
            <a:p>
              <a:pPr algn="ctr">
                <a:lnSpc>
                  <a:spcPts val="3499"/>
                </a:lnSpc>
              </a:pPr>
            </a:p>
          </p:txBody>
        </p:sp>
      </p:grpSp>
      <p:grpSp>
        <p:nvGrpSpPr>
          <p:cNvPr name="Group 21" id="21"/>
          <p:cNvGrpSpPr/>
          <p:nvPr/>
        </p:nvGrpSpPr>
        <p:grpSpPr>
          <a:xfrm rot="0">
            <a:off x="5128590" y="6706187"/>
            <a:ext cx="3928440" cy="2552113"/>
            <a:chOff x="0" y="0"/>
            <a:chExt cx="1034651" cy="672161"/>
          </a:xfrm>
        </p:grpSpPr>
        <p:sp>
          <p:nvSpPr>
            <p:cNvPr name="Freeform 22" id="22"/>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3" id="23"/>
            <p:cNvSpPr txBox="true"/>
            <p:nvPr/>
          </p:nvSpPr>
          <p:spPr>
            <a:xfrm>
              <a:off x="0" y="-47625"/>
              <a:ext cx="1034651" cy="719786"/>
            </a:xfrm>
            <a:prstGeom prst="rect">
              <a:avLst/>
            </a:prstGeom>
          </p:spPr>
          <p:txBody>
            <a:bodyPr anchor="ctr" rtlCol="false" tIns="50800" lIns="50800" bIns="50800" rIns="50800"/>
            <a:lstStyle/>
            <a:p>
              <a:pPr algn="ctr">
                <a:lnSpc>
                  <a:spcPts val="3499"/>
                </a:lnSpc>
              </a:pPr>
            </a:p>
          </p:txBody>
        </p:sp>
      </p:grpSp>
      <p:grpSp>
        <p:nvGrpSpPr>
          <p:cNvPr name="Group 24" id="24"/>
          <p:cNvGrpSpPr/>
          <p:nvPr/>
        </p:nvGrpSpPr>
        <p:grpSpPr>
          <a:xfrm rot="0">
            <a:off x="9228481" y="6706187"/>
            <a:ext cx="3928440" cy="2552113"/>
            <a:chOff x="0" y="0"/>
            <a:chExt cx="1034651" cy="672161"/>
          </a:xfrm>
        </p:grpSpPr>
        <p:sp>
          <p:nvSpPr>
            <p:cNvPr name="Freeform 25" id="25"/>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6" id="26"/>
            <p:cNvSpPr txBox="true"/>
            <p:nvPr/>
          </p:nvSpPr>
          <p:spPr>
            <a:xfrm>
              <a:off x="0" y="-47625"/>
              <a:ext cx="1034651" cy="719786"/>
            </a:xfrm>
            <a:prstGeom prst="rect">
              <a:avLst/>
            </a:prstGeom>
          </p:spPr>
          <p:txBody>
            <a:bodyPr anchor="ctr" rtlCol="false" tIns="50800" lIns="50800" bIns="50800" rIns="50800"/>
            <a:lstStyle/>
            <a:p>
              <a:pPr algn="ctr">
                <a:lnSpc>
                  <a:spcPts val="3499"/>
                </a:lnSpc>
              </a:pPr>
            </a:p>
          </p:txBody>
        </p:sp>
      </p:grpSp>
      <p:grpSp>
        <p:nvGrpSpPr>
          <p:cNvPr name="Group 27" id="27"/>
          <p:cNvGrpSpPr/>
          <p:nvPr/>
        </p:nvGrpSpPr>
        <p:grpSpPr>
          <a:xfrm rot="0">
            <a:off x="13330860" y="6706187"/>
            <a:ext cx="3928440" cy="2552113"/>
            <a:chOff x="0" y="0"/>
            <a:chExt cx="1034651" cy="672161"/>
          </a:xfrm>
        </p:grpSpPr>
        <p:sp>
          <p:nvSpPr>
            <p:cNvPr name="Freeform 28" id="28"/>
            <p:cNvSpPr/>
            <p:nvPr/>
          </p:nvSpPr>
          <p:spPr>
            <a:xfrm flipH="false" flipV="false" rot="0">
              <a:off x="0" y="0"/>
              <a:ext cx="1034651" cy="672161"/>
            </a:xfrm>
            <a:custGeom>
              <a:avLst/>
              <a:gdLst/>
              <a:ahLst/>
              <a:cxnLst/>
              <a:rect r="r" b="b" t="t" l="l"/>
              <a:pathLst>
                <a:path h="672161" w="103465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name="TextBox 29" id="29"/>
            <p:cNvSpPr txBox="true"/>
            <p:nvPr/>
          </p:nvSpPr>
          <p:spPr>
            <a:xfrm>
              <a:off x="0" y="-47625"/>
              <a:ext cx="1034651" cy="719786"/>
            </a:xfrm>
            <a:prstGeom prst="rect">
              <a:avLst/>
            </a:prstGeom>
          </p:spPr>
          <p:txBody>
            <a:bodyPr anchor="ctr" rtlCol="false" tIns="50800" lIns="50800" bIns="50800" rIns="50800"/>
            <a:lstStyle/>
            <a:p>
              <a:pPr algn="ctr">
                <a:lnSpc>
                  <a:spcPts val="3499"/>
                </a:lnSpc>
              </a:pPr>
            </a:p>
          </p:txBody>
        </p:sp>
      </p:grpSp>
      <p:grpSp>
        <p:nvGrpSpPr>
          <p:cNvPr name="Group 30" id="30"/>
          <p:cNvGrpSpPr/>
          <p:nvPr/>
        </p:nvGrpSpPr>
        <p:grpSpPr>
          <a:xfrm rot="-5400000">
            <a:off x="2711674" y="6480088"/>
            <a:ext cx="562492" cy="452200"/>
            <a:chOff x="0" y="0"/>
            <a:chExt cx="647700" cy="520700"/>
          </a:xfrm>
        </p:grpSpPr>
        <p:sp>
          <p:nvSpPr>
            <p:cNvPr name="Freeform 31" id="31"/>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2" id="32"/>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33" id="33"/>
          <p:cNvGrpSpPr/>
          <p:nvPr/>
        </p:nvGrpSpPr>
        <p:grpSpPr>
          <a:xfrm rot="-5400000">
            <a:off x="6811565" y="6480088"/>
            <a:ext cx="562492" cy="452200"/>
            <a:chOff x="0" y="0"/>
            <a:chExt cx="647700" cy="520700"/>
          </a:xfrm>
        </p:grpSpPr>
        <p:sp>
          <p:nvSpPr>
            <p:cNvPr name="Freeform 34" id="34"/>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5" id="35"/>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36" id="36"/>
          <p:cNvGrpSpPr/>
          <p:nvPr/>
        </p:nvGrpSpPr>
        <p:grpSpPr>
          <a:xfrm rot="-5400000">
            <a:off x="10912699"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39" id="39"/>
          <p:cNvGrpSpPr/>
          <p:nvPr/>
        </p:nvGrpSpPr>
        <p:grpSpPr>
          <a:xfrm rot="-5400000">
            <a:off x="15006775"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42" id="42"/>
          <p:cNvGrpSpPr/>
          <p:nvPr/>
        </p:nvGrpSpPr>
        <p:grpSpPr>
          <a:xfrm rot="0">
            <a:off x="8430452" y="1028700"/>
            <a:ext cx="8828848" cy="3169420"/>
            <a:chOff x="0" y="0"/>
            <a:chExt cx="1367820" cy="491026"/>
          </a:xfrm>
        </p:grpSpPr>
        <p:sp>
          <p:nvSpPr>
            <p:cNvPr name="Freeform 43" id="43"/>
            <p:cNvSpPr/>
            <p:nvPr/>
          </p:nvSpPr>
          <p:spPr>
            <a:xfrm flipH="false" flipV="false" rot="0">
              <a:off x="0" y="0"/>
              <a:ext cx="1367820" cy="491026"/>
            </a:xfrm>
            <a:custGeom>
              <a:avLst/>
              <a:gdLst/>
              <a:ahLst/>
              <a:cxnLst/>
              <a:rect r="r" b="b" t="t" l="l"/>
              <a:pathLst>
                <a:path h="491026" w="1367820">
                  <a:moveTo>
                    <a:pt x="12276" y="0"/>
                  </a:moveTo>
                  <a:lnTo>
                    <a:pt x="1355543" y="0"/>
                  </a:lnTo>
                  <a:cubicBezTo>
                    <a:pt x="1358799" y="0"/>
                    <a:pt x="1361922" y="1293"/>
                    <a:pt x="1364224" y="3596"/>
                  </a:cubicBezTo>
                  <a:cubicBezTo>
                    <a:pt x="1366526" y="5898"/>
                    <a:pt x="1367820" y="9021"/>
                    <a:pt x="1367820" y="12276"/>
                  </a:cubicBezTo>
                  <a:lnTo>
                    <a:pt x="1367820" y="478750"/>
                  </a:lnTo>
                  <a:cubicBezTo>
                    <a:pt x="1367820" y="482006"/>
                    <a:pt x="1366526" y="485128"/>
                    <a:pt x="1364224" y="487430"/>
                  </a:cubicBezTo>
                  <a:cubicBezTo>
                    <a:pt x="1361922" y="489733"/>
                    <a:pt x="1358799" y="491026"/>
                    <a:pt x="1355543" y="491026"/>
                  </a:cubicBezTo>
                  <a:lnTo>
                    <a:pt x="12276" y="491026"/>
                  </a:lnTo>
                  <a:cubicBezTo>
                    <a:pt x="9021" y="491026"/>
                    <a:pt x="5898" y="489733"/>
                    <a:pt x="3596" y="487430"/>
                  </a:cubicBezTo>
                  <a:cubicBezTo>
                    <a:pt x="1293" y="485128"/>
                    <a:pt x="0" y="482006"/>
                    <a:pt x="0" y="478750"/>
                  </a:cubicBezTo>
                  <a:lnTo>
                    <a:pt x="0" y="12276"/>
                  </a:lnTo>
                  <a:cubicBezTo>
                    <a:pt x="0" y="9021"/>
                    <a:pt x="1293" y="5898"/>
                    <a:pt x="3596" y="3596"/>
                  </a:cubicBezTo>
                  <a:cubicBezTo>
                    <a:pt x="5898" y="1293"/>
                    <a:pt x="9021" y="0"/>
                    <a:pt x="12276" y="0"/>
                  </a:cubicBezTo>
                  <a:close/>
                </a:path>
              </a:pathLst>
            </a:custGeom>
            <a:blipFill>
              <a:blip r:embed="rId4"/>
              <a:stretch>
                <a:fillRect l="0" t="-42938" r="0" b="-42938"/>
              </a:stretch>
            </a:blipFill>
          </p:spPr>
        </p:sp>
      </p:grpSp>
      <p:sp>
        <p:nvSpPr>
          <p:cNvPr name="TextBox 44" id="44"/>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45" id="45"/>
          <p:cNvSpPr txBox="true"/>
          <p:nvPr/>
        </p:nvSpPr>
        <p:spPr>
          <a:xfrm rot="0">
            <a:off x="1432349" y="5476777"/>
            <a:ext cx="3121143" cy="422238"/>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Total</a:t>
            </a:r>
            <a:r>
              <a:rPr lang="en-US" b="true" sz="2499">
                <a:solidFill>
                  <a:srgbClr val="1E293B"/>
                </a:solidFill>
                <a:latin typeface="Open Sans Bold"/>
                <a:ea typeface="Open Sans Bold"/>
                <a:cs typeface="Open Sans Bold"/>
                <a:sym typeface="Open Sans Bold"/>
              </a:rPr>
              <a:t> Records</a:t>
            </a:r>
          </a:p>
        </p:txBody>
      </p:sp>
      <p:sp>
        <p:nvSpPr>
          <p:cNvPr name="TextBox 46" id="46"/>
          <p:cNvSpPr txBox="true"/>
          <p:nvPr/>
        </p:nvSpPr>
        <p:spPr>
          <a:xfrm rot="0">
            <a:off x="5516212" y="5476777"/>
            <a:ext cx="3121143" cy="422238"/>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Reporting</a:t>
            </a:r>
            <a:r>
              <a:rPr lang="en-US" b="true" sz="2499">
                <a:solidFill>
                  <a:srgbClr val="1E293B"/>
                </a:solidFill>
                <a:latin typeface="Open Sans Bold"/>
                <a:ea typeface="Open Sans Bold"/>
                <a:cs typeface="Open Sans Bold"/>
                <a:sym typeface="Open Sans Bold"/>
              </a:rPr>
              <a:t> Period</a:t>
            </a:r>
          </a:p>
        </p:txBody>
      </p:sp>
      <p:sp>
        <p:nvSpPr>
          <p:cNvPr name="TextBox 47" id="47"/>
          <p:cNvSpPr txBox="true"/>
          <p:nvPr/>
        </p:nvSpPr>
        <p:spPr>
          <a:xfrm rot="0">
            <a:off x="9619006" y="5476777"/>
            <a:ext cx="3121143" cy="422238"/>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Data</a:t>
            </a:r>
            <a:r>
              <a:rPr lang="en-US" b="true" sz="2499">
                <a:solidFill>
                  <a:srgbClr val="1E293B"/>
                </a:solidFill>
                <a:latin typeface="Open Sans Bold"/>
                <a:ea typeface="Open Sans Bold"/>
                <a:cs typeface="Open Sans Bold"/>
                <a:sym typeface="Open Sans Bold"/>
              </a:rPr>
              <a:t> Sources</a:t>
            </a:r>
          </a:p>
        </p:txBody>
      </p:sp>
      <p:sp>
        <p:nvSpPr>
          <p:cNvPr name="TextBox 48" id="48"/>
          <p:cNvSpPr txBox="true"/>
          <p:nvPr/>
        </p:nvSpPr>
        <p:spPr>
          <a:xfrm rot="0">
            <a:off x="9633374" y="7628965"/>
            <a:ext cx="3121143" cy="860351"/>
          </a:xfrm>
          <a:prstGeom prst="rect">
            <a:avLst/>
          </a:prstGeom>
        </p:spPr>
        <p:txBody>
          <a:bodyPr anchor="t" rtlCol="false" tIns="0" lIns="0" bIns="0" rIns="0">
            <a:spAutoFit/>
          </a:bodyPr>
          <a:lstStyle/>
          <a:p>
            <a:pPr algn="ctr">
              <a:lnSpc>
                <a:spcPts val="3499"/>
              </a:lnSpc>
            </a:pPr>
            <a:r>
              <a:rPr lang="en-US" b="true" sz="2499">
                <a:solidFill>
                  <a:srgbClr val="F4F9FD"/>
                </a:solidFill>
                <a:latin typeface="Open Sans Bold"/>
                <a:ea typeface="Open Sans Bold"/>
                <a:cs typeface="Open Sans Bold"/>
                <a:sym typeface="Open Sans Bold"/>
              </a:rPr>
              <a:t>CRM, S</a:t>
            </a:r>
            <a:r>
              <a:rPr lang="en-US" b="true" sz="2499">
                <a:solidFill>
                  <a:srgbClr val="F4F9FD"/>
                </a:solidFill>
                <a:latin typeface="Open Sans Bold"/>
                <a:ea typeface="Open Sans Bold"/>
                <a:cs typeface="Open Sans Bold"/>
                <a:sym typeface="Open Sans Bold"/>
              </a:rPr>
              <a:t>ales</a:t>
            </a:r>
            <a:r>
              <a:rPr lang="en-US" b="true" sz="2499">
                <a:solidFill>
                  <a:srgbClr val="F4F9FD"/>
                </a:solidFill>
                <a:latin typeface="Open Sans Bold"/>
                <a:ea typeface="Open Sans Bold"/>
                <a:cs typeface="Open Sans Bold"/>
                <a:sym typeface="Open Sans Bold"/>
              </a:rPr>
              <a:t> System, Website Analytics</a:t>
            </a:r>
          </a:p>
        </p:txBody>
      </p:sp>
      <p:sp>
        <p:nvSpPr>
          <p:cNvPr name="TextBox 49" id="49"/>
          <p:cNvSpPr txBox="true"/>
          <p:nvPr/>
        </p:nvSpPr>
        <p:spPr>
          <a:xfrm rot="0">
            <a:off x="13727449" y="7430303"/>
            <a:ext cx="3121143" cy="1298463"/>
          </a:xfrm>
          <a:prstGeom prst="rect">
            <a:avLst/>
          </a:prstGeom>
        </p:spPr>
        <p:txBody>
          <a:bodyPr anchor="t" rtlCol="false" tIns="0" lIns="0" bIns="0" rIns="0">
            <a:spAutoFit/>
          </a:bodyPr>
          <a:lstStyle/>
          <a:p>
            <a:pPr algn="ctr">
              <a:lnSpc>
                <a:spcPts val="3499"/>
              </a:lnSpc>
            </a:pPr>
            <a:r>
              <a:rPr lang="en-US" b="true" sz="2499">
                <a:solidFill>
                  <a:srgbClr val="F4F9FD"/>
                </a:solidFill>
                <a:latin typeface="Open Sans Bold"/>
                <a:ea typeface="Open Sans Bold"/>
                <a:cs typeface="Open Sans Bold"/>
                <a:sym typeface="Open Sans Bold"/>
              </a:rPr>
              <a:t>S</a:t>
            </a:r>
            <a:r>
              <a:rPr lang="en-US" b="true" sz="2499">
                <a:solidFill>
                  <a:srgbClr val="F4F9FD"/>
                </a:solidFill>
                <a:latin typeface="Open Sans Bold"/>
                <a:ea typeface="Open Sans Bold"/>
                <a:cs typeface="Open Sans Bold"/>
                <a:sym typeface="Open Sans Bold"/>
              </a:rPr>
              <a:t>ales,</a:t>
            </a:r>
            <a:r>
              <a:rPr lang="en-US" b="true" sz="2499">
                <a:solidFill>
                  <a:srgbClr val="F4F9FD"/>
                </a:solidFill>
                <a:latin typeface="Open Sans Bold"/>
                <a:ea typeface="Open Sans Bold"/>
                <a:cs typeface="Open Sans Bold"/>
                <a:sym typeface="Open Sans Bold"/>
              </a:rPr>
              <a:t> Customers, Marketing, Operations</a:t>
            </a:r>
          </a:p>
        </p:txBody>
      </p:sp>
      <p:sp>
        <p:nvSpPr>
          <p:cNvPr name="TextBox 50" id="50"/>
          <p:cNvSpPr txBox="true"/>
          <p:nvPr/>
        </p:nvSpPr>
        <p:spPr>
          <a:xfrm rot="0">
            <a:off x="13814146" y="5476777"/>
            <a:ext cx="3121143" cy="422238"/>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Key Categ</a:t>
            </a:r>
            <a:r>
              <a:rPr lang="en-US" b="true" sz="2499">
                <a:solidFill>
                  <a:srgbClr val="1E293B"/>
                </a:solidFill>
                <a:latin typeface="Open Sans Bold"/>
                <a:ea typeface="Open Sans Bold"/>
                <a:cs typeface="Open Sans Bold"/>
                <a:sym typeface="Open Sans Bold"/>
              </a:rPr>
              <a:t>ories</a:t>
            </a:r>
          </a:p>
        </p:txBody>
      </p:sp>
      <p:sp>
        <p:nvSpPr>
          <p:cNvPr name="TextBox 51" id="51"/>
          <p:cNvSpPr txBox="true"/>
          <p:nvPr/>
        </p:nvSpPr>
        <p:spPr>
          <a:xfrm rot="0">
            <a:off x="1028700" y="2324088"/>
            <a:ext cx="551580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Data Overview</a:t>
            </a:r>
          </a:p>
        </p:txBody>
      </p:sp>
      <p:sp>
        <p:nvSpPr>
          <p:cNvPr name="TextBox 52" id="52"/>
          <p:cNvSpPr txBox="true"/>
          <p:nvPr/>
        </p:nvSpPr>
        <p:spPr>
          <a:xfrm rot="0">
            <a:off x="1432349" y="7714690"/>
            <a:ext cx="3089090" cy="843989"/>
          </a:xfrm>
          <a:prstGeom prst="rect">
            <a:avLst/>
          </a:prstGeom>
        </p:spPr>
        <p:txBody>
          <a:bodyPr anchor="t" rtlCol="false" tIns="0" lIns="0" bIns="0" rIns="0">
            <a:spAutoFit/>
          </a:bodyPr>
          <a:lstStyle/>
          <a:p>
            <a:pPr algn="ctr">
              <a:lnSpc>
                <a:spcPts val="5880"/>
              </a:lnSpc>
            </a:pPr>
            <a:r>
              <a:rPr lang="en-US" b="true" sz="6000">
                <a:solidFill>
                  <a:srgbClr val="FFFFFF"/>
                </a:solidFill>
                <a:latin typeface="Poppins Semi-Bold"/>
                <a:ea typeface="Poppins Semi-Bold"/>
                <a:cs typeface="Poppins Semi-Bold"/>
                <a:sym typeface="Poppins Semi-Bold"/>
              </a:rPr>
              <a:t>50,000</a:t>
            </a:r>
          </a:p>
        </p:txBody>
      </p:sp>
      <p:sp>
        <p:nvSpPr>
          <p:cNvPr name="TextBox 53" id="53"/>
          <p:cNvSpPr txBox="true"/>
          <p:nvPr/>
        </p:nvSpPr>
        <p:spPr>
          <a:xfrm rot="0">
            <a:off x="5548266" y="7714690"/>
            <a:ext cx="3089090" cy="843989"/>
          </a:xfrm>
          <a:prstGeom prst="rect">
            <a:avLst/>
          </a:prstGeom>
        </p:spPr>
        <p:txBody>
          <a:bodyPr anchor="t" rtlCol="false" tIns="0" lIns="0" bIns="0" rIns="0">
            <a:spAutoFit/>
          </a:bodyPr>
          <a:lstStyle/>
          <a:p>
            <a:pPr algn="ctr">
              <a:lnSpc>
                <a:spcPts val="5880"/>
              </a:lnSpc>
            </a:pPr>
            <a:r>
              <a:rPr lang="en-US" sz="6000" b="true">
                <a:solidFill>
                  <a:srgbClr val="FFFFFF"/>
                </a:solidFill>
                <a:latin typeface="Poppins Semi-Bold"/>
                <a:ea typeface="Poppins Semi-Bold"/>
                <a:cs typeface="Poppins Semi-Bold"/>
                <a:sym typeface="Poppins Semi-Bold"/>
              </a:rPr>
              <a:t>Q1 2</a:t>
            </a:r>
            <a:r>
              <a:rPr lang="en-US" b="true" sz="6000">
                <a:solidFill>
                  <a:srgbClr val="FFFFFF"/>
                </a:solidFill>
                <a:latin typeface="Poppins Semi-Bold"/>
                <a:ea typeface="Poppins Semi-Bold"/>
                <a:cs typeface="Poppins Semi-Bold"/>
                <a:sym typeface="Poppins Semi-Bold"/>
              </a:rPr>
              <a:t>026</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143500"/>
            <a:ext cx="3022616" cy="2009215"/>
            <a:chOff x="0" y="0"/>
            <a:chExt cx="796080" cy="529176"/>
          </a:xfrm>
        </p:grpSpPr>
        <p:sp>
          <p:nvSpPr>
            <p:cNvPr name="Freeform 7" id="7"/>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8" id="8"/>
            <p:cNvSpPr txBox="true"/>
            <p:nvPr/>
          </p:nvSpPr>
          <p:spPr>
            <a:xfrm>
              <a:off x="0" y="-47625"/>
              <a:ext cx="796080" cy="576801"/>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7632692" y="5143500"/>
            <a:ext cx="3022616" cy="2009215"/>
            <a:chOff x="0" y="0"/>
            <a:chExt cx="796080" cy="529176"/>
          </a:xfrm>
        </p:grpSpPr>
        <p:sp>
          <p:nvSpPr>
            <p:cNvPr name="Freeform 10" id="10"/>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1" id="11"/>
            <p:cNvSpPr txBox="true"/>
            <p:nvPr/>
          </p:nvSpPr>
          <p:spPr>
            <a:xfrm>
              <a:off x="0" y="-47625"/>
              <a:ext cx="796080" cy="576801"/>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4330696" y="5143500"/>
            <a:ext cx="3022616" cy="2009215"/>
            <a:chOff x="0" y="0"/>
            <a:chExt cx="796080" cy="529176"/>
          </a:xfrm>
        </p:grpSpPr>
        <p:sp>
          <p:nvSpPr>
            <p:cNvPr name="Freeform 13" id="13"/>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4" id="14"/>
            <p:cNvSpPr txBox="true"/>
            <p:nvPr/>
          </p:nvSpPr>
          <p:spPr>
            <a:xfrm>
              <a:off x="0" y="-47625"/>
              <a:ext cx="796080" cy="576801"/>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10931533" y="5143500"/>
            <a:ext cx="3022616" cy="2009215"/>
            <a:chOff x="0" y="0"/>
            <a:chExt cx="796080" cy="529176"/>
          </a:xfrm>
        </p:grpSpPr>
        <p:sp>
          <p:nvSpPr>
            <p:cNvPr name="Freeform 16" id="16"/>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17" id="17"/>
            <p:cNvSpPr txBox="true"/>
            <p:nvPr/>
          </p:nvSpPr>
          <p:spPr>
            <a:xfrm>
              <a:off x="0" y="-47625"/>
              <a:ext cx="796080" cy="576801"/>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14230373" y="5143500"/>
            <a:ext cx="3022616" cy="2009215"/>
            <a:chOff x="0" y="0"/>
            <a:chExt cx="796080" cy="529176"/>
          </a:xfrm>
        </p:grpSpPr>
        <p:sp>
          <p:nvSpPr>
            <p:cNvPr name="Freeform 19" id="19"/>
            <p:cNvSpPr/>
            <p:nvPr/>
          </p:nvSpPr>
          <p:spPr>
            <a:xfrm flipH="false" flipV="false" rot="0">
              <a:off x="0" y="0"/>
              <a:ext cx="796080" cy="529176"/>
            </a:xfrm>
            <a:custGeom>
              <a:avLst/>
              <a:gdLst/>
              <a:ahLst/>
              <a:cxnLst/>
              <a:rect r="r" b="b" t="t" l="l"/>
              <a:pathLst>
                <a:path h="529176" w="796080">
                  <a:moveTo>
                    <a:pt x="38420" y="0"/>
                  </a:moveTo>
                  <a:lnTo>
                    <a:pt x="757660" y="0"/>
                  </a:lnTo>
                  <a:cubicBezTo>
                    <a:pt x="778879" y="0"/>
                    <a:pt x="796080" y="17201"/>
                    <a:pt x="796080" y="38420"/>
                  </a:cubicBezTo>
                  <a:lnTo>
                    <a:pt x="796080" y="490756"/>
                  </a:lnTo>
                  <a:cubicBezTo>
                    <a:pt x="796080" y="511975"/>
                    <a:pt x="778879" y="529176"/>
                    <a:pt x="757660" y="529176"/>
                  </a:cubicBezTo>
                  <a:lnTo>
                    <a:pt x="38420" y="529176"/>
                  </a:lnTo>
                  <a:cubicBezTo>
                    <a:pt x="17201" y="529176"/>
                    <a:pt x="0" y="511975"/>
                    <a:pt x="0" y="490756"/>
                  </a:cubicBezTo>
                  <a:lnTo>
                    <a:pt x="0" y="38420"/>
                  </a:lnTo>
                  <a:cubicBezTo>
                    <a:pt x="0" y="17201"/>
                    <a:pt x="17201" y="0"/>
                    <a:pt x="38420" y="0"/>
                  </a:cubicBezTo>
                  <a:close/>
                </a:path>
              </a:pathLst>
            </a:custGeom>
            <a:solidFill>
              <a:srgbClr val="F4F9FD"/>
            </a:solidFill>
          </p:spPr>
        </p:sp>
        <p:sp>
          <p:nvSpPr>
            <p:cNvPr name="TextBox 20" id="20"/>
            <p:cNvSpPr txBox="true"/>
            <p:nvPr/>
          </p:nvSpPr>
          <p:spPr>
            <a:xfrm>
              <a:off x="0" y="-47625"/>
              <a:ext cx="796080" cy="576801"/>
            </a:xfrm>
            <a:prstGeom prst="rect">
              <a:avLst/>
            </a:prstGeom>
          </p:spPr>
          <p:txBody>
            <a:bodyPr anchor="ctr" rtlCol="false" tIns="50800" lIns="50800" bIns="50800" rIns="50800"/>
            <a:lstStyle/>
            <a:p>
              <a:pPr algn="ctr">
                <a:lnSpc>
                  <a:spcPts val="3499"/>
                </a:lnSpc>
              </a:pPr>
            </a:p>
          </p:txBody>
        </p:sp>
      </p:grpSp>
      <p:grpSp>
        <p:nvGrpSpPr>
          <p:cNvPr name="Group 21" id="21"/>
          <p:cNvGrpSpPr/>
          <p:nvPr/>
        </p:nvGrpSpPr>
        <p:grpSpPr>
          <a:xfrm rot="0">
            <a:off x="1028700" y="6706187"/>
            <a:ext cx="3022616" cy="2552113"/>
            <a:chOff x="0" y="0"/>
            <a:chExt cx="796080" cy="672161"/>
          </a:xfrm>
        </p:grpSpPr>
        <p:sp>
          <p:nvSpPr>
            <p:cNvPr name="Freeform 22" id="22"/>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3" id="23"/>
            <p:cNvSpPr txBox="true"/>
            <p:nvPr/>
          </p:nvSpPr>
          <p:spPr>
            <a:xfrm>
              <a:off x="0" y="-47625"/>
              <a:ext cx="796080" cy="719786"/>
            </a:xfrm>
            <a:prstGeom prst="rect">
              <a:avLst/>
            </a:prstGeom>
          </p:spPr>
          <p:txBody>
            <a:bodyPr anchor="ctr" rtlCol="false" tIns="50800" lIns="50800" bIns="50800" rIns="50800"/>
            <a:lstStyle/>
            <a:p>
              <a:pPr algn="ctr">
                <a:lnSpc>
                  <a:spcPts val="3499"/>
                </a:lnSpc>
              </a:pPr>
            </a:p>
          </p:txBody>
        </p:sp>
      </p:grpSp>
      <p:grpSp>
        <p:nvGrpSpPr>
          <p:cNvPr name="Group 24" id="24"/>
          <p:cNvGrpSpPr/>
          <p:nvPr/>
        </p:nvGrpSpPr>
        <p:grpSpPr>
          <a:xfrm rot="0">
            <a:off x="7632692" y="6706187"/>
            <a:ext cx="3022616" cy="2552113"/>
            <a:chOff x="0" y="0"/>
            <a:chExt cx="796080" cy="672161"/>
          </a:xfrm>
        </p:grpSpPr>
        <p:sp>
          <p:nvSpPr>
            <p:cNvPr name="Freeform 25" id="25"/>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6" id="26"/>
            <p:cNvSpPr txBox="true"/>
            <p:nvPr/>
          </p:nvSpPr>
          <p:spPr>
            <a:xfrm>
              <a:off x="0" y="-47625"/>
              <a:ext cx="796080" cy="719786"/>
            </a:xfrm>
            <a:prstGeom prst="rect">
              <a:avLst/>
            </a:prstGeom>
          </p:spPr>
          <p:txBody>
            <a:bodyPr anchor="ctr" rtlCol="false" tIns="50800" lIns="50800" bIns="50800" rIns="50800"/>
            <a:lstStyle/>
            <a:p>
              <a:pPr algn="ctr">
                <a:lnSpc>
                  <a:spcPts val="3499"/>
                </a:lnSpc>
              </a:pPr>
            </a:p>
          </p:txBody>
        </p:sp>
      </p:grpSp>
      <p:grpSp>
        <p:nvGrpSpPr>
          <p:cNvPr name="Group 27" id="27"/>
          <p:cNvGrpSpPr/>
          <p:nvPr/>
        </p:nvGrpSpPr>
        <p:grpSpPr>
          <a:xfrm rot="0">
            <a:off x="4330696" y="6706187"/>
            <a:ext cx="3022616" cy="2552113"/>
            <a:chOff x="0" y="0"/>
            <a:chExt cx="796080" cy="672161"/>
          </a:xfrm>
        </p:grpSpPr>
        <p:sp>
          <p:nvSpPr>
            <p:cNvPr name="Freeform 28" id="28"/>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29" id="29"/>
            <p:cNvSpPr txBox="true"/>
            <p:nvPr/>
          </p:nvSpPr>
          <p:spPr>
            <a:xfrm>
              <a:off x="0" y="-47625"/>
              <a:ext cx="796080" cy="719786"/>
            </a:xfrm>
            <a:prstGeom prst="rect">
              <a:avLst/>
            </a:prstGeom>
          </p:spPr>
          <p:txBody>
            <a:bodyPr anchor="ctr" rtlCol="false" tIns="50800" lIns="50800" bIns="50800" rIns="50800"/>
            <a:lstStyle/>
            <a:p>
              <a:pPr algn="ctr">
                <a:lnSpc>
                  <a:spcPts val="3499"/>
                </a:lnSpc>
              </a:pPr>
            </a:p>
          </p:txBody>
        </p:sp>
      </p:grpSp>
      <p:grpSp>
        <p:nvGrpSpPr>
          <p:cNvPr name="Group 30" id="30"/>
          <p:cNvGrpSpPr/>
          <p:nvPr/>
        </p:nvGrpSpPr>
        <p:grpSpPr>
          <a:xfrm rot="0">
            <a:off x="10931533" y="6706187"/>
            <a:ext cx="3022616" cy="2552113"/>
            <a:chOff x="0" y="0"/>
            <a:chExt cx="796080" cy="672161"/>
          </a:xfrm>
        </p:grpSpPr>
        <p:sp>
          <p:nvSpPr>
            <p:cNvPr name="Freeform 31" id="31"/>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2" id="32"/>
            <p:cNvSpPr txBox="true"/>
            <p:nvPr/>
          </p:nvSpPr>
          <p:spPr>
            <a:xfrm>
              <a:off x="0" y="-47625"/>
              <a:ext cx="796080" cy="719786"/>
            </a:xfrm>
            <a:prstGeom prst="rect">
              <a:avLst/>
            </a:prstGeom>
          </p:spPr>
          <p:txBody>
            <a:bodyPr anchor="ctr" rtlCol="false" tIns="50800" lIns="50800" bIns="50800" rIns="50800"/>
            <a:lstStyle/>
            <a:p>
              <a:pPr algn="ctr">
                <a:lnSpc>
                  <a:spcPts val="3499"/>
                </a:lnSpc>
              </a:pPr>
            </a:p>
          </p:txBody>
        </p:sp>
      </p:grpSp>
      <p:grpSp>
        <p:nvGrpSpPr>
          <p:cNvPr name="Group 33" id="33"/>
          <p:cNvGrpSpPr/>
          <p:nvPr/>
        </p:nvGrpSpPr>
        <p:grpSpPr>
          <a:xfrm rot="0">
            <a:off x="14230373" y="6706187"/>
            <a:ext cx="3022616" cy="2552113"/>
            <a:chOff x="0" y="0"/>
            <a:chExt cx="796080" cy="672161"/>
          </a:xfrm>
        </p:grpSpPr>
        <p:sp>
          <p:nvSpPr>
            <p:cNvPr name="Freeform 34" id="34"/>
            <p:cNvSpPr/>
            <p:nvPr/>
          </p:nvSpPr>
          <p:spPr>
            <a:xfrm flipH="false" flipV="false" rot="0">
              <a:off x="0" y="0"/>
              <a:ext cx="796080" cy="672161"/>
            </a:xfrm>
            <a:custGeom>
              <a:avLst/>
              <a:gdLst/>
              <a:ahLst/>
              <a:cxnLst/>
              <a:rect r="r" b="b" t="t" l="l"/>
              <a:pathLst>
                <a:path h="672161" w="796080">
                  <a:moveTo>
                    <a:pt x="38420" y="0"/>
                  </a:moveTo>
                  <a:lnTo>
                    <a:pt x="757660" y="0"/>
                  </a:lnTo>
                  <a:cubicBezTo>
                    <a:pt x="778879" y="0"/>
                    <a:pt x="796080" y="17201"/>
                    <a:pt x="796080" y="38420"/>
                  </a:cubicBezTo>
                  <a:lnTo>
                    <a:pt x="796080" y="633741"/>
                  </a:lnTo>
                  <a:cubicBezTo>
                    <a:pt x="796080" y="654960"/>
                    <a:pt x="778879" y="672161"/>
                    <a:pt x="757660" y="672161"/>
                  </a:cubicBezTo>
                  <a:lnTo>
                    <a:pt x="38420" y="672161"/>
                  </a:lnTo>
                  <a:cubicBezTo>
                    <a:pt x="17201" y="672161"/>
                    <a:pt x="0" y="654960"/>
                    <a:pt x="0" y="633741"/>
                  </a:cubicBezTo>
                  <a:lnTo>
                    <a:pt x="0" y="38420"/>
                  </a:lnTo>
                  <a:cubicBezTo>
                    <a:pt x="0" y="17201"/>
                    <a:pt x="17201" y="0"/>
                    <a:pt x="38420" y="0"/>
                  </a:cubicBezTo>
                  <a:close/>
                </a:path>
              </a:pathLst>
            </a:custGeom>
            <a:solidFill>
              <a:srgbClr val="60A5FA"/>
            </a:solidFill>
          </p:spPr>
        </p:sp>
        <p:sp>
          <p:nvSpPr>
            <p:cNvPr name="TextBox 35" id="35"/>
            <p:cNvSpPr txBox="true"/>
            <p:nvPr/>
          </p:nvSpPr>
          <p:spPr>
            <a:xfrm>
              <a:off x="0" y="-47625"/>
              <a:ext cx="796080" cy="719786"/>
            </a:xfrm>
            <a:prstGeom prst="rect">
              <a:avLst/>
            </a:prstGeom>
          </p:spPr>
          <p:txBody>
            <a:bodyPr anchor="ctr" rtlCol="false" tIns="50800" lIns="50800" bIns="50800" rIns="50800"/>
            <a:lstStyle/>
            <a:p>
              <a:pPr algn="ctr">
                <a:lnSpc>
                  <a:spcPts val="3499"/>
                </a:lnSpc>
              </a:pPr>
            </a:p>
          </p:txBody>
        </p:sp>
      </p:grpSp>
      <p:grpSp>
        <p:nvGrpSpPr>
          <p:cNvPr name="Group 36" id="36"/>
          <p:cNvGrpSpPr/>
          <p:nvPr/>
        </p:nvGrpSpPr>
        <p:grpSpPr>
          <a:xfrm rot="-5400000">
            <a:off x="2258762" y="6480088"/>
            <a:ext cx="562492" cy="452200"/>
            <a:chOff x="0" y="0"/>
            <a:chExt cx="647700" cy="520700"/>
          </a:xfrm>
        </p:grpSpPr>
        <p:sp>
          <p:nvSpPr>
            <p:cNvPr name="Freeform 37" id="3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8" id="38"/>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39" id="39"/>
          <p:cNvGrpSpPr/>
          <p:nvPr/>
        </p:nvGrpSpPr>
        <p:grpSpPr>
          <a:xfrm rot="-5400000">
            <a:off x="8862754" y="6480088"/>
            <a:ext cx="562492" cy="452200"/>
            <a:chOff x="0" y="0"/>
            <a:chExt cx="647700" cy="520700"/>
          </a:xfrm>
        </p:grpSpPr>
        <p:sp>
          <p:nvSpPr>
            <p:cNvPr name="Freeform 40" id="4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1" id="41"/>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42" id="42"/>
          <p:cNvGrpSpPr/>
          <p:nvPr/>
        </p:nvGrpSpPr>
        <p:grpSpPr>
          <a:xfrm rot="-5400000">
            <a:off x="5560758" y="6480088"/>
            <a:ext cx="562492" cy="452200"/>
            <a:chOff x="0" y="0"/>
            <a:chExt cx="647700" cy="520700"/>
          </a:xfrm>
        </p:grpSpPr>
        <p:sp>
          <p:nvSpPr>
            <p:cNvPr name="Freeform 43" id="4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4" id="44"/>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45" id="45"/>
          <p:cNvGrpSpPr/>
          <p:nvPr/>
        </p:nvGrpSpPr>
        <p:grpSpPr>
          <a:xfrm rot="-5400000">
            <a:off x="12161595" y="6480088"/>
            <a:ext cx="562492" cy="452200"/>
            <a:chOff x="0" y="0"/>
            <a:chExt cx="647700" cy="520700"/>
          </a:xfrm>
        </p:grpSpPr>
        <p:sp>
          <p:nvSpPr>
            <p:cNvPr name="Freeform 46" id="4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7" id="47"/>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48" id="48"/>
          <p:cNvGrpSpPr/>
          <p:nvPr/>
        </p:nvGrpSpPr>
        <p:grpSpPr>
          <a:xfrm rot="-5400000">
            <a:off x="15460435" y="6480088"/>
            <a:ext cx="562492" cy="452200"/>
            <a:chOff x="0" y="0"/>
            <a:chExt cx="647700" cy="520700"/>
          </a:xfrm>
        </p:grpSpPr>
        <p:sp>
          <p:nvSpPr>
            <p:cNvPr name="Freeform 49" id="4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50" id="50"/>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Freeform 51" id="51"/>
          <p:cNvSpPr/>
          <p:nvPr/>
        </p:nvSpPr>
        <p:spPr>
          <a:xfrm flipH="false" flipV="false" rot="0">
            <a:off x="4050339" y="1738831"/>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2" id="52"/>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53" id="53"/>
          <p:cNvSpPr txBox="true"/>
          <p:nvPr/>
        </p:nvSpPr>
        <p:spPr>
          <a:xfrm rot="0">
            <a:off x="10280828" y="1114425"/>
            <a:ext cx="6978472" cy="3109707"/>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Key Performance Indicators</a:t>
            </a:r>
          </a:p>
        </p:txBody>
      </p:sp>
      <p:sp>
        <p:nvSpPr>
          <p:cNvPr name="TextBox 54" id="54"/>
          <p:cNvSpPr txBox="true"/>
          <p:nvPr/>
        </p:nvSpPr>
        <p:spPr>
          <a:xfrm rot="0">
            <a:off x="1336098" y="5476777"/>
            <a:ext cx="2408888" cy="860351"/>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Revenue Growth</a:t>
            </a:r>
          </a:p>
        </p:txBody>
      </p:sp>
      <p:sp>
        <p:nvSpPr>
          <p:cNvPr name="TextBox 55" id="55"/>
          <p:cNvSpPr txBox="true"/>
          <p:nvPr/>
        </p:nvSpPr>
        <p:spPr>
          <a:xfrm rot="0">
            <a:off x="7940090" y="5476777"/>
            <a:ext cx="2408888" cy="860351"/>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Conv</a:t>
            </a:r>
            <a:r>
              <a:rPr lang="en-US" b="true" sz="2499">
                <a:solidFill>
                  <a:srgbClr val="1E293B"/>
                </a:solidFill>
                <a:latin typeface="Open Sans Bold"/>
                <a:ea typeface="Open Sans Bold"/>
                <a:cs typeface="Open Sans Bold"/>
                <a:sym typeface="Open Sans Bold"/>
              </a:rPr>
              <a:t>ersion Rate</a:t>
            </a:r>
          </a:p>
        </p:txBody>
      </p:sp>
      <p:sp>
        <p:nvSpPr>
          <p:cNvPr name="TextBox 56" id="56"/>
          <p:cNvSpPr txBox="true"/>
          <p:nvPr/>
        </p:nvSpPr>
        <p:spPr>
          <a:xfrm rot="0">
            <a:off x="4638094" y="5476777"/>
            <a:ext cx="2408888" cy="860351"/>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Customer</a:t>
            </a:r>
            <a:r>
              <a:rPr lang="en-US" b="true" sz="2499">
                <a:solidFill>
                  <a:srgbClr val="1E293B"/>
                </a:solidFill>
                <a:latin typeface="Open Sans Bold"/>
                <a:ea typeface="Open Sans Bold"/>
                <a:cs typeface="Open Sans Bold"/>
                <a:sym typeface="Open Sans Bold"/>
              </a:rPr>
              <a:t> Retention</a:t>
            </a:r>
          </a:p>
        </p:txBody>
      </p:sp>
      <p:sp>
        <p:nvSpPr>
          <p:cNvPr name="TextBox 57" id="57"/>
          <p:cNvSpPr txBox="true"/>
          <p:nvPr/>
        </p:nvSpPr>
        <p:spPr>
          <a:xfrm rot="0">
            <a:off x="11238931" y="5476777"/>
            <a:ext cx="2408888" cy="860351"/>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Averag</a:t>
            </a:r>
            <a:r>
              <a:rPr lang="en-US" b="true" sz="2499">
                <a:solidFill>
                  <a:srgbClr val="1E293B"/>
                </a:solidFill>
                <a:latin typeface="Open Sans Bold"/>
                <a:ea typeface="Open Sans Bold"/>
                <a:cs typeface="Open Sans Bold"/>
                <a:sym typeface="Open Sans Bold"/>
              </a:rPr>
              <a:t>e Order Value</a:t>
            </a:r>
          </a:p>
        </p:txBody>
      </p:sp>
      <p:sp>
        <p:nvSpPr>
          <p:cNvPr name="TextBox 58" id="58"/>
          <p:cNvSpPr txBox="true"/>
          <p:nvPr/>
        </p:nvSpPr>
        <p:spPr>
          <a:xfrm rot="0">
            <a:off x="14537771" y="5476777"/>
            <a:ext cx="2408888" cy="860351"/>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Customer Satisfa</a:t>
            </a:r>
            <a:r>
              <a:rPr lang="en-US" b="true" sz="2499">
                <a:solidFill>
                  <a:srgbClr val="1E293B"/>
                </a:solidFill>
                <a:latin typeface="Open Sans Bold"/>
                <a:ea typeface="Open Sans Bold"/>
                <a:cs typeface="Open Sans Bold"/>
                <a:sym typeface="Open Sans Bold"/>
              </a:rPr>
              <a:t>ction</a:t>
            </a:r>
          </a:p>
        </p:txBody>
      </p:sp>
      <p:sp>
        <p:nvSpPr>
          <p:cNvPr name="TextBox 59" id="59"/>
          <p:cNvSpPr txBox="true"/>
          <p:nvPr/>
        </p:nvSpPr>
        <p:spPr>
          <a:xfrm rot="0">
            <a:off x="1432349" y="7714690"/>
            <a:ext cx="2145834" cy="843989"/>
          </a:xfrm>
          <a:prstGeom prst="rect">
            <a:avLst/>
          </a:prstGeom>
        </p:spPr>
        <p:txBody>
          <a:bodyPr anchor="t" rtlCol="false" tIns="0" lIns="0" bIns="0" rIns="0">
            <a:spAutoFit/>
          </a:bodyPr>
          <a:lstStyle/>
          <a:p>
            <a:pPr algn="ctr">
              <a:lnSpc>
                <a:spcPts val="5880"/>
              </a:lnSpc>
            </a:pPr>
            <a:r>
              <a:rPr lang="en-US" sz="6000" b="true">
                <a:solidFill>
                  <a:srgbClr val="FFFFFF"/>
                </a:solidFill>
                <a:latin typeface="Poppins Semi-Bold"/>
                <a:ea typeface="Poppins Semi-Bold"/>
                <a:cs typeface="Poppins Semi-Bold"/>
                <a:sym typeface="Poppins Semi-Bold"/>
              </a:rPr>
              <a:t>1</a:t>
            </a:r>
            <a:r>
              <a:rPr lang="en-US" b="true" sz="6000">
                <a:solidFill>
                  <a:srgbClr val="FFFFFF"/>
                </a:solidFill>
                <a:latin typeface="Poppins Semi-Bold"/>
                <a:ea typeface="Poppins Semi-Bold"/>
                <a:cs typeface="Poppins Semi-Bold"/>
                <a:sym typeface="Poppins Semi-Bold"/>
              </a:rPr>
              <a:t>5%</a:t>
            </a:r>
          </a:p>
        </p:txBody>
      </p:sp>
      <p:sp>
        <p:nvSpPr>
          <p:cNvPr name="TextBox 60" id="60"/>
          <p:cNvSpPr txBox="true"/>
          <p:nvPr/>
        </p:nvSpPr>
        <p:spPr>
          <a:xfrm rot="0">
            <a:off x="4769621" y="7714690"/>
            <a:ext cx="2145834" cy="843989"/>
          </a:xfrm>
          <a:prstGeom prst="rect">
            <a:avLst/>
          </a:prstGeom>
        </p:spPr>
        <p:txBody>
          <a:bodyPr anchor="t" rtlCol="false" tIns="0" lIns="0" bIns="0" rIns="0">
            <a:spAutoFit/>
          </a:bodyPr>
          <a:lstStyle/>
          <a:p>
            <a:pPr algn="ctr">
              <a:lnSpc>
                <a:spcPts val="5880"/>
              </a:lnSpc>
            </a:pPr>
            <a:r>
              <a:rPr lang="en-US" sz="6000" b="true">
                <a:solidFill>
                  <a:srgbClr val="FFFFFF"/>
                </a:solidFill>
                <a:latin typeface="Poppins Semi-Bold"/>
                <a:ea typeface="Poppins Semi-Bold"/>
                <a:cs typeface="Poppins Semi-Bold"/>
                <a:sym typeface="Poppins Semi-Bold"/>
              </a:rPr>
              <a:t>82</a:t>
            </a:r>
            <a:r>
              <a:rPr lang="en-US" b="true" sz="6000">
                <a:solidFill>
                  <a:srgbClr val="FFFFFF"/>
                </a:solidFill>
                <a:latin typeface="Poppins Semi-Bold"/>
                <a:ea typeface="Poppins Semi-Bold"/>
                <a:cs typeface="Poppins Semi-Bold"/>
                <a:sym typeface="Poppins Semi-Bold"/>
              </a:rPr>
              <a:t>%</a:t>
            </a:r>
          </a:p>
        </p:txBody>
      </p:sp>
      <p:sp>
        <p:nvSpPr>
          <p:cNvPr name="TextBox 61" id="61"/>
          <p:cNvSpPr txBox="true"/>
          <p:nvPr/>
        </p:nvSpPr>
        <p:spPr>
          <a:xfrm rot="0">
            <a:off x="8067687" y="7714690"/>
            <a:ext cx="2145834" cy="843989"/>
          </a:xfrm>
          <a:prstGeom prst="rect">
            <a:avLst/>
          </a:prstGeom>
        </p:spPr>
        <p:txBody>
          <a:bodyPr anchor="t" rtlCol="false" tIns="0" lIns="0" bIns="0" rIns="0">
            <a:spAutoFit/>
          </a:bodyPr>
          <a:lstStyle/>
          <a:p>
            <a:pPr algn="ctr">
              <a:lnSpc>
                <a:spcPts val="5880"/>
              </a:lnSpc>
            </a:pPr>
            <a:r>
              <a:rPr lang="en-US" sz="6000" b="true">
                <a:solidFill>
                  <a:srgbClr val="FFFFFF"/>
                </a:solidFill>
                <a:latin typeface="Poppins Semi-Bold"/>
                <a:ea typeface="Poppins Semi-Bold"/>
                <a:cs typeface="Poppins Semi-Bold"/>
                <a:sym typeface="Poppins Semi-Bold"/>
              </a:rPr>
              <a:t>6.4</a:t>
            </a:r>
            <a:r>
              <a:rPr lang="en-US" b="true" sz="6000">
                <a:solidFill>
                  <a:srgbClr val="FFFFFF"/>
                </a:solidFill>
                <a:latin typeface="Poppins Semi-Bold"/>
                <a:ea typeface="Poppins Semi-Bold"/>
                <a:cs typeface="Poppins Semi-Bold"/>
                <a:sym typeface="Poppins Semi-Bold"/>
              </a:rPr>
              <a:t>%</a:t>
            </a:r>
          </a:p>
        </p:txBody>
      </p:sp>
      <p:sp>
        <p:nvSpPr>
          <p:cNvPr name="TextBox 62" id="62"/>
          <p:cNvSpPr txBox="true"/>
          <p:nvPr/>
        </p:nvSpPr>
        <p:spPr>
          <a:xfrm rot="0">
            <a:off x="11407783" y="7714690"/>
            <a:ext cx="2145834" cy="843989"/>
          </a:xfrm>
          <a:prstGeom prst="rect">
            <a:avLst/>
          </a:prstGeom>
        </p:spPr>
        <p:txBody>
          <a:bodyPr anchor="t" rtlCol="false" tIns="0" lIns="0" bIns="0" rIns="0">
            <a:spAutoFit/>
          </a:bodyPr>
          <a:lstStyle/>
          <a:p>
            <a:pPr algn="ctr">
              <a:lnSpc>
                <a:spcPts val="5880"/>
              </a:lnSpc>
            </a:pPr>
            <a:r>
              <a:rPr lang="en-US" sz="6000" b="true">
                <a:solidFill>
                  <a:srgbClr val="FFFFFF"/>
                </a:solidFill>
                <a:latin typeface="Poppins Semi-Bold"/>
                <a:ea typeface="Poppins Semi-Bold"/>
                <a:cs typeface="Poppins Semi-Bold"/>
                <a:sym typeface="Poppins Semi-Bold"/>
              </a:rPr>
              <a:t>$85</a:t>
            </a:r>
          </a:p>
        </p:txBody>
      </p:sp>
      <p:sp>
        <p:nvSpPr>
          <p:cNvPr name="TextBox 63" id="63"/>
          <p:cNvSpPr txBox="true"/>
          <p:nvPr/>
        </p:nvSpPr>
        <p:spPr>
          <a:xfrm rot="0">
            <a:off x="14706623" y="7714690"/>
            <a:ext cx="2145834" cy="843989"/>
          </a:xfrm>
          <a:prstGeom prst="rect">
            <a:avLst/>
          </a:prstGeom>
        </p:spPr>
        <p:txBody>
          <a:bodyPr anchor="t" rtlCol="false" tIns="0" lIns="0" bIns="0" rIns="0">
            <a:spAutoFit/>
          </a:bodyPr>
          <a:lstStyle/>
          <a:p>
            <a:pPr algn="ctr">
              <a:lnSpc>
                <a:spcPts val="5880"/>
              </a:lnSpc>
            </a:pPr>
            <a:r>
              <a:rPr lang="en-US" sz="6000" b="true">
                <a:solidFill>
                  <a:srgbClr val="FFFFFF"/>
                </a:solidFill>
                <a:latin typeface="Poppins Semi-Bold"/>
                <a:ea typeface="Poppins Semi-Bold"/>
                <a:cs typeface="Poppins Semi-Bold"/>
                <a:sym typeface="Poppins Semi-Bold"/>
              </a:rPr>
              <a:t>91%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2152796"/>
            <a:ext cx="7677988" cy="8789903"/>
            <a:chOff x="0" y="0"/>
            <a:chExt cx="1189521" cy="1361786"/>
          </a:xfrm>
        </p:grpSpPr>
        <p:sp>
          <p:nvSpPr>
            <p:cNvPr name="Freeform 7" id="7"/>
            <p:cNvSpPr/>
            <p:nvPr/>
          </p:nvSpPr>
          <p:spPr>
            <a:xfrm flipH="false" flipV="false" rot="0">
              <a:off x="0" y="0"/>
              <a:ext cx="1189521" cy="1361786"/>
            </a:xfrm>
            <a:custGeom>
              <a:avLst/>
              <a:gdLst/>
              <a:ahLst/>
              <a:cxnLst/>
              <a:rect r="r" b="b" t="t" l="l"/>
              <a:pathLst>
                <a:path h="1361786" w="1189521">
                  <a:moveTo>
                    <a:pt x="14117" y="0"/>
                  </a:moveTo>
                  <a:lnTo>
                    <a:pt x="1175405" y="0"/>
                  </a:lnTo>
                  <a:cubicBezTo>
                    <a:pt x="1179149" y="0"/>
                    <a:pt x="1182739" y="1487"/>
                    <a:pt x="1185387" y="4135"/>
                  </a:cubicBezTo>
                  <a:cubicBezTo>
                    <a:pt x="1188034" y="6782"/>
                    <a:pt x="1189521" y="10373"/>
                    <a:pt x="1189521" y="14117"/>
                  </a:cubicBezTo>
                  <a:lnTo>
                    <a:pt x="1189521" y="1347669"/>
                  </a:lnTo>
                  <a:cubicBezTo>
                    <a:pt x="1189521" y="1351413"/>
                    <a:pt x="1188034" y="1355004"/>
                    <a:pt x="1185387" y="1357651"/>
                  </a:cubicBezTo>
                  <a:cubicBezTo>
                    <a:pt x="1182739" y="1360299"/>
                    <a:pt x="1179149" y="1361786"/>
                    <a:pt x="1175405" y="1361786"/>
                  </a:cubicBezTo>
                  <a:lnTo>
                    <a:pt x="14117" y="1361786"/>
                  </a:lnTo>
                  <a:cubicBezTo>
                    <a:pt x="6320" y="1361786"/>
                    <a:pt x="0" y="1355466"/>
                    <a:pt x="0" y="1347669"/>
                  </a:cubicBezTo>
                  <a:lnTo>
                    <a:pt x="0" y="14117"/>
                  </a:lnTo>
                  <a:cubicBezTo>
                    <a:pt x="0" y="10373"/>
                    <a:pt x="1487" y="6782"/>
                    <a:pt x="4135" y="4135"/>
                  </a:cubicBezTo>
                  <a:cubicBezTo>
                    <a:pt x="6782" y="1487"/>
                    <a:pt x="10373" y="0"/>
                    <a:pt x="14117" y="0"/>
                  </a:cubicBezTo>
                  <a:close/>
                </a:path>
              </a:pathLst>
            </a:custGeom>
            <a:blipFill>
              <a:blip r:embed="rId4"/>
              <a:stretch>
                <a:fillRect l="-35783" t="0" r="-35783" b="0"/>
              </a:stretch>
            </a:blipFill>
          </p:spPr>
        </p:sp>
      </p:grpSp>
      <p:sp>
        <p:nvSpPr>
          <p:cNvPr name="TextBox 8" id="8"/>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9" id="9"/>
          <p:cNvSpPr txBox="true"/>
          <p:nvPr/>
        </p:nvSpPr>
        <p:spPr>
          <a:xfrm rot="0">
            <a:off x="9596462" y="1824556"/>
            <a:ext cx="697847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Revenue Analysis</a:t>
            </a:r>
          </a:p>
        </p:txBody>
      </p:sp>
      <p:sp>
        <p:nvSpPr>
          <p:cNvPr name="TextBox 10" id="10"/>
          <p:cNvSpPr txBox="true"/>
          <p:nvPr/>
        </p:nvSpPr>
        <p:spPr>
          <a:xfrm rot="0">
            <a:off x="9596462"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7" id="7"/>
          <p:cNvSpPr txBox="true"/>
          <p:nvPr/>
        </p:nvSpPr>
        <p:spPr>
          <a:xfrm rot="0">
            <a:off x="1028700" y="2226019"/>
            <a:ext cx="697847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Customer Analysis</a:t>
            </a:r>
          </a:p>
        </p:txBody>
      </p:sp>
      <p:sp>
        <p:nvSpPr>
          <p:cNvPr name="TextBox 8" id="8"/>
          <p:cNvSpPr txBox="true"/>
          <p:nvPr/>
        </p:nvSpPr>
        <p:spPr>
          <a:xfrm rot="0">
            <a:off x="1028700"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pic>
        <p:nvPicPr>
          <p:cNvPr name="Picture 9" id="9"/>
          <p:cNvPicPr>
            <a:picLocks noChangeAspect="true"/>
          </p:cNvPicPr>
          <p:nvPr/>
        </p:nvPicPr>
        <p:blipFill>
          <a:blip r:embed="rId4"/>
          <a:stretch>
            <a:fillRect/>
          </a:stretch>
        </p:blipFill>
        <p:spPr>
          <a:xfrm rot="0">
            <a:off x="8557709" y="711580"/>
            <a:ext cx="9492644" cy="9361953"/>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7" id="7"/>
          <p:cNvSpPr txBox="true"/>
          <p:nvPr/>
        </p:nvSpPr>
        <p:spPr>
          <a:xfrm rot="0">
            <a:off x="1028700" y="2226019"/>
            <a:ext cx="697847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Sales Performance</a:t>
            </a:r>
          </a:p>
        </p:txBody>
      </p:sp>
      <p:sp>
        <p:nvSpPr>
          <p:cNvPr name="TextBox 8" id="8"/>
          <p:cNvSpPr txBox="true"/>
          <p:nvPr/>
        </p:nvSpPr>
        <p:spPr>
          <a:xfrm rot="0">
            <a:off x="1028700"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pic>
        <p:nvPicPr>
          <p:cNvPr name="Picture 9" id="9"/>
          <p:cNvPicPr>
            <a:picLocks noChangeAspect="true"/>
          </p:cNvPicPr>
          <p:nvPr/>
        </p:nvPicPr>
        <p:blipFill>
          <a:blip r:embed="rId4"/>
          <a:stretch>
            <a:fillRect/>
          </a:stretch>
        </p:blipFill>
        <p:spPr>
          <a:xfrm rot="0">
            <a:off x="8416989" y="907260"/>
            <a:ext cx="9978846" cy="8950366"/>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7" id="7"/>
          <p:cNvSpPr txBox="true"/>
          <p:nvPr/>
        </p:nvSpPr>
        <p:spPr>
          <a:xfrm rot="0">
            <a:off x="9596462" y="1824556"/>
            <a:ext cx="697847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Trend Analysis</a:t>
            </a:r>
          </a:p>
        </p:txBody>
      </p:sp>
      <p:sp>
        <p:nvSpPr>
          <p:cNvPr name="TextBox 8" id="8"/>
          <p:cNvSpPr txBox="true"/>
          <p:nvPr/>
        </p:nvSpPr>
        <p:spPr>
          <a:xfrm rot="0">
            <a:off x="9596462"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pic>
        <p:nvPicPr>
          <p:cNvPr name="Picture 9" id="9"/>
          <p:cNvPicPr>
            <a:picLocks noChangeAspect="true"/>
          </p:cNvPicPr>
          <p:nvPr/>
        </p:nvPicPr>
        <p:blipFill>
          <a:blip r:embed="rId4"/>
          <a:stretch>
            <a:fillRect/>
          </a:stretch>
        </p:blipFill>
        <p:spPr>
          <a:xfrm rot="0">
            <a:off x="235725" y="1597383"/>
            <a:ext cx="9492644" cy="845197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7" id="7"/>
          <p:cNvSpPr txBox="true"/>
          <p:nvPr/>
        </p:nvSpPr>
        <p:spPr>
          <a:xfrm rot="0">
            <a:off x="9596462" y="1824556"/>
            <a:ext cx="697847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Regional Analysis</a:t>
            </a:r>
          </a:p>
        </p:txBody>
      </p:sp>
      <p:sp>
        <p:nvSpPr>
          <p:cNvPr name="TextBox 8" id="8"/>
          <p:cNvSpPr txBox="true"/>
          <p:nvPr/>
        </p:nvSpPr>
        <p:spPr>
          <a:xfrm rot="0">
            <a:off x="9596462"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pic>
        <p:nvPicPr>
          <p:cNvPr name="Picture 9" id="9"/>
          <p:cNvPicPr>
            <a:picLocks noChangeAspect="true"/>
          </p:cNvPicPr>
          <p:nvPr/>
        </p:nvPicPr>
        <p:blipFill>
          <a:blip r:embed="rId4"/>
          <a:stretch>
            <a:fillRect/>
          </a:stretch>
        </p:blipFill>
        <p:spPr>
          <a:xfrm rot="0">
            <a:off x="143255" y="1653958"/>
            <a:ext cx="9482698" cy="8505355"/>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7" id="7"/>
          <p:cNvSpPr txBox="true"/>
          <p:nvPr/>
        </p:nvSpPr>
        <p:spPr>
          <a:xfrm rot="0">
            <a:off x="1028700" y="2226019"/>
            <a:ext cx="6978472" cy="2119070"/>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Market Insights</a:t>
            </a:r>
          </a:p>
        </p:txBody>
      </p:sp>
      <p:sp>
        <p:nvSpPr>
          <p:cNvPr name="TextBox 8" id="8"/>
          <p:cNvSpPr txBox="true"/>
          <p:nvPr/>
        </p:nvSpPr>
        <p:spPr>
          <a:xfrm rot="0">
            <a:off x="1028700" y="6645498"/>
            <a:ext cx="7662838" cy="2612802"/>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Lorem ipsum dolor sit amet, consectetur adipiscing elit.</a:t>
            </a:r>
            <a:r>
              <a:rPr lang="en-US" sz="2499">
                <a:solidFill>
                  <a:srgbClr val="1E293B"/>
                </a:solidFill>
                <a:latin typeface="Open Sans"/>
                <a:ea typeface="Open Sans"/>
                <a:cs typeface="Open Sans"/>
                <a:sym typeface="Open Sans"/>
              </a:rPr>
              <a:t> Morbi mollis ullamcorper orci, sit amet egestas augue commodo eget. Class aptent taciti sociosqu ad litora torquent per conubia nostra, per inceptos himenaeos. Phasellus efficitur vestibulum nulla, eu pellentesque augue convallis non. </a:t>
            </a:r>
          </a:p>
        </p:txBody>
      </p:sp>
      <p:pic>
        <p:nvPicPr>
          <p:cNvPr name="Picture 9" id="9"/>
          <p:cNvPicPr>
            <a:picLocks noChangeAspect="true"/>
          </p:cNvPicPr>
          <p:nvPr/>
        </p:nvPicPr>
        <p:blipFill>
          <a:blip r:embed="rId4"/>
          <a:stretch>
            <a:fillRect/>
          </a:stretch>
        </p:blipFill>
        <p:spPr>
          <a:xfrm rot="0">
            <a:off x="8525803" y="492367"/>
            <a:ext cx="9761220" cy="987552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7" id="7"/>
          <p:cNvSpPr txBox="true"/>
          <p:nvPr/>
        </p:nvSpPr>
        <p:spPr>
          <a:xfrm rot="0">
            <a:off x="1028700" y="2226019"/>
            <a:ext cx="6978472" cy="1128433"/>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Key Findings</a:t>
            </a:r>
          </a:p>
        </p:txBody>
      </p:sp>
      <p:grpSp>
        <p:nvGrpSpPr>
          <p:cNvPr name="Group 8" id="8"/>
          <p:cNvGrpSpPr/>
          <p:nvPr/>
        </p:nvGrpSpPr>
        <p:grpSpPr>
          <a:xfrm rot="0">
            <a:off x="1028700" y="6706187"/>
            <a:ext cx="6978472" cy="2552113"/>
            <a:chOff x="0" y="0"/>
            <a:chExt cx="1837951" cy="672161"/>
          </a:xfrm>
        </p:grpSpPr>
        <p:sp>
          <p:nvSpPr>
            <p:cNvPr name="Freeform 9" id="9"/>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0" id="10"/>
            <p:cNvSpPr txBox="true"/>
            <p:nvPr/>
          </p:nvSpPr>
          <p:spPr>
            <a:xfrm>
              <a:off x="0" y="-47625"/>
              <a:ext cx="1837951" cy="719786"/>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9144000" y="6706187"/>
            <a:ext cx="6978472" cy="2552113"/>
            <a:chOff x="0" y="0"/>
            <a:chExt cx="1837951" cy="672161"/>
          </a:xfrm>
        </p:grpSpPr>
        <p:sp>
          <p:nvSpPr>
            <p:cNvPr name="Freeform 12" id="12"/>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3" id="13"/>
            <p:cNvSpPr txBox="true"/>
            <p:nvPr/>
          </p:nvSpPr>
          <p:spPr>
            <a:xfrm>
              <a:off x="0" y="-47625"/>
              <a:ext cx="1837951" cy="719786"/>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028700" y="3867444"/>
            <a:ext cx="6978472" cy="2552113"/>
            <a:chOff x="0" y="0"/>
            <a:chExt cx="1837951" cy="672161"/>
          </a:xfrm>
        </p:grpSpPr>
        <p:sp>
          <p:nvSpPr>
            <p:cNvPr name="Freeform 15" id="15"/>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6" id="16"/>
            <p:cNvSpPr txBox="true"/>
            <p:nvPr/>
          </p:nvSpPr>
          <p:spPr>
            <a:xfrm>
              <a:off x="0" y="-47625"/>
              <a:ext cx="1837951" cy="719786"/>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9144000" y="3867444"/>
            <a:ext cx="6978472" cy="2552113"/>
            <a:chOff x="0" y="0"/>
            <a:chExt cx="1837951" cy="672161"/>
          </a:xfrm>
        </p:grpSpPr>
        <p:sp>
          <p:nvSpPr>
            <p:cNvPr name="Freeform 18" id="18"/>
            <p:cNvSpPr/>
            <p:nvPr/>
          </p:nvSpPr>
          <p:spPr>
            <a:xfrm flipH="false" flipV="false" rot="0">
              <a:off x="0" y="0"/>
              <a:ext cx="1837951" cy="672161"/>
            </a:xfrm>
            <a:custGeom>
              <a:avLst/>
              <a:gdLst/>
              <a:ahLst/>
              <a:cxnLst/>
              <a:rect r="r" b="b" t="t" l="l"/>
              <a:pathLst>
                <a:path h="672161" w="1837951">
                  <a:moveTo>
                    <a:pt x="16641" y="0"/>
                  </a:moveTo>
                  <a:lnTo>
                    <a:pt x="1821310" y="0"/>
                  </a:lnTo>
                  <a:cubicBezTo>
                    <a:pt x="1830501" y="0"/>
                    <a:pt x="1837951" y="7450"/>
                    <a:pt x="1837951" y="16641"/>
                  </a:cubicBezTo>
                  <a:lnTo>
                    <a:pt x="1837951" y="655520"/>
                  </a:lnTo>
                  <a:cubicBezTo>
                    <a:pt x="1837951" y="659934"/>
                    <a:pt x="1836198" y="664167"/>
                    <a:pt x="1833077" y="667287"/>
                  </a:cubicBezTo>
                  <a:cubicBezTo>
                    <a:pt x="1829957" y="670408"/>
                    <a:pt x="1825724" y="672161"/>
                    <a:pt x="1821310" y="672161"/>
                  </a:cubicBezTo>
                  <a:lnTo>
                    <a:pt x="16641" y="672161"/>
                  </a:lnTo>
                  <a:cubicBezTo>
                    <a:pt x="12228" y="672161"/>
                    <a:pt x="7995" y="670408"/>
                    <a:pt x="4874" y="667287"/>
                  </a:cubicBezTo>
                  <a:cubicBezTo>
                    <a:pt x="1753" y="664167"/>
                    <a:pt x="0" y="659934"/>
                    <a:pt x="0" y="655520"/>
                  </a:cubicBezTo>
                  <a:lnTo>
                    <a:pt x="0" y="16641"/>
                  </a:lnTo>
                  <a:cubicBezTo>
                    <a:pt x="0" y="12228"/>
                    <a:pt x="1753" y="7995"/>
                    <a:pt x="4874" y="4874"/>
                  </a:cubicBezTo>
                  <a:cubicBezTo>
                    <a:pt x="7995" y="1753"/>
                    <a:pt x="12228" y="0"/>
                    <a:pt x="16641" y="0"/>
                  </a:cubicBezTo>
                  <a:close/>
                </a:path>
              </a:pathLst>
            </a:custGeom>
            <a:solidFill>
              <a:srgbClr val="BFD9F9"/>
            </a:solidFill>
          </p:spPr>
        </p:sp>
        <p:sp>
          <p:nvSpPr>
            <p:cNvPr name="TextBox 19" id="19"/>
            <p:cNvSpPr txBox="true"/>
            <p:nvPr/>
          </p:nvSpPr>
          <p:spPr>
            <a:xfrm>
              <a:off x="0" y="-47625"/>
              <a:ext cx="1837951" cy="719786"/>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7725926" y="7756144"/>
            <a:ext cx="562492" cy="452200"/>
            <a:chOff x="0" y="0"/>
            <a:chExt cx="647700" cy="520700"/>
          </a:xfrm>
        </p:grpSpPr>
        <p:sp>
          <p:nvSpPr>
            <p:cNvPr name="Freeform 21" id="21"/>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22" id="22"/>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15841226" y="7756144"/>
            <a:ext cx="562492" cy="452200"/>
            <a:chOff x="0" y="0"/>
            <a:chExt cx="647700" cy="520700"/>
          </a:xfrm>
        </p:grpSpPr>
        <p:sp>
          <p:nvSpPr>
            <p:cNvPr name="Freeform 24" id="24"/>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25" id="25"/>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26" id="26"/>
          <p:cNvGrpSpPr/>
          <p:nvPr/>
        </p:nvGrpSpPr>
        <p:grpSpPr>
          <a:xfrm rot="0">
            <a:off x="7725926" y="4917400"/>
            <a:ext cx="562492" cy="452200"/>
            <a:chOff x="0" y="0"/>
            <a:chExt cx="647700" cy="520700"/>
          </a:xfrm>
        </p:grpSpPr>
        <p:sp>
          <p:nvSpPr>
            <p:cNvPr name="Freeform 27" id="27"/>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28" id="28"/>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29" id="29"/>
          <p:cNvGrpSpPr/>
          <p:nvPr/>
        </p:nvGrpSpPr>
        <p:grpSpPr>
          <a:xfrm rot="0">
            <a:off x="15841226" y="4917400"/>
            <a:ext cx="562492" cy="452200"/>
            <a:chOff x="0" y="0"/>
            <a:chExt cx="647700" cy="520700"/>
          </a:xfrm>
        </p:grpSpPr>
        <p:sp>
          <p:nvSpPr>
            <p:cNvPr name="Freeform 30" id="3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31" id="31"/>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32" id="32"/>
          <p:cNvSpPr txBox="true"/>
          <p:nvPr/>
        </p:nvSpPr>
        <p:spPr>
          <a:xfrm rot="0">
            <a:off x="1304786" y="4656904"/>
            <a:ext cx="1141844" cy="843989"/>
          </a:xfrm>
          <a:prstGeom prst="rect">
            <a:avLst/>
          </a:prstGeom>
        </p:spPr>
        <p:txBody>
          <a:bodyPr anchor="t" rtlCol="false" tIns="0" lIns="0" bIns="0" rIns="0">
            <a:spAutoFit/>
          </a:bodyPr>
          <a:lstStyle/>
          <a:p>
            <a:pPr algn="ctr">
              <a:lnSpc>
                <a:spcPts val="5880"/>
              </a:lnSpc>
            </a:pPr>
            <a:r>
              <a:rPr lang="en-US" sz="6000" b="true">
                <a:solidFill>
                  <a:srgbClr val="1E293B"/>
                </a:solidFill>
                <a:latin typeface="Poppins Semi-Bold"/>
                <a:ea typeface="Poppins Semi-Bold"/>
                <a:cs typeface="Poppins Semi-Bold"/>
                <a:sym typeface="Poppins Semi-Bold"/>
              </a:rPr>
              <a:t>01</a:t>
            </a:r>
          </a:p>
        </p:txBody>
      </p:sp>
      <p:sp>
        <p:nvSpPr>
          <p:cNvPr name="TextBox 33" id="33"/>
          <p:cNvSpPr txBox="true"/>
          <p:nvPr/>
        </p:nvSpPr>
        <p:spPr>
          <a:xfrm rot="0">
            <a:off x="9551147" y="4656904"/>
            <a:ext cx="1141844" cy="843989"/>
          </a:xfrm>
          <a:prstGeom prst="rect">
            <a:avLst/>
          </a:prstGeom>
        </p:spPr>
        <p:txBody>
          <a:bodyPr anchor="t" rtlCol="false" tIns="0" lIns="0" bIns="0" rIns="0">
            <a:spAutoFit/>
          </a:bodyPr>
          <a:lstStyle/>
          <a:p>
            <a:pPr algn="ctr">
              <a:lnSpc>
                <a:spcPts val="5880"/>
              </a:lnSpc>
            </a:pPr>
            <a:r>
              <a:rPr lang="en-US" sz="6000" b="true">
                <a:solidFill>
                  <a:srgbClr val="1E293B"/>
                </a:solidFill>
                <a:latin typeface="Poppins Semi-Bold"/>
                <a:ea typeface="Poppins Semi-Bold"/>
                <a:cs typeface="Poppins Semi-Bold"/>
                <a:sym typeface="Poppins Semi-Bold"/>
              </a:rPr>
              <a:t>03</a:t>
            </a:r>
          </a:p>
        </p:txBody>
      </p:sp>
      <p:sp>
        <p:nvSpPr>
          <p:cNvPr name="TextBox 34" id="34"/>
          <p:cNvSpPr txBox="true"/>
          <p:nvPr/>
        </p:nvSpPr>
        <p:spPr>
          <a:xfrm rot="0">
            <a:off x="1304786" y="7526404"/>
            <a:ext cx="1141844" cy="843989"/>
          </a:xfrm>
          <a:prstGeom prst="rect">
            <a:avLst/>
          </a:prstGeom>
        </p:spPr>
        <p:txBody>
          <a:bodyPr anchor="t" rtlCol="false" tIns="0" lIns="0" bIns="0" rIns="0">
            <a:spAutoFit/>
          </a:bodyPr>
          <a:lstStyle/>
          <a:p>
            <a:pPr algn="ctr">
              <a:lnSpc>
                <a:spcPts val="5880"/>
              </a:lnSpc>
            </a:pPr>
            <a:r>
              <a:rPr lang="en-US" sz="6000" b="true">
                <a:solidFill>
                  <a:srgbClr val="1E293B"/>
                </a:solidFill>
                <a:latin typeface="Poppins Semi-Bold"/>
                <a:ea typeface="Poppins Semi-Bold"/>
                <a:cs typeface="Poppins Semi-Bold"/>
                <a:sym typeface="Poppins Semi-Bold"/>
              </a:rPr>
              <a:t>02</a:t>
            </a:r>
          </a:p>
        </p:txBody>
      </p:sp>
      <p:sp>
        <p:nvSpPr>
          <p:cNvPr name="TextBox 35" id="35"/>
          <p:cNvSpPr txBox="true"/>
          <p:nvPr/>
        </p:nvSpPr>
        <p:spPr>
          <a:xfrm rot="0">
            <a:off x="9551147" y="7575374"/>
            <a:ext cx="1141844" cy="843989"/>
          </a:xfrm>
          <a:prstGeom prst="rect">
            <a:avLst/>
          </a:prstGeom>
        </p:spPr>
        <p:txBody>
          <a:bodyPr anchor="t" rtlCol="false" tIns="0" lIns="0" bIns="0" rIns="0">
            <a:spAutoFit/>
          </a:bodyPr>
          <a:lstStyle/>
          <a:p>
            <a:pPr algn="ctr">
              <a:lnSpc>
                <a:spcPts val="5880"/>
              </a:lnSpc>
            </a:pPr>
            <a:r>
              <a:rPr lang="en-US" sz="6000" b="true">
                <a:solidFill>
                  <a:srgbClr val="1E293B"/>
                </a:solidFill>
                <a:latin typeface="Poppins Semi-Bold"/>
                <a:ea typeface="Poppins Semi-Bold"/>
                <a:cs typeface="Poppins Semi-Bold"/>
                <a:sym typeface="Poppins Semi-Bold"/>
              </a:rPr>
              <a:t>04</a:t>
            </a:r>
          </a:p>
        </p:txBody>
      </p:sp>
      <p:sp>
        <p:nvSpPr>
          <p:cNvPr name="TextBox 36" id="36"/>
          <p:cNvSpPr txBox="true"/>
          <p:nvPr/>
        </p:nvSpPr>
        <p:spPr>
          <a:xfrm rot="0">
            <a:off x="3474203" y="4640543"/>
            <a:ext cx="3224151" cy="860351"/>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Revenue contin</a:t>
            </a:r>
            <a:r>
              <a:rPr lang="en-US" sz="2499">
                <a:solidFill>
                  <a:srgbClr val="1E293B"/>
                </a:solidFill>
                <a:latin typeface="Open Sans"/>
                <a:ea typeface="Open Sans"/>
                <a:cs typeface="Open Sans"/>
                <a:sym typeface="Open Sans"/>
              </a:rPr>
              <a:t>ued to grow steadily.</a:t>
            </a:r>
          </a:p>
        </p:txBody>
      </p:sp>
      <p:sp>
        <p:nvSpPr>
          <p:cNvPr name="TextBox 37" id="37"/>
          <p:cNvSpPr txBox="true"/>
          <p:nvPr/>
        </p:nvSpPr>
        <p:spPr>
          <a:xfrm rot="0">
            <a:off x="11955721" y="4470456"/>
            <a:ext cx="3568367" cy="1298463"/>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Premium pro</a:t>
            </a:r>
            <a:r>
              <a:rPr lang="en-US" sz="2499">
                <a:solidFill>
                  <a:srgbClr val="1E293B"/>
                </a:solidFill>
                <a:latin typeface="Open Sans"/>
                <a:ea typeface="Open Sans"/>
                <a:cs typeface="Open Sans"/>
                <a:sym typeface="Open Sans"/>
              </a:rPr>
              <a:t>ducts outperformed expectations.</a:t>
            </a:r>
          </a:p>
        </p:txBody>
      </p:sp>
      <p:sp>
        <p:nvSpPr>
          <p:cNvPr name="TextBox 38" id="38"/>
          <p:cNvSpPr txBox="true"/>
          <p:nvPr/>
        </p:nvSpPr>
        <p:spPr>
          <a:xfrm rot="0">
            <a:off x="3474203" y="7510043"/>
            <a:ext cx="3224151" cy="860351"/>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Customer retention remain</a:t>
            </a:r>
            <a:r>
              <a:rPr lang="en-US" sz="2499">
                <a:solidFill>
                  <a:srgbClr val="1E293B"/>
                </a:solidFill>
                <a:latin typeface="Open Sans"/>
                <a:ea typeface="Open Sans"/>
                <a:cs typeface="Open Sans"/>
                <a:sym typeface="Open Sans"/>
              </a:rPr>
              <a:t>ed strong.</a:t>
            </a:r>
          </a:p>
        </p:txBody>
      </p:sp>
      <p:sp>
        <p:nvSpPr>
          <p:cNvPr name="TextBox 39" id="39"/>
          <p:cNvSpPr txBox="true"/>
          <p:nvPr/>
        </p:nvSpPr>
        <p:spPr>
          <a:xfrm rot="0">
            <a:off x="11955721" y="7309199"/>
            <a:ext cx="3224151" cy="1298463"/>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Digital channels drove significant re</a:t>
            </a:r>
            <a:r>
              <a:rPr lang="en-US" sz="2499">
                <a:solidFill>
                  <a:srgbClr val="1E293B"/>
                </a:solidFill>
                <a:latin typeface="Open Sans"/>
                <a:ea typeface="Open Sans"/>
                <a:cs typeface="Open Sans"/>
                <a:sym typeface="Open Sans"/>
              </a:rPr>
              <a:t>sults.</a:t>
            </a:r>
          </a:p>
        </p:txBody>
      </p:sp>
      <p:sp>
        <p:nvSpPr>
          <p:cNvPr name="AutoShape 40" id="40"/>
          <p:cNvSpPr/>
          <p:nvPr/>
        </p:nvSpPr>
        <p:spPr>
          <a:xfrm>
            <a:off x="2730319" y="4188231"/>
            <a:ext cx="0" cy="1910538"/>
          </a:xfrm>
          <a:prstGeom prst="line">
            <a:avLst/>
          </a:prstGeom>
          <a:ln cap="rnd" w="57150">
            <a:solidFill>
              <a:srgbClr val="60A5FA"/>
            </a:solidFill>
            <a:prstDash val="solid"/>
            <a:headEnd type="none" len="sm" w="sm"/>
            <a:tailEnd type="none" len="sm" w="sm"/>
          </a:ln>
        </p:spPr>
      </p:sp>
      <p:sp>
        <p:nvSpPr>
          <p:cNvPr name="AutoShape 41" id="41"/>
          <p:cNvSpPr/>
          <p:nvPr/>
        </p:nvSpPr>
        <p:spPr>
          <a:xfrm>
            <a:off x="11184196" y="4188231"/>
            <a:ext cx="0" cy="1910538"/>
          </a:xfrm>
          <a:prstGeom prst="line">
            <a:avLst/>
          </a:prstGeom>
          <a:ln cap="rnd" w="57150">
            <a:solidFill>
              <a:srgbClr val="60A5FA"/>
            </a:solidFill>
            <a:prstDash val="solid"/>
            <a:headEnd type="none" len="sm" w="sm"/>
            <a:tailEnd type="none" len="sm" w="sm"/>
          </a:ln>
        </p:spPr>
      </p:sp>
      <p:sp>
        <p:nvSpPr>
          <p:cNvPr name="AutoShape 42" id="42"/>
          <p:cNvSpPr/>
          <p:nvPr/>
        </p:nvSpPr>
        <p:spPr>
          <a:xfrm>
            <a:off x="2730319" y="7057731"/>
            <a:ext cx="0" cy="1910538"/>
          </a:xfrm>
          <a:prstGeom prst="line">
            <a:avLst/>
          </a:prstGeom>
          <a:ln cap="rnd" w="57150">
            <a:solidFill>
              <a:srgbClr val="60A5FA"/>
            </a:solidFill>
            <a:prstDash val="solid"/>
            <a:headEnd type="none" len="sm" w="sm"/>
            <a:tailEnd type="none" len="sm" w="sm"/>
          </a:ln>
        </p:spPr>
      </p:sp>
      <p:sp>
        <p:nvSpPr>
          <p:cNvPr name="AutoShape 43" id="43"/>
          <p:cNvSpPr/>
          <p:nvPr/>
        </p:nvSpPr>
        <p:spPr>
          <a:xfrm>
            <a:off x="11184196" y="7057731"/>
            <a:ext cx="0" cy="1910538"/>
          </a:xfrm>
          <a:prstGeom prst="line">
            <a:avLst/>
          </a:prstGeom>
          <a:ln cap="rnd" w="57150">
            <a:solidFill>
              <a:srgbClr val="60A5FA"/>
            </a:solidFill>
            <a:prstDash val="solid"/>
            <a:headEnd type="none" len="sm" w="sm"/>
            <a:tailEnd type="none" len="sm" w="sm"/>
          </a:ln>
        </p:spPr>
      </p:sp>
      <p:grpSp>
        <p:nvGrpSpPr>
          <p:cNvPr name="Group 44" id="44"/>
          <p:cNvGrpSpPr/>
          <p:nvPr/>
        </p:nvGrpSpPr>
        <p:grpSpPr>
          <a:xfrm rot="0">
            <a:off x="9551147" y="-4310188"/>
            <a:ext cx="7244181" cy="7244181"/>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46" id="4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2226019"/>
            <a:ext cx="10431099" cy="1128433"/>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Recommendations</a:t>
            </a:r>
          </a:p>
        </p:txBody>
      </p:sp>
      <p:grpSp>
        <p:nvGrpSpPr>
          <p:cNvPr name="Group 7" id="7"/>
          <p:cNvGrpSpPr/>
          <p:nvPr/>
        </p:nvGrpSpPr>
        <p:grpSpPr>
          <a:xfrm rot="0">
            <a:off x="6349619" y="3867444"/>
            <a:ext cx="10909681" cy="5390856"/>
            <a:chOff x="0" y="0"/>
            <a:chExt cx="2873332" cy="1419814"/>
          </a:xfrm>
        </p:grpSpPr>
        <p:sp>
          <p:nvSpPr>
            <p:cNvPr name="Freeform 8" id="8"/>
            <p:cNvSpPr/>
            <p:nvPr/>
          </p:nvSpPr>
          <p:spPr>
            <a:xfrm flipH="false" flipV="false" rot="0">
              <a:off x="0" y="0"/>
              <a:ext cx="2873332" cy="1419814"/>
            </a:xfrm>
            <a:custGeom>
              <a:avLst/>
              <a:gdLst/>
              <a:ahLst/>
              <a:cxnLst/>
              <a:rect r="r" b="b" t="t" l="l"/>
              <a:pathLst>
                <a:path h="1419814" w="2873332">
                  <a:moveTo>
                    <a:pt x="10645" y="0"/>
                  </a:moveTo>
                  <a:lnTo>
                    <a:pt x="2862687" y="0"/>
                  </a:lnTo>
                  <a:cubicBezTo>
                    <a:pt x="2868566" y="0"/>
                    <a:pt x="2873332" y="4766"/>
                    <a:pt x="2873332" y="10645"/>
                  </a:cubicBezTo>
                  <a:lnTo>
                    <a:pt x="2873332" y="1409169"/>
                  </a:lnTo>
                  <a:cubicBezTo>
                    <a:pt x="2873332" y="1411993"/>
                    <a:pt x="2872210" y="1414700"/>
                    <a:pt x="2870214" y="1416696"/>
                  </a:cubicBezTo>
                  <a:cubicBezTo>
                    <a:pt x="2868218" y="1418693"/>
                    <a:pt x="2865510" y="1419814"/>
                    <a:pt x="2862687" y="1419814"/>
                  </a:cubicBezTo>
                  <a:lnTo>
                    <a:pt x="10645" y="1419814"/>
                  </a:lnTo>
                  <a:cubicBezTo>
                    <a:pt x="4766" y="1419814"/>
                    <a:pt x="0" y="1415048"/>
                    <a:pt x="0" y="1409169"/>
                  </a:cubicBezTo>
                  <a:lnTo>
                    <a:pt x="0" y="10645"/>
                  </a:lnTo>
                  <a:cubicBezTo>
                    <a:pt x="0" y="7821"/>
                    <a:pt x="1121" y="5114"/>
                    <a:pt x="3118" y="3118"/>
                  </a:cubicBezTo>
                  <a:cubicBezTo>
                    <a:pt x="5114" y="1121"/>
                    <a:pt x="7821" y="0"/>
                    <a:pt x="10645" y="0"/>
                  </a:cubicBezTo>
                  <a:close/>
                </a:path>
              </a:pathLst>
            </a:custGeom>
            <a:gradFill rotWithShape="true">
              <a:gsLst>
                <a:gs pos="0">
                  <a:srgbClr val="BFD9F9">
                    <a:alpha val="100000"/>
                  </a:srgbClr>
                </a:gs>
                <a:gs pos="100000">
                  <a:srgbClr val="F4F9FD">
                    <a:alpha val="100000"/>
                  </a:srgbClr>
                </a:gs>
              </a:gsLst>
              <a:lin ang="5400000"/>
            </a:gradFill>
          </p:spPr>
        </p:sp>
        <p:sp>
          <p:nvSpPr>
            <p:cNvPr name="TextBox 9" id="9"/>
            <p:cNvSpPr txBox="true"/>
            <p:nvPr/>
          </p:nvSpPr>
          <p:spPr>
            <a:xfrm>
              <a:off x="0" y="-47625"/>
              <a:ext cx="2873332" cy="1467439"/>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6952208" y="4327522"/>
            <a:ext cx="9595167" cy="815978"/>
            <a:chOff x="0" y="0"/>
            <a:chExt cx="2527122" cy="214908"/>
          </a:xfrm>
        </p:grpSpPr>
        <p:sp>
          <p:nvSpPr>
            <p:cNvPr name="Freeform 11" id="11"/>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2" id="12"/>
            <p:cNvSpPr txBox="true"/>
            <p:nvPr/>
          </p:nvSpPr>
          <p:spPr>
            <a:xfrm>
              <a:off x="0" y="-47625"/>
              <a:ext cx="2527122" cy="262533"/>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6952208" y="5510548"/>
            <a:ext cx="9595167" cy="815978"/>
            <a:chOff x="0" y="0"/>
            <a:chExt cx="2527122" cy="214908"/>
          </a:xfrm>
        </p:grpSpPr>
        <p:sp>
          <p:nvSpPr>
            <p:cNvPr name="Freeform 14" id="14"/>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5" id="15"/>
            <p:cNvSpPr txBox="true"/>
            <p:nvPr/>
          </p:nvSpPr>
          <p:spPr>
            <a:xfrm>
              <a:off x="0" y="-47625"/>
              <a:ext cx="2527122" cy="262533"/>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6952208" y="6698001"/>
            <a:ext cx="9595167" cy="815978"/>
            <a:chOff x="0" y="0"/>
            <a:chExt cx="2527122" cy="214908"/>
          </a:xfrm>
        </p:grpSpPr>
        <p:sp>
          <p:nvSpPr>
            <p:cNvPr name="Freeform 17" id="17"/>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18" id="18"/>
            <p:cNvSpPr txBox="true"/>
            <p:nvPr/>
          </p:nvSpPr>
          <p:spPr>
            <a:xfrm>
              <a:off x="0" y="-47625"/>
              <a:ext cx="2527122" cy="262533"/>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6952208" y="7885454"/>
            <a:ext cx="9595167" cy="815978"/>
            <a:chOff x="0" y="0"/>
            <a:chExt cx="2527122" cy="214908"/>
          </a:xfrm>
        </p:grpSpPr>
        <p:sp>
          <p:nvSpPr>
            <p:cNvPr name="Freeform 20" id="20"/>
            <p:cNvSpPr/>
            <p:nvPr/>
          </p:nvSpPr>
          <p:spPr>
            <a:xfrm flipH="false" flipV="false" rot="0">
              <a:off x="0" y="0"/>
              <a:ext cx="2527122" cy="214908"/>
            </a:xfrm>
            <a:custGeom>
              <a:avLst/>
              <a:gdLst/>
              <a:ahLst/>
              <a:cxnLst/>
              <a:rect r="r" b="b" t="t" l="l"/>
              <a:pathLst>
                <a:path h="214908" w="2527122">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name="TextBox 21" id="21"/>
            <p:cNvSpPr txBox="true"/>
            <p:nvPr/>
          </p:nvSpPr>
          <p:spPr>
            <a:xfrm>
              <a:off x="0" y="-47625"/>
              <a:ext cx="2527122" cy="262533"/>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1028700" y="3867444"/>
            <a:ext cx="4720422" cy="6883263"/>
            <a:chOff x="0" y="0"/>
            <a:chExt cx="731317" cy="1066398"/>
          </a:xfrm>
        </p:grpSpPr>
        <p:sp>
          <p:nvSpPr>
            <p:cNvPr name="Freeform 23" id="23"/>
            <p:cNvSpPr/>
            <p:nvPr/>
          </p:nvSpPr>
          <p:spPr>
            <a:xfrm flipH="false" flipV="false" rot="0">
              <a:off x="0" y="0"/>
              <a:ext cx="731317" cy="1066398"/>
            </a:xfrm>
            <a:custGeom>
              <a:avLst/>
              <a:gdLst/>
              <a:ahLst/>
              <a:cxnLst/>
              <a:rect r="r" b="b" t="t" l="l"/>
              <a:pathLst>
                <a:path h="1066398" w="731317">
                  <a:moveTo>
                    <a:pt x="22961" y="0"/>
                  </a:moveTo>
                  <a:lnTo>
                    <a:pt x="708356" y="0"/>
                  </a:lnTo>
                  <a:cubicBezTo>
                    <a:pt x="714445" y="0"/>
                    <a:pt x="720286" y="2419"/>
                    <a:pt x="724592" y="6725"/>
                  </a:cubicBezTo>
                  <a:cubicBezTo>
                    <a:pt x="728898" y="11031"/>
                    <a:pt x="731317" y="16872"/>
                    <a:pt x="731317" y="22961"/>
                  </a:cubicBezTo>
                  <a:lnTo>
                    <a:pt x="731317" y="1043436"/>
                  </a:lnTo>
                  <a:cubicBezTo>
                    <a:pt x="731317" y="1049526"/>
                    <a:pt x="728898" y="1055366"/>
                    <a:pt x="724592" y="1059672"/>
                  </a:cubicBezTo>
                  <a:cubicBezTo>
                    <a:pt x="720286" y="1063978"/>
                    <a:pt x="714445" y="1066398"/>
                    <a:pt x="708356" y="1066398"/>
                  </a:cubicBezTo>
                  <a:lnTo>
                    <a:pt x="22961" y="1066398"/>
                  </a:lnTo>
                  <a:cubicBezTo>
                    <a:pt x="16872" y="1066398"/>
                    <a:pt x="11031" y="1063978"/>
                    <a:pt x="6725" y="1059672"/>
                  </a:cubicBezTo>
                  <a:cubicBezTo>
                    <a:pt x="2419" y="1055366"/>
                    <a:pt x="0" y="1049526"/>
                    <a:pt x="0" y="1043436"/>
                  </a:cubicBezTo>
                  <a:lnTo>
                    <a:pt x="0" y="22961"/>
                  </a:lnTo>
                  <a:cubicBezTo>
                    <a:pt x="0" y="16872"/>
                    <a:pt x="2419" y="11031"/>
                    <a:pt x="6725" y="6725"/>
                  </a:cubicBezTo>
                  <a:cubicBezTo>
                    <a:pt x="11031" y="2419"/>
                    <a:pt x="16872" y="0"/>
                    <a:pt x="22961" y="0"/>
                  </a:cubicBezTo>
                  <a:close/>
                </a:path>
              </a:pathLst>
            </a:custGeom>
            <a:blipFill>
              <a:blip r:embed="rId4"/>
              <a:stretch>
                <a:fillRect l="-59264" t="0" r="-59264" b="0"/>
              </a:stretch>
            </a:blipFill>
          </p:spPr>
        </p:sp>
      </p:grpSp>
      <p:grpSp>
        <p:nvGrpSpPr>
          <p:cNvPr name="Group 24" id="24"/>
          <p:cNvGrpSpPr/>
          <p:nvPr/>
        </p:nvGrpSpPr>
        <p:grpSpPr>
          <a:xfrm rot="0">
            <a:off x="11043819" y="-4496808"/>
            <a:ext cx="7244181" cy="724418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27" id="27"/>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28" id="28"/>
          <p:cNvSpPr txBox="true"/>
          <p:nvPr/>
        </p:nvSpPr>
        <p:spPr>
          <a:xfrm rot="0">
            <a:off x="7397039" y="4500580"/>
            <a:ext cx="8705506" cy="422238"/>
          </a:xfrm>
          <a:prstGeom prst="rect">
            <a:avLst/>
          </a:prstGeom>
        </p:spPr>
        <p:txBody>
          <a:bodyPr anchor="t" rtlCol="false" tIns="0" lIns="0" bIns="0" rIns="0">
            <a:spAutoFit/>
          </a:bodyPr>
          <a:lstStyle/>
          <a:p>
            <a:pPr algn="ctr">
              <a:lnSpc>
                <a:spcPts val="3499"/>
              </a:lnSpc>
            </a:pPr>
            <a:r>
              <a:rPr lang="en-US" sz="2499">
                <a:solidFill>
                  <a:srgbClr val="FFFFFF"/>
                </a:solidFill>
                <a:latin typeface="Open Sans"/>
                <a:ea typeface="Open Sans"/>
                <a:cs typeface="Open Sans"/>
                <a:sym typeface="Open Sans"/>
              </a:rPr>
              <a:t>Enha</a:t>
            </a:r>
            <a:r>
              <a:rPr lang="en-US" sz="2499">
                <a:solidFill>
                  <a:srgbClr val="FFFFFF"/>
                </a:solidFill>
                <a:latin typeface="Open Sans"/>
                <a:ea typeface="Open Sans"/>
                <a:cs typeface="Open Sans"/>
                <a:sym typeface="Open Sans"/>
              </a:rPr>
              <a:t>nce c</a:t>
            </a:r>
            <a:r>
              <a:rPr lang="en-US" sz="2499">
                <a:solidFill>
                  <a:srgbClr val="FFFFFF"/>
                </a:solidFill>
                <a:latin typeface="Open Sans"/>
                <a:ea typeface="Open Sans"/>
                <a:cs typeface="Open Sans"/>
                <a:sym typeface="Open Sans"/>
              </a:rPr>
              <a:t>ustomer retention initiatives.</a:t>
            </a:r>
          </a:p>
        </p:txBody>
      </p:sp>
      <p:sp>
        <p:nvSpPr>
          <p:cNvPr name="TextBox 29" id="29"/>
          <p:cNvSpPr txBox="true"/>
          <p:nvPr/>
        </p:nvSpPr>
        <p:spPr>
          <a:xfrm rot="0">
            <a:off x="7397039" y="5685819"/>
            <a:ext cx="8705506" cy="422238"/>
          </a:xfrm>
          <a:prstGeom prst="rect">
            <a:avLst/>
          </a:prstGeom>
        </p:spPr>
        <p:txBody>
          <a:bodyPr anchor="t" rtlCol="false" tIns="0" lIns="0" bIns="0" rIns="0">
            <a:spAutoFit/>
          </a:bodyPr>
          <a:lstStyle/>
          <a:p>
            <a:pPr algn="ctr">
              <a:lnSpc>
                <a:spcPts val="3499"/>
              </a:lnSpc>
            </a:pPr>
            <a:r>
              <a:rPr lang="en-US" sz="2499">
                <a:solidFill>
                  <a:srgbClr val="FFFFFF"/>
                </a:solidFill>
                <a:latin typeface="Open Sans"/>
                <a:ea typeface="Open Sans"/>
                <a:cs typeface="Open Sans"/>
                <a:sym typeface="Open Sans"/>
              </a:rPr>
              <a:t>Expa</a:t>
            </a:r>
            <a:r>
              <a:rPr lang="en-US" sz="2499">
                <a:solidFill>
                  <a:srgbClr val="FFFFFF"/>
                </a:solidFill>
                <a:latin typeface="Open Sans"/>
                <a:ea typeface="Open Sans"/>
                <a:cs typeface="Open Sans"/>
                <a:sym typeface="Open Sans"/>
              </a:rPr>
              <a:t>nd inve</a:t>
            </a:r>
            <a:r>
              <a:rPr lang="en-US" sz="2499">
                <a:solidFill>
                  <a:srgbClr val="FFFFFF"/>
                </a:solidFill>
                <a:latin typeface="Open Sans"/>
                <a:ea typeface="Open Sans"/>
                <a:cs typeface="Open Sans"/>
                <a:sym typeface="Open Sans"/>
              </a:rPr>
              <a:t>stment in high-performing channels.</a:t>
            </a:r>
          </a:p>
        </p:txBody>
      </p:sp>
      <p:sp>
        <p:nvSpPr>
          <p:cNvPr name="TextBox 30" id="30"/>
          <p:cNvSpPr txBox="true"/>
          <p:nvPr/>
        </p:nvSpPr>
        <p:spPr>
          <a:xfrm rot="0">
            <a:off x="7397039" y="6869451"/>
            <a:ext cx="8705506" cy="422238"/>
          </a:xfrm>
          <a:prstGeom prst="rect">
            <a:avLst/>
          </a:prstGeom>
        </p:spPr>
        <p:txBody>
          <a:bodyPr anchor="t" rtlCol="false" tIns="0" lIns="0" bIns="0" rIns="0">
            <a:spAutoFit/>
          </a:bodyPr>
          <a:lstStyle/>
          <a:p>
            <a:pPr algn="ctr">
              <a:lnSpc>
                <a:spcPts val="3499"/>
              </a:lnSpc>
            </a:pPr>
            <a:r>
              <a:rPr lang="en-US" sz="2499">
                <a:solidFill>
                  <a:srgbClr val="FFFFFF"/>
                </a:solidFill>
                <a:latin typeface="Open Sans"/>
                <a:ea typeface="Open Sans"/>
                <a:cs typeface="Open Sans"/>
                <a:sym typeface="Open Sans"/>
              </a:rPr>
              <a:t>Improve reporting a</a:t>
            </a:r>
            <a:r>
              <a:rPr lang="en-US" sz="2499">
                <a:solidFill>
                  <a:srgbClr val="FFFFFF"/>
                </a:solidFill>
                <a:latin typeface="Open Sans"/>
                <a:ea typeface="Open Sans"/>
                <a:cs typeface="Open Sans"/>
                <a:sym typeface="Open Sans"/>
              </a:rPr>
              <a:t>nd da</a:t>
            </a:r>
            <a:r>
              <a:rPr lang="en-US" sz="2499">
                <a:solidFill>
                  <a:srgbClr val="FFFFFF"/>
                </a:solidFill>
                <a:latin typeface="Open Sans"/>
                <a:ea typeface="Open Sans"/>
                <a:cs typeface="Open Sans"/>
                <a:sym typeface="Open Sans"/>
              </a:rPr>
              <a:t>ta quality processes.</a:t>
            </a:r>
          </a:p>
        </p:txBody>
      </p:sp>
      <p:sp>
        <p:nvSpPr>
          <p:cNvPr name="TextBox 31" id="31"/>
          <p:cNvSpPr txBox="true"/>
          <p:nvPr/>
        </p:nvSpPr>
        <p:spPr>
          <a:xfrm rot="0">
            <a:off x="7397039" y="8058512"/>
            <a:ext cx="8705506" cy="422238"/>
          </a:xfrm>
          <a:prstGeom prst="rect">
            <a:avLst/>
          </a:prstGeom>
        </p:spPr>
        <p:txBody>
          <a:bodyPr anchor="t" rtlCol="false" tIns="0" lIns="0" bIns="0" rIns="0">
            <a:spAutoFit/>
          </a:bodyPr>
          <a:lstStyle/>
          <a:p>
            <a:pPr algn="ctr">
              <a:lnSpc>
                <a:spcPts val="3499"/>
              </a:lnSpc>
            </a:pPr>
            <a:r>
              <a:rPr lang="en-US" sz="2499">
                <a:solidFill>
                  <a:srgbClr val="FFFFFF"/>
                </a:solidFill>
                <a:latin typeface="Open Sans"/>
                <a:ea typeface="Open Sans"/>
                <a:cs typeface="Open Sans"/>
                <a:sym typeface="Open Sans"/>
              </a:rPr>
              <a:t>Monitor emerging market</a:t>
            </a:r>
            <a:r>
              <a:rPr lang="en-US" sz="2499">
                <a:solidFill>
                  <a:srgbClr val="FFFFFF"/>
                </a:solidFill>
                <a:latin typeface="Open Sans"/>
                <a:ea typeface="Open Sans"/>
                <a:cs typeface="Open Sans"/>
                <a:sym typeface="Open Sans"/>
              </a:rPr>
              <a:t> oppor</a:t>
            </a:r>
            <a:r>
              <a:rPr lang="en-US" sz="2499">
                <a:solidFill>
                  <a:srgbClr val="FFFFFF"/>
                </a:solidFill>
                <a:latin typeface="Open Sans"/>
                <a:ea typeface="Open Sans"/>
                <a:cs typeface="Open Sans"/>
                <a:sym typeface="Open Sans"/>
              </a:rPr>
              <a:t>tunities.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028700" y="3055194"/>
            <a:ext cx="953768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Thank</a:t>
            </a:r>
          </a:p>
        </p:txBody>
      </p:sp>
      <p:sp>
        <p:nvSpPr>
          <p:cNvPr name="TextBox 17" id="17"/>
          <p:cNvSpPr txBox="true"/>
          <p:nvPr/>
        </p:nvSpPr>
        <p:spPr>
          <a:xfrm rot="0">
            <a:off x="1028700" y="4450251"/>
            <a:ext cx="764062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You</a:t>
            </a:r>
          </a:p>
        </p:txBody>
      </p:sp>
      <p:sp>
        <p:nvSpPr>
          <p:cNvPr name="TextBox 18" id="18"/>
          <p:cNvSpPr txBox="true"/>
          <p:nvPr/>
        </p:nvSpPr>
        <p:spPr>
          <a:xfrm rot="0">
            <a:off x="2255701" y="1080396"/>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Savvy</a:t>
            </a:r>
            <a:r>
              <a:rPr lang="en-US" b="true" sz="2499">
                <a:solidFill>
                  <a:srgbClr val="1E293B"/>
                </a:solidFill>
                <a:latin typeface="Open Sans Bold"/>
                <a:ea typeface="Open Sans Bold"/>
                <a:cs typeface="Open Sans Bold"/>
                <a:sym typeface="Open Sans Bold"/>
              </a:rPr>
              <a:t> Finance</a:t>
            </a:r>
          </a:p>
        </p:txBody>
      </p:sp>
      <p:sp>
        <p:nvSpPr>
          <p:cNvPr name="TextBox 19" id="19"/>
          <p:cNvSpPr txBox="true"/>
          <p:nvPr/>
        </p:nvSpPr>
        <p:spPr>
          <a:xfrm rot="0">
            <a:off x="1624608" y="8018950"/>
            <a:ext cx="3976232" cy="422238"/>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Website:</a:t>
            </a:r>
          </a:p>
        </p:txBody>
      </p:sp>
      <p:sp>
        <p:nvSpPr>
          <p:cNvPr name="TextBox 20" id="20"/>
          <p:cNvSpPr txBox="true"/>
          <p:nvPr/>
        </p:nvSpPr>
        <p:spPr>
          <a:xfrm rot="0">
            <a:off x="1624608" y="8511884"/>
            <a:ext cx="3976232" cy="422238"/>
          </a:xfrm>
          <a:prstGeom prst="rect">
            <a:avLst/>
          </a:prstGeom>
        </p:spPr>
        <p:txBody>
          <a:bodyPr anchor="t" rtlCol="false" tIns="0" lIns="0" bIns="0" rIns="0">
            <a:spAutoFit/>
          </a:bodyPr>
          <a:lstStyle/>
          <a:p>
            <a:pPr algn="l">
              <a:lnSpc>
                <a:spcPts val="3499"/>
              </a:lnSpc>
            </a:pPr>
            <a:r>
              <a:rPr lang="en-US" sz="2499">
                <a:solidFill>
                  <a:srgbClr val="1E293B"/>
                </a:solidFill>
                <a:latin typeface="Open Sans"/>
                <a:ea typeface="Open Sans"/>
                <a:cs typeface="Open Sans"/>
                <a:sym typeface="Open Sans"/>
              </a:rPr>
              <a:t>www.reallygr</a:t>
            </a:r>
            <a:r>
              <a:rPr lang="en-US" sz="2499">
                <a:solidFill>
                  <a:srgbClr val="1E293B"/>
                </a:solidFill>
                <a:latin typeface="Open Sans"/>
                <a:ea typeface="Open Sans"/>
                <a:cs typeface="Open Sans"/>
                <a:sym typeface="Open Sans"/>
              </a:rPr>
              <a:t>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DAHYiIviBcI</dc:identifier>
  <dcterms:modified xsi:type="dcterms:W3CDTF">2011-08-01T06:04:30Z</dcterms:modified>
  <cp:revision>1</cp:revision>
  <dc:title>Blue Professional Data Analytics Presentation</dc:title>
</cp:coreProperties>
</file>