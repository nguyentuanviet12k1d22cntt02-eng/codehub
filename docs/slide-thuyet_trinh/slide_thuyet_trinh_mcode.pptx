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D4ED8"/>
                </a:solidFill>
                <a:latin typeface="Segoe UI"/>
              </a:rPr>
              <a:t>BÁO CÁO ĐỒ ÁN TỐT NGHIỆP • KHOA CÔNG NGHỆ THÔNG 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9164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F172A"/>
                </a:solidFill>
                <a:latin typeface="Segoe UI"/>
              </a:rPr>
              <a:t>MCODE: NỀN TẢNG HỌC LẬP TRÌNH THÍCH ỨNG &amp; CHẤM CODE TỰ ĐỘNG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2918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2563EB"/>
                </a:solidFill>
                <a:latin typeface="Segoe UI"/>
              </a:rPr>
              <a:t>Hệ Thống Trợ Lý AI Hướng Dẫn Sư Phạm &amp; Knowledge Tracing Cá Nhân Hóa Đa Ngôn Ngữ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4297680"/>
            <a:ext cx="960120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443484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172A"/>
                </a:solidFill>
                <a:latin typeface="Segoe UI"/>
              </a:rPr>
              <a:t>Sinh viên thực hiện: Nguyễn Tuấn Việt   •   Lớp: D22CNTT02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334155"/>
                </a:solidFill>
                <a:latin typeface="Segoe UI"/>
              </a:rPr>
              <a:t>Chuyên ngành: Kỹ thuật Phần mềm &amp; Trí tuệ Nhân tạo   •   Năm bảo vệ: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Segoe UI"/>
              </a:rPr>
              <a:t>BỐI CẢNH &amp; ĐỘNG LỰC NGHIÊN CỨU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Segoe UI"/>
              </a:rPr>
              <a:t>Khủng Hoảng Nhập Môn &amp; Giới Hạn Của Đào Tạo Truyền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64748B"/>
                </a:solidFill>
                <a:latin typeface="Segoe UI"/>
              </a:rPr>
              <a:t>02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DC2626"/>
                </a:solidFill>
                <a:latin typeface="Segoe UI"/>
              </a:rPr>
              <a:t>⚠️ Thực Trạng Giáo Dục Truyền Thống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663440" cy="384048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Tỷ lệ bỏ cuộc cao (40%–70%): </a:t>
            </a:r>
            <a:r>
              <a:rPr b="0" sz="2000">
                <a:solidFill>
                  <a:srgbClr val="334155"/>
                </a:solidFill>
                <a:latin typeface="Segoe UI"/>
              </a:rPr>
              <a:t>Học viên nhập môn thường xuyên bị 'Syntax &amp; Logic Shock', mất phương hướng khi gặp lỗi biên dịch.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Giới hạn 'One-size-fits-all': </a:t>
            </a:r>
            <a:r>
              <a:rPr b="0" sz="2000">
                <a:solidFill>
                  <a:srgbClr val="334155"/>
                </a:solidFill>
                <a:latin typeface="Segoe UI"/>
              </a:rPr>
              <a:t>Chương trình áp đặt chung một tiến độ cho mọi sinh viên, bỏ quên sự khác biệt về nền tảng tư duy.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Thiếu trợ giúp kịp thời: </a:t>
            </a:r>
            <a:r>
              <a:rPr b="0" sz="2000">
                <a:solidFill>
                  <a:srgbClr val="334155"/>
                </a:solidFill>
                <a:latin typeface="Segoe UI"/>
              </a:rPr>
              <a:t>Giảng viên và trợ giảng quá tải, không thể hỗ trợ 1:1 giải thích nguyên nhân lỗi sai vào ban đêm.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D8"/>
                </a:solidFill>
                <a:latin typeface="Segoe UI"/>
              </a:rPr>
              <a:t>🎯 Đột Phá Từ Giải Pháp Mcode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4663440" cy="384048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Thích ứng cá nhân hóa ZPD: </a:t>
            </a:r>
            <a:r>
              <a:rPr b="0" sz="2000">
                <a:solidFill>
                  <a:srgbClr val="334155"/>
                </a:solidFill>
                <a:latin typeface="Segoe UI"/>
              </a:rPr>
              <a:t>Hệ thống AI tự động đề xuất bài tập vừa sức theo Vùng phát triển gần nhất của từng người học.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Trợ lý AI sư phạm đồng hành: </a:t>
            </a:r>
            <a:r>
              <a:rPr b="0" sz="2000">
                <a:solidFill>
                  <a:srgbClr val="334155"/>
                </a:solidFill>
                <a:latin typeface="Segoe UI"/>
              </a:rPr>
              <a:t>Gợi ý tư duy từng bước (Scaffolding), hướng dẫn cách giải quyết gốc rễ vấn đề thay vì giải hộ code.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Sandbox chấm code tức thời: </a:t>
            </a:r>
            <a:r>
              <a:rPr b="0" sz="2000">
                <a:solidFill>
                  <a:srgbClr val="334155"/>
                </a:solidFill>
                <a:latin typeface="Segoe UI"/>
              </a:rPr>
              <a:t>Môi trường Judge0 Docker chấm bài an toàn, bảo vệ máy chủ tuyệt đối và phản hồi trong &lt;1 giây.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Segoe UI"/>
              </a:rPr>
              <a:t>THIẾT KẾ KIẾN TRÚC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Segoe UI"/>
              </a:rPr>
              <a:t>Kiến Trúc Microservices Phân Tách 4 Tầng Chuyên Biệt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64748B"/>
                </a:solidFill>
                <a:latin typeface="Segoe UI"/>
              </a:rPr>
              <a:t>03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577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0_kien_truc_he_thong_m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241193"/>
            <a:ext cx="5358384" cy="30156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943600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1D4ED8"/>
                </a:solidFill>
                <a:latin typeface="Segoe UI"/>
              </a:rPr>
              <a:t>Sơ đồ 4 Tầng Phân Tách Độc Lập Giữa Nghiệp Vụ, Trí Tuệ AI &amp; Sandbox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508760"/>
            <a:ext cx="49377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D8"/>
                </a:solidFill>
                <a:latin typeface="Segoe UI"/>
              </a:rPr>
              <a:t>🏗️ Phân Rã 4 Tầng Cốt Lõi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48840"/>
            <a:ext cx="4572000" cy="40233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950">
                <a:solidFill>
                  <a:srgbClr val="0F172A"/>
                </a:solidFill>
                <a:latin typeface="Segoe UI"/>
              </a:rPr>
              <a:t>1. Client Layer (React/Vite): </a:t>
            </a:r>
            <a:r>
              <a:rPr b="0" sz="1950">
                <a:solidFill>
                  <a:srgbClr val="334155"/>
                </a:solidFill>
                <a:latin typeface="Segoe UI"/>
              </a:rPr>
              <a:t>Monaco Editor hỗ trợ Python/JS/C++, cây kỹ năng trực quan, khung chat AI tương tác.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950">
                <a:solidFill>
                  <a:srgbClr val="0F172A"/>
                </a:solidFill>
                <a:latin typeface="Segoe UI"/>
              </a:rPr>
              <a:t>2. Backend Core (Node.js/Prisma): </a:t>
            </a:r>
            <a:r>
              <a:rPr b="0" sz="1950">
                <a:solidFill>
                  <a:srgbClr val="334155"/>
                </a:solidFill>
                <a:latin typeface="Segoe UI"/>
              </a:rPr>
              <a:t>Xác thực JWT an toàn, quản lý bài tập, theo dõi tiến độ học tập trên PostgreSQL Supabase.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950">
                <a:solidFill>
                  <a:srgbClr val="0F172A"/>
                </a:solidFill>
                <a:latin typeface="Segoe UI"/>
              </a:rPr>
              <a:t>3. AI Microservice (Python/FastAPI): </a:t>
            </a:r>
            <a:r>
              <a:rPr b="0" sz="1950">
                <a:solidFill>
                  <a:srgbClr val="334155"/>
                </a:solidFill>
                <a:latin typeface="Segoe UI"/>
              </a:rPr>
              <a:t>Mô hình Deep Knowledge Tracing (DKT, PAL-Net) định lượng năng lực thực tế.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950">
                <a:solidFill>
                  <a:srgbClr val="0F172A"/>
                </a:solidFill>
                <a:latin typeface="Segoe UI"/>
              </a:rPr>
              <a:t>4. Sandbox Service (Judge0 Engine): </a:t>
            </a:r>
            <a:r>
              <a:rPr b="0" sz="1950">
                <a:solidFill>
                  <a:srgbClr val="334155"/>
                </a:solidFill>
                <a:latin typeface="Segoe UI"/>
              </a:rPr>
              <a:t>Biên dịch và chạy mã nguồn cô lập trong container Docker, giới hạn RAM/CPU chặt chẽ.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Segoe UI"/>
              </a:rPr>
              <a:t>DỮ LIỆU HUẤN LUYỆN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Segoe UI"/>
              </a:rPr>
              <a:t>Khắc Phục Cold-Start Bằng Thuật Toán Cognitive Traversal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64748B"/>
                </a:solidFill>
                <a:latin typeface="Segoe UI"/>
              </a:rPr>
              <a:t>04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542032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25420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D4ED8"/>
                </a:solidFill>
                <a:latin typeface="Segoe UI"/>
              </a:rPr>
              <a:t>71.273</a:t>
            </a:r>
          </a:p>
          <a:p>
            <a:pPr algn="ctr">
              <a:spcBef>
                <a:spcPts val="400"/>
              </a:spcBef>
            </a:pPr>
            <a:r>
              <a:rPr sz="1300" b="1">
                <a:solidFill>
                  <a:srgbClr val="64748B"/>
                </a:solidFill>
                <a:latin typeface="Segoe UI"/>
              </a:rPr>
              <a:t>LƯỢT TƯƠNG TÁC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508760"/>
            <a:ext cx="2542032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645920"/>
            <a:ext cx="25420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D4ED8"/>
                </a:solidFill>
                <a:latin typeface="Segoe UI"/>
              </a:rPr>
              <a:t>900</a:t>
            </a:r>
          </a:p>
          <a:p>
            <a:pPr algn="ctr">
              <a:spcBef>
                <a:spcPts val="400"/>
              </a:spcBef>
            </a:pPr>
            <a:r>
              <a:rPr sz="1300" b="1">
                <a:solidFill>
                  <a:srgbClr val="64748B"/>
                </a:solidFill>
                <a:latin typeface="Segoe UI"/>
              </a:rPr>
              <a:t>HỌC VIÊN GIẢ LẬP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508760"/>
            <a:ext cx="2542032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1344" y="1645920"/>
            <a:ext cx="25420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563EB"/>
                </a:solidFill>
                <a:latin typeface="Segoe UI"/>
              </a:rPr>
              <a:t>917</a:t>
            </a:r>
          </a:p>
          <a:p>
            <a:pPr algn="ctr">
              <a:spcBef>
                <a:spcPts val="400"/>
              </a:spcBef>
            </a:pPr>
            <a:r>
              <a:rPr sz="1300" b="1">
                <a:solidFill>
                  <a:srgbClr val="64748B"/>
                </a:solidFill>
                <a:latin typeface="Segoe UI"/>
              </a:rPr>
              <a:t>BÀI TẬP THẬT CATALOG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508760"/>
            <a:ext cx="2542032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06256" y="1645920"/>
            <a:ext cx="25420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563EB"/>
                </a:solidFill>
                <a:latin typeface="Segoe UI"/>
              </a:rPr>
              <a:t>5</a:t>
            </a:r>
          </a:p>
          <a:p>
            <a:pPr algn="ctr">
              <a:spcBef>
                <a:spcPts val="400"/>
              </a:spcBef>
            </a:pPr>
            <a:r>
              <a:rPr sz="1300" b="1">
                <a:solidFill>
                  <a:srgbClr val="64748B"/>
                </a:solidFill>
                <a:latin typeface="Segoe UI"/>
              </a:rPr>
              <a:t>NHÓM NĂNG LỰC (PERSONAS)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1840"/>
            <a:ext cx="10728655" cy="3063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74720"/>
            <a:ext cx="10149840" cy="274320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50">
                <a:solidFill>
                  <a:srgbClr val="0F172A"/>
                </a:solidFill>
                <a:latin typeface="Segoe UI"/>
              </a:rPr>
              <a:t>• Thách thức Khởi động nguội (Cold-Start): </a:t>
            </a:r>
            <a:r>
              <a:rPr b="0" sz="2050">
                <a:solidFill>
                  <a:srgbClr val="334155"/>
                </a:solidFill>
                <a:latin typeface="Segoe UI"/>
              </a:rPr>
              <a:t>Dữ liệu người dùng thật ban đầu (15 tài khoản, 549 bài nộp) không đủ quy mô để huấn luyện mạng nơ-ron sâu (DKT) với hàng chục nghìn tham số.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50">
                <a:solidFill>
                  <a:srgbClr val="0F172A"/>
                </a:solidFill>
                <a:latin typeface="Segoe UI"/>
              </a:rPr>
              <a:t>• Thuật toán Mô phỏng Nhận thức (Cognitive Traversal + IRT): </a:t>
            </a:r>
            <a:r>
              <a:rPr b="0" sz="2050">
                <a:solidFill>
                  <a:srgbClr val="334155"/>
                </a:solidFill>
                <a:latin typeface="Segoe UI"/>
              </a:rPr>
              <a:t>Duyệt đồ thị tiên quyết DAG kết hợp lý thuyết Item Response Theory, mô phỏng thời gian Log-Normal và đường cong quên lãng Ebbinghaus.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50">
                <a:solidFill>
                  <a:srgbClr val="0F172A"/>
                </a:solidFill>
                <a:latin typeface="Segoe UI"/>
              </a:rPr>
              <a:t>• Đảm bảo tính trung thực khoa học: </a:t>
            </a:r>
            <a:r>
              <a:rPr b="0" sz="2050">
                <a:solidFill>
                  <a:srgbClr val="334155"/>
                </a:solidFill>
                <a:latin typeface="Segoe UI"/>
              </a:rPr>
              <a:t>Mô phỏng trên 100% bài tập thật (917 bài), phân bổ cân bằng 3 ngôn ngữ: Python (27.054 lượt), JavaScript (22.825 lượt), C++ (21.394 lượt).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Segoe UI"/>
              </a:rPr>
              <a:t>TRỌNG TÂM NGHIÊN CỨU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Segoe UI"/>
              </a:rPr>
              <a:t>Mô Hình Hóa Tri Thức: Từ BKT, DKT Đến Đề Xuất PAL-Net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64748B"/>
                </a:solidFill>
                <a:latin typeface="Segoe UI"/>
              </a:rPr>
              <a:t>05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364992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2999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D4ED8"/>
                </a:solidFill>
                <a:latin typeface="Segoe UI"/>
              </a:rPr>
              <a:t>📌 BKT (Cổ Điển)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2999232" cy="40233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850">
                <a:solidFill>
                  <a:srgbClr val="0F172A"/>
                </a:solidFill>
                <a:latin typeface="Segoe UI"/>
              </a:rPr>
              <a:t>• Bản chất: </a:t>
            </a:r>
            <a:r>
              <a:rPr b="0" sz="1850">
                <a:solidFill>
                  <a:srgbClr val="334155"/>
                </a:solidFill>
                <a:latin typeface="Segoe UI"/>
              </a:rPr>
              <a:t>Mô hình Markov ẩn (HMM) theo dõi trạng thái nhị phân làm chủ kỹ năng (Mastered/Not).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850">
                <a:solidFill>
                  <a:srgbClr val="0F172A"/>
                </a:solidFill>
                <a:latin typeface="Segoe UI"/>
              </a:rPr>
              <a:t>• 4 Tham số: </a:t>
            </a:r>
            <a:r>
              <a:rPr b="0" sz="1850">
                <a:solidFill>
                  <a:srgbClr val="334155"/>
                </a:solidFill>
                <a:latin typeface="Segoe UI"/>
              </a:rPr>
              <a:t>Ước lượng xác suất L0 (biết trước), T (học được), G (đoán mò), S (sơ suất).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850">
                <a:solidFill>
                  <a:srgbClr val="0F172A"/>
                </a:solidFill>
                <a:latin typeface="Segoe UI"/>
              </a:rPr>
              <a:t>• Ưu điểm: </a:t>
            </a:r>
            <a:r>
              <a:rPr b="0" sz="1850">
                <a:solidFill>
                  <a:srgbClr val="334155"/>
                </a:solidFill>
                <a:latin typeface="Segoe UI"/>
              </a:rPr>
              <a:t>Công thức xác suất đóng, dễ giải thích, suy diễn cực nhanh.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850">
                <a:solidFill>
                  <a:srgbClr val="0F172A"/>
                </a:solidFill>
                <a:latin typeface="Segoe UI"/>
              </a:rPr>
              <a:t>• Hạn chế lớn: </a:t>
            </a:r>
            <a:r>
              <a:rPr b="0" sz="1850">
                <a:solidFill>
                  <a:srgbClr val="334155"/>
                </a:solidFill>
                <a:latin typeface="Segoe UI"/>
              </a:rPr>
              <a:t>Coi mọi kỹ năng độc lập, không mô hình hóa được chuỗi tương tác dài.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508760"/>
            <a:ext cx="3364992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45920"/>
            <a:ext cx="2999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Segoe UI"/>
              </a:rPr>
              <a:t>🧠 DKT (Deep KT)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48840"/>
            <a:ext cx="2999232" cy="40233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850">
                <a:solidFill>
                  <a:srgbClr val="0F172A"/>
                </a:solidFill>
                <a:latin typeface="Segoe UI"/>
              </a:rPr>
              <a:t>• Bản chất: </a:t>
            </a:r>
            <a:r>
              <a:rPr b="0" sz="1850">
                <a:solidFill>
                  <a:srgbClr val="334155"/>
                </a:solidFill>
                <a:latin typeface="Segoe UI"/>
              </a:rPr>
              <a:t>Mạng nơ-ron hồi quy LSTM (Piech et al., 2015) đọc chuỗi nộp bài theo thời gian.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850">
                <a:solidFill>
                  <a:srgbClr val="0F172A"/>
                </a:solidFill>
                <a:latin typeface="Segoe UI"/>
              </a:rPr>
              <a:t>• Ưu điểm: </a:t>
            </a:r>
            <a:r>
              <a:rPr b="0" sz="1850">
                <a:solidFill>
                  <a:srgbClr val="334155"/>
                </a:solidFill>
                <a:latin typeface="Segoe UI"/>
              </a:rPr>
              <a:t>Học được quan hệ phi tuyến tính phức tạp trong lịch sử người học.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850">
                <a:solidFill>
                  <a:srgbClr val="0F172A"/>
                </a:solidFill>
                <a:latin typeface="Segoe UI"/>
              </a:rPr>
              <a:t>• Hạn chế lớn: </a:t>
            </a:r>
            <a:r>
              <a:rPr b="0" sz="1850">
                <a:solidFill>
                  <a:srgbClr val="334155"/>
                </a:solidFill>
                <a:latin typeface="Segoe UI"/>
              </a:rPr>
              <a:t>'Mù cấu trúc' — hoàn toàn bỏ qua mối quan hệ tiên quyết trên Đồ thị Tri thức DAG.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850">
                <a:solidFill>
                  <a:srgbClr val="0F172A"/>
                </a:solidFill>
                <a:latin typeface="Segoe UI"/>
              </a:rPr>
              <a:t>• Hậu quả: </a:t>
            </a:r>
            <a:r>
              <a:rPr b="0" sz="1850">
                <a:solidFill>
                  <a:srgbClr val="334155"/>
                </a:solidFill>
                <a:latin typeface="Segoe UI"/>
              </a:rPr>
              <a:t>Dễ bị nhiễu gradient khi học viên chuyển đổi qua lại giữa các module.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508760"/>
            <a:ext cx="3364992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6" y="1645920"/>
            <a:ext cx="2999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D4ED8"/>
                </a:solidFill>
                <a:latin typeface="Segoe UI"/>
              </a:rPr>
              <a:t>⭐ PAL-Net (Đề Xuất)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2148840"/>
            <a:ext cx="2999232" cy="40233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850">
                <a:solidFill>
                  <a:srgbClr val="0F172A"/>
                </a:solidFill>
                <a:latin typeface="Segoe UI"/>
              </a:rPr>
              <a:t>• Kiến trúc đột phá: </a:t>
            </a:r>
            <a:r>
              <a:rPr b="0" sz="1850">
                <a:solidFill>
                  <a:srgbClr val="334155"/>
                </a:solidFill>
                <a:latin typeface="Segoe UI"/>
              </a:rPr>
              <a:t>Kết hợp Graph Neural Network (GNN/GCN) trên Đồ thị DAG + Multi-Head Self-Attention.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850">
                <a:solidFill>
                  <a:srgbClr val="0F172A"/>
                </a:solidFill>
                <a:latin typeface="Segoe UI"/>
              </a:rPr>
              <a:t>• Lan truyền tiên quyết: </a:t>
            </a:r>
            <a:r>
              <a:rPr b="0" sz="1850">
                <a:solidFill>
                  <a:srgbClr val="334155"/>
                </a:solidFill>
                <a:latin typeface="Segoe UI"/>
              </a:rPr>
              <a:t>Trạng thái thành thạo của kỹ năng cha được lan truyền sang hỗ trợ kỹ năng con.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850">
                <a:solidFill>
                  <a:srgbClr val="0F172A"/>
                </a:solidFill>
                <a:latin typeface="Segoe UI"/>
              </a:rPr>
              <a:t>• Giải quyết Cold-Start: </a:t>
            </a:r>
            <a:r>
              <a:rPr b="0" sz="1850">
                <a:solidFill>
                  <a:srgbClr val="334155"/>
                </a:solidFill>
                <a:latin typeface="Segoe UI"/>
              </a:rPr>
              <a:t>Dự đoán chính xác ngay ở các lượt đầu (t=1..3) của chủ đề mới.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850">
                <a:solidFill>
                  <a:srgbClr val="0F172A"/>
                </a:solidFill>
                <a:latin typeface="Segoe UI"/>
              </a:rPr>
              <a:t>• Hiệu năng thực tế: </a:t>
            </a:r>
            <a:r>
              <a:rPr b="0" sz="1850">
                <a:solidFill>
                  <a:srgbClr val="334155"/>
                </a:solidFill>
                <a:latin typeface="Segoe UI"/>
              </a:rPr>
              <a:t>Thời gian suy diễn &lt;12ms trên CPU, sẵn sàng phục vụ quy mô lớn.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Segoe UI"/>
              </a:rPr>
              <a:t>KẾT QUẢ THỰC NGHIỆM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Segoe UI"/>
              </a:rPr>
              <a:t>Đánh Giá Hiệu Năng Độc Lập Qua 3 Seeds Trên 3 Ngôn Ngữ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64748B"/>
                </a:solidFill>
                <a:latin typeface="Segoe UI"/>
              </a:rPr>
              <a:t>06 /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011680"/>
                <a:gridCol w="1920240"/>
                <a:gridCol w="1858975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b="1" sz="1700">
                          <a:solidFill>
                            <a:srgbClr val="FFFFFF"/>
                          </a:solidFill>
                          <a:latin typeface="Segoe UI"/>
                        </a:rPr>
                        <a:t>Ngôn ngữ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700">
                          <a:solidFill>
                            <a:srgbClr val="FFFFFF"/>
                          </a:solidFill>
                          <a:latin typeface="Segoe UI"/>
                        </a:rPr>
                        <a:t>Mô hình KT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700">
                          <a:solidFill>
                            <a:srgbClr val="FFFFFF"/>
                          </a:solidFill>
                          <a:latin typeface="Segoe UI"/>
                        </a:rPr>
                        <a:t>ROC-AUC ↑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700">
                          <a:solidFill>
                            <a:srgbClr val="FFFFFF"/>
                          </a:solidFill>
                          <a:latin typeface="Segoe UI"/>
                        </a:rPr>
                        <a:t>Accuracy ↑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700">
                          <a:solidFill>
                            <a:srgbClr val="FFFFFF"/>
                          </a:solidFill>
                          <a:latin typeface="Segoe UI"/>
                        </a:rPr>
                        <a:t>Log Loss ↓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Python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BKT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0.5863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56.15%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0.6855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Python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DKT (LSTM)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0.5354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53.90%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0.6891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1D4ED8"/>
                          </a:solidFill>
                          <a:latin typeface="Segoe UI"/>
                        </a:rPr>
                        <a:t>Python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1D4ED8"/>
                          </a:solidFill>
                          <a:latin typeface="Segoe UI"/>
                        </a:rPr>
                        <a:t>PAL-Net (Đề xuất)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1D4ED8"/>
                          </a:solidFill>
                          <a:latin typeface="Segoe UI"/>
                        </a:rPr>
                        <a:t>0.6449 (+10.95%)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1D4ED8"/>
                          </a:solidFill>
                          <a:latin typeface="Segoe UI"/>
                        </a:rPr>
                        <a:t>61.09%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1D4ED8"/>
                          </a:solidFill>
                          <a:latin typeface="Segoe UI"/>
                        </a:rPr>
                        <a:t>0.6614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JavaScript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BKT (Baseline)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0.5921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57.11%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0.6789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JavaScript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DKT (LSTM)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0.5183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50.25%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0.6930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1D4ED8"/>
                          </a:solidFill>
                          <a:latin typeface="Segoe UI"/>
                        </a:rPr>
                        <a:t>JavaScript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1D4ED8"/>
                          </a:solidFill>
                          <a:latin typeface="Segoe UI"/>
                        </a:rPr>
                        <a:t>PAL-Net (Đề xuất)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1D4ED8"/>
                          </a:solidFill>
                          <a:latin typeface="Segoe UI"/>
                        </a:rPr>
                        <a:t>0.6338 (+11.55%)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1D4ED8"/>
                          </a:solidFill>
                          <a:latin typeface="Segoe UI"/>
                        </a:rPr>
                        <a:t>59.82%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1D4ED8"/>
                          </a:solidFill>
                          <a:latin typeface="Segoe UI"/>
                        </a:rPr>
                        <a:t>0.6699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C++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BKT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0.5673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57.04%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0.6869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C++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DKT (LSTM)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0.5353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53.07%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>
                          <a:solidFill>
                            <a:srgbClr val="0F172A"/>
                          </a:solidFill>
                          <a:latin typeface="Segoe UI"/>
                        </a:rPr>
                        <a:t>0.6918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1D4ED8"/>
                          </a:solidFill>
                          <a:latin typeface="Segoe UI"/>
                        </a:rPr>
                        <a:t>C++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1">
                          <a:solidFill>
                            <a:srgbClr val="1D4ED8"/>
                          </a:solidFill>
                          <a:latin typeface="Segoe UI"/>
                        </a:rPr>
                        <a:t>PAL-Net (Đề xuất)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1D4ED8"/>
                          </a:solidFill>
                          <a:latin typeface="Segoe UI"/>
                        </a:rPr>
                        <a:t>0.6167 (+8.14%)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1D4ED8"/>
                          </a:solidFill>
                          <a:latin typeface="Segoe UI"/>
                        </a:rPr>
                        <a:t>58.32%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1D4ED8"/>
                          </a:solidFill>
                          <a:latin typeface="Segoe UI"/>
                        </a:rPr>
                        <a:t>0.6714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572000"/>
            <a:ext cx="521208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1D4ED8"/>
                </a:solidFill>
              </a:rPr>
              <a:t>🏆 PAL-Net Dẫn Đầu Toàn Diện: </a:t>
            </a:r>
            <a:r>
              <a:rPr sz="1650">
                <a:solidFill>
                  <a:srgbClr val="334155"/>
                </a:solidFill>
              </a:rPr>
              <a:t>Đạt ROC-AUC cao nhất trên cả 3 ngôn ngữ (Python 0.6449, JS 0.6338, C++ 0.6167). Cấu trúc đồ thị DAG giúp mô hình dự đoán chính xác bước chuyển kỹ năng.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572000"/>
            <a:ext cx="521208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2563EB"/>
                </a:solidFill>
              </a:rPr>
              <a:t>⚡ Hiệu Năng Suy Diễn Siêu Tốc: </a:t>
            </a:r>
            <a:r>
              <a:rPr sz="1650">
                <a:solidFill>
                  <a:srgbClr val="334155"/>
                </a:solidFill>
              </a:rPr>
              <a:t>Thời gian suy diễn chỉ &lt;12ms trên CPU. DKT thuần túy hụt hơi vì thiếu bias cấu trúc đồ thị tiên quyết. Đạt yêu cầu thời gian thực cho hệ thống sản xuất.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Segoe UI"/>
              </a:rPr>
              <a:t>PHÂN TÍCH THỰC NGHIỆM SƯ PHẠM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Segoe UI"/>
              </a:rPr>
              <a:t>Thời Gian Tư Duy &amp; Xác Định 'Thời Điểm Vàng' AI Can Thiệp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64748B"/>
                </a:solidFill>
                <a:latin typeface="Segoe UI"/>
              </a:rPr>
              <a:t>07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5778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cognitive_load_and_difficul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498" y="1618488"/>
            <a:ext cx="5001883" cy="462686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92240" y="1508760"/>
            <a:ext cx="49377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D8"/>
                </a:solidFill>
                <a:latin typeface="Segoe UI"/>
              </a:rPr>
              <a:t>⏱️ Định Lượng Tải Nhận Thức &amp; ZPD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48840"/>
            <a:ext cx="4572000" cy="40233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Bài Dễ (d=1): </a:t>
            </a:r>
            <a:r>
              <a:rPr b="0" sz="2000">
                <a:solidFill>
                  <a:srgbClr val="334155"/>
                </a:solidFill>
                <a:latin typeface="Segoe UI"/>
              </a:rPr>
              <a:t>Học viên hoàn thành nhanh trong 45–65 giây, độ chính xác đạt &gt;75%, tâm lý hào hứng.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Bài Trung bình (d=2): </a:t>
            </a:r>
            <a:r>
              <a:rPr b="0" sz="2000">
                <a:solidFill>
                  <a:srgbClr val="334155"/>
                </a:solidFill>
                <a:latin typeface="Segoe UI"/>
              </a:rPr>
              <a:t>Thời gian tư duy 90–130 giây, độ chính xác 45–55%, vùng rèn luyện tối ưu nhất.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Bài Khó (d=3): </a:t>
            </a:r>
            <a:r>
              <a:rPr b="0" sz="2000">
                <a:solidFill>
                  <a:srgbClr val="334155"/>
                </a:solidFill>
                <a:latin typeface="Segoe UI"/>
              </a:rPr>
              <a:t>Tải nhận thức tăng vọt (180–300 giây). Học viên nhóm Yếu (NEW) tỷ lệ đúng giảm sâu dưới 20%.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🎯 Ngưỡng can thiệp 180s: </a:t>
            </a:r>
            <a:r>
              <a:rPr b="0" sz="2000">
                <a:solidFill>
                  <a:srgbClr val="334155"/>
                </a:solidFill>
                <a:latin typeface="Segoe UI"/>
              </a:rPr>
              <a:t>Khi học viên kẹt quá 180s ở bài khó, Trợ lý AI tự động kích hoạt gợi ý từng bước (Scaffolding) để ngăn chặn bỏ cuộc.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Segoe UI"/>
              </a:rPr>
              <a:t>ỨNG DỤNG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Segoe UI"/>
              </a:rPr>
              <a:t>Điều Hướng Cá Nhân Hóa &amp; Vùng Thử Thách Vừa Sức (ZPD)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64748B"/>
                </a:solidFill>
                <a:latin typeface="Segoe UI"/>
              </a:rPr>
              <a:t>08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D8"/>
                </a:solidFill>
                <a:latin typeface="Segoe UI"/>
              </a:rPr>
              <a:t>🎯 Chiến Lược 'Golden Zone' (ZPD)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754880" cy="40233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Công thức đề xuất: </a:t>
            </a:r>
            <a:r>
              <a:rPr b="0" sz="2000">
                <a:solidFill>
                  <a:srgbClr val="334155"/>
                </a:solidFill>
                <a:latin typeface="Segoe UI"/>
              </a:rPr>
              <a:t>Dựa trên xác suất dự đoán P(correct) của mô hình PAL-Net cho các bài tập ứng viên.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Ngưỡng 0.70 - 0.85: </a:t>
            </a:r>
            <a:r>
              <a:rPr b="0" sz="2000">
                <a:solidFill>
                  <a:srgbClr val="334155"/>
                </a:solidFill>
                <a:latin typeface="Segoe UI"/>
              </a:rPr>
              <a:t>Đảm bảo bài tập vừa đủ thử thách để tư duy nhưng không gây nản chí, giữ người học trong 'Flow State'.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Tránh thái cực: </a:t>
            </a:r>
            <a:r>
              <a:rPr b="0" sz="2000">
                <a:solidFill>
                  <a:srgbClr val="334155"/>
                </a:solidFill>
                <a:latin typeface="Segoe UI"/>
              </a:rPr>
              <a:t>P &gt; 0.85 (quá dễ gây nhàm chán); P &lt; 0.50 (quá khó dễ dẫn tới bỏ cuộc môn học.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Cập nhật tức thời: </a:t>
            </a:r>
            <a:r>
              <a:rPr b="0" sz="2000">
                <a:solidFill>
                  <a:srgbClr val="334155"/>
                </a:solidFill>
                <a:latin typeface="Segoe UI"/>
              </a:rPr>
              <a:t>Xác suất làm chủ được tái tính toán ngay sau mỗi lần học viên nộp bài.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D8"/>
                </a:solidFill>
                <a:latin typeface="Segoe UI"/>
              </a:rPr>
              <a:t>🗺️ Tự Động Phục Hồi Tri Thức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4754880" cy="40233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Truy vết đồ thị DAG: </a:t>
            </a:r>
            <a:r>
              <a:rPr b="0" sz="2000">
                <a:solidFill>
                  <a:srgbClr val="334155"/>
                </a:solidFill>
                <a:latin typeface="Segoe UI"/>
              </a:rPr>
              <a:t>Khi học viên làm sai liên tiếp bài khó, hệ thống lập tức truy vết ngược về các node kỹ năng cha.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Đề xuất bài bắc cầu: </a:t>
            </a:r>
            <a:r>
              <a:rPr b="0" sz="2000">
                <a:solidFill>
                  <a:srgbClr val="334155"/>
                </a:solidFill>
                <a:latin typeface="Segoe UI"/>
              </a:rPr>
              <a:t>Chèn bài củng cố kỹ năng thành phần (Sub-skills) trước khi cho học viên thử lại bài toán phức tạp.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Trực quan hóa Roadmap: </a:t>
            </a:r>
            <a:r>
              <a:rPr b="0" sz="2000">
                <a:solidFill>
                  <a:srgbClr val="334155"/>
                </a:solidFill>
                <a:latin typeface="Segoe UI"/>
              </a:rPr>
              <a:t>Cây kỹ năng cập nhật trạng thái màu: Xanh (Thành thạo), Vàng (Đang học ZPD), Xám (Khóa).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Lợi ích giáo dục: </a:t>
            </a:r>
            <a:r>
              <a:rPr b="0" sz="2000">
                <a:solidFill>
                  <a:srgbClr val="334155"/>
                </a:solidFill>
                <a:latin typeface="Segoe UI"/>
              </a:rPr>
              <a:t>Triệt tiêu hiện tượng 'học vẹt' và lấp đầy lỗ hổng cú pháp nền tảng bền vững.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Segoe UI"/>
              </a:rPr>
              <a:t>HẠ TẦNG KỸ THUẬT &amp; AN TOÀN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Segoe UI"/>
              </a:rPr>
              <a:t>Trợ Lý Multi-Agent Sư Phạm &amp; Sandbox Docker Zero-Trust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64748B"/>
                </a:solidFill>
                <a:latin typeface="Segoe UI"/>
              </a:rPr>
              <a:t>09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D8"/>
                </a:solidFill>
                <a:latin typeface="Segoe UI"/>
              </a:rPr>
              <a:t>🤖 Trợ Lý Sư Phạm Multi-Agent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754880" cy="40233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Intent Router Agent: </a:t>
            </a:r>
            <a:r>
              <a:rPr b="0" sz="2000">
                <a:solidFill>
                  <a:srgbClr val="334155"/>
                </a:solidFill>
                <a:latin typeface="Segoe UI"/>
              </a:rPr>
              <a:t>Định tuyến ý định người dùng (hỏi code, hỏi lý thuyết, tán gẫu) trong &lt;20ms.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Socratic Tutor Agent: </a:t>
            </a:r>
            <a:r>
              <a:rPr b="0" sz="2000">
                <a:solidFill>
                  <a:srgbClr val="334155"/>
                </a:solidFill>
                <a:latin typeface="Segoe UI"/>
              </a:rPr>
              <a:t>Áp dụng phương pháp gợi mở, TUYỆT ĐỐI KHÔNG LÀM HỘ CODE mà đặt câu hỏi phản chiếu lỗi sai.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AI Key Pool &amp; Fallback: </a:t>
            </a:r>
            <a:r>
              <a:rPr b="0" sz="2000">
                <a:solidFill>
                  <a:srgbClr val="334155"/>
                </a:solidFill>
                <a:latin typeface="Segoe UI"/>
              </a:rPr>
              <a:t>Hồ chứa API Key tự động xoay tua khi gặp Rate Limit (429), kèm bộ luật dự phòng chạy offline.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Phân tích cú pháp AST: </a:t>
            </a:r>
            <a:r>
              <a:rPr b="0" sz="2000">
                <a:solidFill>
                  <a:srgbClr val="334155"/>
                </a:solidFill>
                <a:latin typeface="Segoe UI"/>
              </a:rPr>
              <a:t>Quét cây AST để giải thích chính xác nguyên nhân lỗi biên dịch theo ngữ cảnh bài học.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0876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D8"/>
                </a:solidFill>
                <a:latin typeface="Segoe UI"/>
              </a:rPr>
              <a:t>🛡️ Sandbox Docker Zero-Trust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4754880" cy="402336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Cách ly mạng tuyệt đối: </a:t>
            </a:r>
            <a:r>
              <a:rPr b="0" sz="2000">
                <a:solidFill>
                  <a:srgbClr val="334155"/>
                </a:solidFill>
                <a:latin typeface="Segoe UI"/>
              </a:rPr>
              <a:t>Container gắn cờ '--network none', ngăn chặn 100% tấn công mạng hoặc hack database.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Giới hạn tài nguyên cứng: </a:t>
            </a:r>
            <a:r>
              <a:rPr b="0" sz="2000">
                <a:solidFill>
                  <a:srgbClr val="334155"/>
                </a:solidFill>
                <a:latin typeface="Segoe UI"/>
              </a:rPr>
              <a:t>Khống chế 128MB RAM, 3.0s CPU và '--pids-limit 64' triệt tiêu nguy cơ treo máy do Fork-bomb.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Quyền hạn tối thiểu: </a:t>
            </a:r>
            <a:r>
              <a:rPr b="0" sz="2000">
                <a:solidFill>
                  <a:srgbClr val="334155"/>
                </a:solidFill>
                <a:latin typeface="Segoe UI"/>
              </a:rPr>
              <a:t>Chạy dưới user không đặc quyền 'nobody', toàn bộ file system là Read-Only.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00">
                <a:solidFill>
                  <a:srgbClr val="0F172A"/>
                </a:solidFill>
                <a:latin typeface="Segoe UI"/>
              </a:rPr>
              <a:t>• Tốc độ phản hồi cực nhanh: </a:t>
            </a:r>
            <a:r>
              <a:rPr b="0" sz="2000">
                <a:solidFill>
                  <a:srgbClr val="334155"/>
                </a:solidFill>
                <a:latin typeface="Segoe UI"/>
              </a:rPr>
              <a:t>Thời gian chấm qua 5 test case dưới 1 giây, điều tiết qua Concurrency Queue.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Segoe UI"/>
              </a:rPr>
              <a:t>KẾT LUẬN &amp; ĐỊNH HƯỚNG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76656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Segoe UI"/>
              </a:rPr>
              <a:t>Đóng Góp Cốt Lõi Của Đề Tài &amp; Kế Hoạch Tương Lai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502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64748B"/>
                </a:solidFill>
                <a:latin typeface="Segoe UI"/>
              </a:rPr>
              <a:t>10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D8"/>
                </a:solidFill>
                <a:latin typeface="Segoe UI"/>
              </a:rPr>
              <a:t>🏆 Đóng Góp Thực Tiễn Của Đề Tài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663440" cy="384048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50">
                <a:solidFill>
                  <a:srgbClr val="0F172A"/>
                </a:solidFill>
                <a:latin typeface="Segoe UI"/>
              </a:rPr>
              <a:t>1. Hệ thống hoàn chỉnh: </a:t>
            </a:r>
            <a:r>
              <a:rPr b="0" sz="2050">
                <a:solidFill>
                  <a:srgbClr val="334155"/>
                </a:solidFill>
                <a:latin typeface="Segoe UI"/>
              </a:rPr>
              <a:t>Xây dựng thành công nền tảng tích hợp Client, Backend Core, AI Microservice và Sandbox chấm code tự động.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50">
                <a:solidFill>
                  <a:srgbClr val="0F172A"/>
                </a:solidFill>
                <a:latin typeface="Segoe UI"/>
              </a:rPr>
              <a:t>2. Bộ dữ liệu chuẩn hóa: </a:t>
            </a:r>
            <a:r>
              <a:rPr b="0" sz="2050">
                <a:solidFill>
                  <a:srgbClr val="334155"/>
                </a:solidFill>
                <a:latin typeface="Segoe UI"/>
              </a:rPr>
              <a:t>71.273 bản ghi tương tác trên 917 bài tập thật, làm cơ sở thực nghiệm vững chắc cho mô hình DKT.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50">
                <a:solidFill>
                  <a:srgbClr val="0F172A"/>
                </a:solidFill>
                <a:latin typeface="Segoe UI"/>
              </a:rPr>
              <a:t>3. Trợ lý AI Scaffolding: </a:t>
            </a:r>
            <a:r>
              <a:rPr b="0" sz="2050">
                <a:solidFill>
                  <a:srgbClr val="334155"/>
                </a:solidFill>
                <a:latin typeface="Segoe UI"/>
              </a:rPr>
              <a:t>Định lượng chính xác thời điểm can thiệp, giúp giảm đáng kể áp lực nhận thức cho người mới bắt đầu.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4663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D4ED8"/>
                </a:solidFill>
                <a:latin typeface="Segoe UI"/>
              </a:rPr>
              <a:t>🚀 Hướng Mở Rộng &amp; Phát Triển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4663440" cy="384048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50">
                <a:solidFill>
                  <a:srgbClr val="0F172A"/>
                </a:solidFill>
                <a:latin typeface="Segoe UI"/>
              </a:rPr>
              <a:t>1. Tích hợp LLM Fine-tuned: </a:t>
            </a:r>
            <a:r>
              <a:rPr b="0" sz="2050">
                <a:solidFill>
                  <a:srgbClr val="334155"/>
                </a:solidFill>
                <a:latin typeface="Segoe UI"/>
              </a:rPr>
              <a:t>Áp dụng mô hình ngôn ngữ lớn tinh chỉnh để sinh phản hồi sư phạm tự nhiên và trực quan hơn.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50">
                <a:solidFill>
                  <a:srgbClr val="0F172A"/>
                </a:solidFill>
                <a:latin typeface="Segoe UI"/>
              </a:rPr>
              <a:t>2. Mở rộng đa ngôn ngữ: </a:t>
            </a:r>
            <a:r>
              <a:rPr b="0" sz="2050">
                <a:solidFill>
                  <a:srgbClr val="334155"/>
                </a:solidFill>
                <a:latin typeface="Segoe UI"/>
              </a:rPr>
              <a:t>Hỗ trợ thêm Java, Golang, Rust và phân tích độ phức tạp thời gian/không gian thuật toán O(N).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2050">
                <a:solidFill>
                  <a:srgbClr val="0F172A"/>
                </a:solidFill>
                <a:latin typeface="Segoe UI"/>
              </a:rPr>
              <a:t>3. Triển khai diện rộng: </a:t>
            </a:r>
            <a:r>
              <a:rPr b="0" sz="2050">
                <a:solidFill>
                  <a:srgbClr val="334155"/>
                </a:solidFill>
                <a:latin typeface="Segoe UI"/>
              </a:rPr>
              <a:t>Ứng dụng thử nghiệm trực tiếp tại các lớp học nhập môn CNTT để thu thập dữ liệu người dùng thật.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2801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D4ED8"/>
                </a:solidFill>
                <a:latin typeface="Segoe UI"/>
              </a:rPr>
              <a:t>KẾT THÚC PHẦN TRÌNH BÀY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3736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172A"/>
                </a:solidFill>
                <a:latin typeface="Segoe UI"/>
              </a:rPr>
              <a:t>XIN CHÂN THÀNH CẢM ƠN!</a:t>
            </a:r>
          </a:p>
          <a:p>
            <a:pPr>
              <a:spcBef>
                <a:spcPts val="800"/>
              </a:spcBef>
            </a:pPr>
            <a:r>
              <a:rPr sz="2400">
                <a:solidFill>
                  <a:srgbClr val="2563EB"/>
                </a:solidFill>
                <a:latin typeface="Segoe UI"/>
              </a:rPr>
              <a:t>Kính chúc Quý Thầy Cô trong Hội đồng sức khỏe và công tác tốt!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3840480"/>
            <a:ext cx="9601200" cy="1737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3977639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0F172A"/>
                </a:solidFill>
                <a:latin typeface="Segoe UI"/>
              </a:rPr>
              <a:t>Đề tài: Mcode — Nền Tảng Học Lập Trình Thích Ứng &amp; Chấm Code Tự Động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334155"/>
                </a:solidFill>
                <a:latin typeface="Segoe UI"/>
              </a:rPr>
              <a:t>Sinh viên báo cáo: Nguyễn Tuấn Việt   •   Lớp: D22CNTT02</a:t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1D4ED8"/>
                </a:solidFill>
                <a:latin typeface="Segoe UI"/>
              </a:rPr>
              <a:t>💬 Sẵn sàng tiếp nhận các câu hỏi và ý kiến đóng góp từ Hội đồng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