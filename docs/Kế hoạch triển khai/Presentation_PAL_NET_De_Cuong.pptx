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88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D42"/>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360152" cy="2011680"/>
          </a:xfrm>
          <a:prstGeom prst="rect">
            <a:avLst/>
          </a:prstGeom>
          <a:noFill/>
        </p:spPr>
        <p:txBody>
          <a:bodyPr wrap="square" tIns="91440" bIns="91440">
            <a:spAutoFit/>
          </a:bodyPr>
          <a:lstStyle/>
          <a:p>
            <a:pPr algn="ctr">
              <a:lnSpc>
                <a:spcPct val="115000"/>
              </a:lnSpc>
              <a:spcAft>
                <a:spcPts val="1200"/>
              </a:spcAft>
            </a:pPr>
            <a:r>
              <a:rPr sz="2800" b="1" i="0">
                <a:solidFill>
                  <a:srgbClr val="FFFFFF"/>
                </a:solidFill>
                <a:latin typeface="Times New Roman"/>
              </a:rPr>
              <a:t>BÁO CÁO ĐỀ CƯƠNG BIỆN LUẬN TỐT NGHIỆP
XÂY DỰNG HỆ THỐNG HỌC LẬP TRÌNH TRỰC TUYẾN THÍCH ỨNG
DỰA TRÊN KHUNG MÔ HÌNH PAL-NET ĐA NGÔN NGỮ
(PYTHON, JAVASCRIPT, SQL)</a:t>
            </a:r>
          </a:p>
        </p:txBody>
      </p:sp>
      <p:sp>
        <p:nvSpPr>
          <p:cNvPr id="3" name="Rectangle 2"/>
          <p:cNvSpPr/>
          <p:nvPr/>
        </p:nvSpPr>
        <p:spPr>
          <a:xfrm>
            <a:off x="3200400" y="3566160"/>
            <a:ext cx="5788152" cy="36576"/>
          </a:xfrm>
          <a:prstGeom prst="rect">
            <a:avLst/>
          </a:prstGeom>
          <a:solidFill>
            <a:srgbClr val="E6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4343400"/>
            <a:ext cx="10360152" cy="2286000"/>
          </a:xfrm>
          <a:prstGeom prst="rect">
            <a:avLst/>
          </a:prstGeom>
          <a:noFill/>
        </p:spPr>
        <p:txBody>
          <a:bodyPr wrap="square" tIns="91440" bIns="91440">
            <a:spAutoFit/>
          </a:bodyPr>
          <a:lstStyle/>
          <a:p>
            <a:pPr algn="ctr">
              <a:lnSpc>
                <a:spcPct val="115000"/>
              </a:lnSpc>
              <a:spcAft>
                <a:spcPts val="400"/>
              </a:spcAft>
            </a:pPr>
            <a:r>
              <a:rPr sz="1400" b="1" i="0" dirty="0">
                <a:solidFill>
                  <a:srgbClr val="D2D6DB"/>
                </a:solidFill>
                <a:latin typeface="Times New Roman"/>
              </a:rPr>
              <a:t>Sinh </a:t>
            </a:r>
            <a:r>
              <a:rPr sz="1400" b="1" i="0" dirty="0" err="1">
                <a:solidFill>
                  <a:srgbClr val="D2D6DB"/>
                </a:solidFill>
                <a:latin typeface="Times New Roman"/>
              </a:rPr>
              <a:t>viên</a:t>
            </a:r>
            <a:r>
              <a:rPr sz="1400" b="1" i="0" dirty="0">
                <a:solidFill>
                  <a:srgbClr val="D2D6DB"/>
                </a:solidFill>
                <a:latin typeface="Times New Roman"/>
              </a:rPr>
              <a:t> </a:t>
            </a:r>
            <a:r>
              <a:rPr sz="1400" b="1" i="0" dirty="0" err="1">
                <a:solidFill>
                  <a:srgbClr val="D2D6DB"/>
                </a:solidFill>
                <a:latin typeface="Times New Roman"/>
              </a:rPr>
              <a:t>thực</a:t>
            </a:r>
            <a:r>
              <a:rPr sz="1400" b="1" i="0" dirty="0">
                <a:solidFill>
                  <a:srgbClr val="D2D6DB"/>
                </a:solidFill>
                <a:latin typeface="Times New Roman"/>
              </a:rPr>
              <a:t> </a:t>
            </a:r>
            <a:r>
              <a:rPr sz="1400" b="1" i="0" dirty="0" err="1">
                <a:solidFill>
                  <a:srgbClr val="D2D6DB"/>
                </a:solidFill>
                <a:latin typeface="Times New Roman"/>
              </a:rPr>
              <a:t>hiện</a:t>
            </a:r>
            <a:r>
              <a:rPr sz="1400" b="1" i="0" dirty="0">
                <a:solidFill>
                  <a:srgbClr val="D2D6DB"/>
                </a:solidFill>
                <a:latin typeface="Times New Roman"/>
              </a:rPr>
              <a:t>: NGUYỄN TUẤN VIỆT — MSSV: 2224802010911</a:t>
            </a:r>
          </a:p>
          <a:p>
            <a:pPr algn="ctr">
              <a:lnSpc>
                <a:spcPct val="115000"/>
              </a:lnSpc>
              <a:spcAft>
                <a:spcPts val="400"/>
              </a:spcAft>
            </a:pPr>
            <a:r>
              <a:rPr sz="1400" b="0" i="0" dirty="0" err="1">
                <a:solidFill>
                  <a:srgbClr val="D2D6DB"/>
                </a:solidFill>
                <a:latin typeface="Times New Roman"/>
              </a:rPr>
              <a:t>Lớp</a:t>
            </a:r>
            <a:r>
              <a:rPr sz="1400" b="0" i="0" dirty="0">
                <a:solidFill>
                  <a:srgbClr val="D2D6DB"/>
                </a:solidFill>
                <a:latin typeface="Times New Roman"/>
              </a:rPr>
              <a:t>: D22CNTT02 — </a:t>
            </a:r>
            <a:r>
              <a:rPr sz="1400" b="0" i="0" dirty="0" err="1">
                <a:solidFill>
                  <a:srgbClr val="D2D6DB"/>
                </a:solidFill>
                <a:latin typeface="Times New Roman"/>
              </a:rPr>
              <a:t>Khóa</a:t>
            </a:r>
            <a:r>
              <a:rPr sz="1400" b="0" i="0" dirty="0">
                <a:solidFill>
                  <a:srgbClr val="D2D6DB"/>
                </a:solidFill>
                <a:latin typeface="Times New Roman"/>
              </a:rPr>
              <a:t>: D22</a:t>
            </a:r>
          </a:p>
          <a:p>
            <a:pPr algn="ctr">
              <a:lnSpc>
                <a:spcPct val="115000"/>
              </a:lnSpc>
              <a:spcAft>
                <a:spcPts val="400"/>
              </a:spcAft>
            </a:pPr>
            <a:r>
              <a:rPr sz="1400" b="0" i="0" dirty="0" err="1">
                <a:solidFill>
                  <a:srgbClr val="D2D6DB"/>
                </a:solidFill>
                <a:latin typeface="Times New Roman"/>
              </a:rPr>
              <a:t>Giảng</a:t>
            </a:r>
            <a:r>
              <a:rPr sz="1400" b="0" i="0" dirty="0">
                <a:solidFill>
                  <a:srgbClr val="D2D6DB"/>
                </a:solidFill>
                <a:latin typeface="Times New Roman"/>
              </a:rPr>
              <a:t> </a:t>
            </a:r>
            <a:r>
              <a:rPr sz="1400" b="0" i="0" dirty="0" err="1">
                <a:solidFill>
                  <a:srgbClr val="D2D6DB"/>
                </a:solidFill>
                <a:latin typeface="Times New Roman"/>
              </a:rPr>
              <a:t>viên</a:t>
            </a:r>
            <a:r>
              <a:rPr sz="1400" b="0" i="0" dirty="0">
                <a:solidFill>
                  <a:srgbClr val="D2D6DB"/>
                </a:solidFill>
                <a:latin typeface="Times New Roman"/>
              </a:rPr>
              <a:t> </a:t>
            </a:r>
            <a:r>
              <a:rPr sz="1400" b="0" i="0" dirty="0" err="1">
                <a:solidFill>
                  <a:srgbClr val="D2D6DB"/>
                </a:solidFill>
                <a:latin typeface="Times New Roman"/>
              </a:rPr>
              <a:t>hướng</a:t>
            </a:r>
            <a:r>
              <a:rPr sz="1400" b="0" i="0" dirty="0">
                <a:solidFill>
                  <a:srgbClr val="D2D6DB"/>
                </a:solidFill>
                <a:latin typeface="Times New Roman"/>
              </a:rPr>
              <a:t> </a:t>
            </a:r>
            <a:r>
              <a:rPr sz="1400" b="0" i="0" dirty="0" err="1">
                <a:solidFill>
                  <a:srgbClr val="D2D6DB"/>
                </a:solidFill>
                <a:latin typeface="Times New Roman"/>
              </a:rPr>
              <a:t>dẫn</a:t>
            </a:r>
            <a:r>
              <a:rPr sz="1400" b="0" i="0" dirty="0">
                <a:solidFill>
                  <a:srgbClr val="D2D6DB"/>
                </a:solidFill>
                <a:latin typeface="Times New Roman"/>
              </a:rPr>
              <a:t>: </a:t>
            </a:r>
            <a:r>
              <a:rPr sz="1400" b="0" i="0" dirty="0" err="1">
                <a:solidFill>
                  <a:srgbClr val="D2D6DB"/>
                </a:solidFill>
                <a:latin typeface="Times New Roman"/>
              </a:rPr>
              <a:t>ThS</a:t>
            </a:r>
            <a:r>
              <a:rPr sz="1400" b="0" i="0" dirty="0">
                <a:solidFill>
                  <a:srgbClr val="D2D6DB"/>
                </a:solidFill>
                <a:latin typeface="Times New Roman"/>
              </a:rPr>
              <a:t>. NGÔ THỊ NGỌC DỊU</a:t>
            </a:r>
          </a:p>
          <a:p>
            <a:pPr algn="ctr">
              <a:lnSpc>
                <a:spcPct val="115000"/>
              </a:lnSpc>
              <a:spcAft>
                <a:spcPts val="400"/>
              </a:spcAft>
            </a:pPr>
            <a:r>
              <a:rPr sz="1400" b="0" i="0" dirty="0">
                <a:solidFill>
                  <a:srgbClr val="D2D6DB"/>
                </a:solidFill>
                <a:latin typeface="Times New Roman"/>
              </a:rPr>
              <a:t>Trường </a:t>
            </a:r>
            <a:r>
              <a:rPr sz="1400" b="0" i="0" dirty="0" err="1">
                <a:solidFill>
                  <a:srgbClr val="D2D6DB"/>
                </a:solidFill>
                <a:latin typeface="Times New Roman"/>
              </a:rPr>
              <a:t>Đại</a:t>
            </a:r>
            <a:r>
              <a:rPr sz="1400" b="0" i="0" dirty="0">
                <a:solidFill>
                  <a:srgbClr val="D2D6DB"/>
                </a:solidFill>
                <a:latin typeface="Times New Roman"/>
              </a:rPr>
              <a:t> </a:t>
            </a:r>
            <a:r>
              <a:rPr sz="1400" b="0" i="0" dirty="0" err="1">
                <a:solidFill>
                  <a:srgbClr val="D2D6DB"/>
                </a:solidFill>
                <a:latin typeface="Times New Roman"/>
              </a:rPr>
              <a:t>học</a:t>
            </a:r>
            <a:r>
              <a:rPr sz="1400" b="0" i="0" dirty="0">
                <a:solidFill>
                  <a:srgbClr val="D2D6DB"/>
                </a:solidFill>
                <a:latin typeface="Times New Roman"/>
              </a:rPr>
              <a:t> </a:t>
            </a:r>
            <a:r>
              <a:rPr sz="1400" b="0" i="0" dirty="0" err="1">
                <a:solidFill>
                  <a:srgbClr val="D2D6DB"/>
                </a:solidFill>
                <a:latin typeface="Times New Roman"/>
              </a:rPr>
              <a:t>Thủ</a:t>
            </a:r>
            <a:r>
              <a:rPr sz="1400" b="0" i="0" dirty="0">
                <a:solidFill>
                  <a:srgbClr val="D2D6DB"/>
                </a:solidFill>
                <a:latin typeface="Times New Roman"/>
              </a:rPr>
              <a:t> </a:t>
            </a:r>
            <a:r>
              <a:rPr sz="1400" b="0" i="0" dirty="0" err="1">
                <a:solidFill>
                  <a:srgbClr val="D2D6DB"/>
                </a:solidFill>
                <a:latin typeface="Times New Roman"/>
              </a:rPr>
              <a:t>Dầu</a:t>
            </a:r>
            <a:r>
              <a:rPr sz="1400" b="0" i="0" dirty="0">
                <a:solidFill>
                  <a:srgbClr val="D2D6DB"/>
                </a:solidFill>
                <a:latin typeface="Times New Roman"/>
              </a:rPr>
              <a:t> </a:t>
            </a:r>
            <a:r>
              <a:rPr sz="1400" b="0" i="0" dirty="0" err="1">
                <a:solidFill>
                  <a:srgbClr val="D2D6DB"/>
                </a:solidFill>
                <a:latin typeface="Times New Roman"/>
              </a:rPr>
              <a:t>Một</a:t>
            </a:r>
            <a:r>
              <a:rPr sz="1400" b="0" i="0" dirty="0">
                <a:solidFill>
                  <a:srgbClr val="D2D6DB"/>
                </a:solidFill>
                <a:latin typeface="Times New Roman"/>
              </a:rPr>
              <a:t> — Viện Công </a:t>
            </a:r>
            <a:r>
              <a:rPr sz="1400" b="0" i="0" dirty="0" err="1">
                <a:solidFill>
                  <a:srgbClr val="D2D6DB"/>
                </a:solidFill>
                <a:latin typeface="Times New Roman"/>
              </a:rPr>
              <a:t>nghệ</a:t>
            </a:r>
            <a:r>
              <a:rPr sz="1400" b="0" i="0" dirty="0">
                <a:solidFill>
                  <a:srgbClr val="D2D6DB"/>
                </a:solidFill>
                <a:latin typeface="Times New Roman"/>
              </a:rPr>
              <a:t> </a:t>
            </a:r>
            <a:r>
              <a:rPr sz="1400" b="0" i="0" dirty="0" err="1">
                <a:solidFill>
                  <a:srgbClr val="D2D6DB"/>
                </a:solidFill>
                <a:latin typeface="Times New Roman"/>
              </a:rPr>
              <a:t>số</a:t>
            </a:r>
            <a:endParaRPr sz="1400" b="0" i="0" dirty="0">
              <a:solidFill>
                <a:srgbClr val="D2D6DB"/>
              </a:solidFill>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pPr algn="l">
              <a:lnSpc>
                <a:spcPct val="115000"/>
              </a:lnSpc>
              <a:spcAft>
                <a:spcPts val="0"/>
              </a:spcAft>
            </a:pPr>
            <a:r>
              <a:rPr sz="2400" b="1" i="0">
                <a:solidFill>
                  <a:srgbClr val="2B2D42"/>
                </a:solidFill>
                <a:latin typeface="Times New Roman"/>
              </a:rPr>
              <a:t>1. ĐẶT VẤN ĐỀ &amp; LÝ DO CHỌN ĐỀ TÀI</a:t>
            </a:r>
          </a:p>
        </p:txBody>
      </p:sp>
      <p:sp>
        <p:nvSpPr>
          <p:cNvPr id="3" name="Rectangle 2"/>
          <p:cNvSpPr/>
          <p:nvPr/>
        </p:nvSpPr>
        <p:spPr>
          <a:xfrm>
            <a:off x="731520" y="1051560"/>
            <a:ext cx="10725912" cy="18288"/>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5120640" cy="4754880"/>
          </a:xfrm>
          <a:prstGeom prst="rect">
            <a:avLst/>
          </a:prstGeom>
          <a:noFill/>
        </p:spPr>
        <p:txBody>
          <a:bodyPr wrap="square" lIns="0" tIns="0" rIns="0" bIns="0">
            <a:spAutoFit/>
          </a:bodyPr>
          <a:lstStyle/>
          <a:p>
            <a:pPr algn="l">
              <a:lnSpc>
                <a:spcPct val="115000"/>
              </a:lnSpc>
              <a:spcAft>
                <a:spcPts val="1200"/>
              </a:spcAft>
            </a:pPr>
            <a:r>
              <a:rPr sz="1600" b="1" i="0">
                <a:solidFill>
                  <a:srgbClr val="E64C59"/>
                </a:solidFill>
                <a:latin typeface="Times New Roman"/>
              </a:rPr>
              <a:t>HẠN CHẾ CỦA PHƯƠNG PHÁP TRUYỀN THỐNG:</a:t>
            </a:r>
          </a:p>
          <a:p>
            <a:pPr algn="l">
              <a:lnSpc>
                <a:spcPct val="115000"/>
              </a:lnSpc>
              <a:spcAft>
                <a:spcPts val="1000"/>
              </a:spcAft>
            </a:pPr>
            <a:r>
              <a:rPr sz="1400" b="0" i="0">
                <a:solidFill>
                  <a:srgbClr val="1B1B1E"/>
                </a:solidFill>
                <a:latin typeface="Times New Roman"/>
              </a:rPr>
              <a:t>•  Học tuyến tính cứng nhắc: Người học phải đi qua tất cả các bài tập theo trình tự cố định, bất kể độ hiểu biết thực tế.</a:t>
            </a:r>
          </a:p>
          <a:p>
            <a:pPr algn="l">
              <a:lnSpc>
                <a:spcPct val="115000"/>
              </a:lnSpc>
              <a:spcAft>
                <a:spcPts val="1000"/>
              </a:spcAft>
            </a:pPr>
            <a:r>
              <a:rPr sz="1400" b="0" i="0">
                <a:solidFill>
                  <a:srgbClr val="1B1B1E"/>
                </a:solidFill>
                <a:latin typeface="Times New Roman"/>
              </a:rPr>
              <a:t>•  Mù lỗ hổng tri thức: Không xác định được gốc rễ kỹ năng bị thiếu hụt khi gặp lỗi.</a:t>
            </a:r>
          </a:p>
          <a:p>
            <a:pPr algn="l">
              <a:lnSpc>
                <a:spcPct val="115000"/>
              </a:lnSpc>
              <a:spcAft>
                <a:spcPts val="1000"/>
              </a:spcAft>
            </a:pPr>
            <a:r>
              <a:rPr sz="1400" b="0" i="0">
                <a:solidFill>
                  <a:srgbClr val="1B1B1E"/>
                </a:solidFill>
                <a:latin typeface="Times New Roman"/>
              </a:rPr>
              <a:t>•  Thiếu cá nhân hóa: Dễ gây nhàm chán nếu bài tập quá dễ, hoặc gây nản lòng từ bỏ (dropout) nếu bài tập quá khó.</a:t>
            </a:r>
          </a:p>
        </p:txBody>
      </p:sp>
      <p:sp>
        <p:nvSpPr>
          <p:cNvPr id="5" name="TextBox 4"/>
          <p:cNvSpPr txBox="1"/>
          <p:nvPr/>
        </p:nvSpPr>
        <p:spPr>
          <a:xfrm>
            <a:off x="6217920" y="1371600"/>
            <a:ext cx="5120640" cy="4754880"/>
          </a:xfrm>
          <a:prstGeom prst="rect">
            <a:avLst/>
          </a:prstGeom>
          <a:noFill/>
        </p:spPr>
        <p:txBody>
          <a:bodyPr wrap="square" lIns="0" tIns="0" rIns="0" bIns="0">
            <a:spAutoFit/>
          </a:bodyPr>
          <a:lstStyle/>
          <a:p>
            <a:pPr algn="l">
              <a:lnSpc>
                <a:spcPct val="115000"/>
              </a:lnSpc>
              <a:spcAft>
                <a:spcPts val="1200"/>
              </a:spcAft>
            </a:pPr>
            <a:r>
              <a:rPr sz="1600" b="1" i="0">
                <a:solidFill>
                  <a:srgbClr val="2E7559"/>
                </a:solidFill>
                <a:latin typeface="Times New Roman"/>
              </a:rPr>
              <a:t>GIẢI PHÁP ĐỀ XUẤT CỦA CÔNG NGHỆ AI:</a:t>
            </a:r>
          </a:p>
          <a:p>
            <a:pPr algn="l">
              <a:lnSpc>
                <a:spcPct val="115000"/>
              </a:lnSpc>
              <a:spcAft>
                <a:spcPts val="1000"/>
              </a:spcAft>
            </a:pPr>
            <a:r>
              <a:rPr sz="1400" b="0" i="0">
                <a:solidFill>
                  <a:srgbClr val="1B1B1E"/>
                </a:solidFill>
                <a:latin typeface="Times New Roman"/>
              </a:rPr>
              <a:t>•  Xây dựng khung mô hình PAL-Net thống nhất để theo dõi, kiến tạo và tối ưu hóa trạng thái tri thức của từng người dùng.</a:t>
            </a:r>
          </a:p>
          <a:p>
            <a:pPr algn="l">
              <a:lnSpc>
                <a:spcPct val="115000"/>
              </a:lnSpc>
              <a:spcAft>
                <a:spcPts val="1000"/>
              </a:spcAft>
            </a:pPr>
            <a:r>
              <a:rPr sz="1400" b="0" i="0">
                <a:solidFill>
                  <a:srgbClr val="1B1B1E"/>
                </a:solidFill>
                <a:latin typeface="Times New Roman"/>
              </a:rPr>
              <a:t>•  Hỗ trợ 3 ngôn ngữ cốt lõi lập trình và dữ liệu: Python (logic &amp; OOP), JavaScript (web &amp; async), và SQL (truy vấn quan hệ).</a:t>
            </a:r>
          </a:p>
          <a:p>
            <a:pPr algn="l">
              <a:lnSpc>
                <a:spcPct val="115000"/>
              </a:lnSpc>
              <a:spcAft>
                <a:spcPts val="1000"/>
              </a:spcAft>
            </a:pPr>
            <a:r>
              <a:rPr sz="1400" b="0" i="0">
                <a:solidFill>
                  <a:srgbClr val="1B1B1E"/>
                </a:solidFill>
                <a:latin typeface="Times New Roman"/>
              </a:rPr>
              <a:t>•  Đề xuất ôn luyện thích ứng theo Vùng phát triển gần nhất (ZPD), giúp việc tiếp thu tự nhiên và tối ưu lộ trình học.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pPr algn="l">
              <a:lnSpc>
                <a:spcPct val="115000"/>
              </a:lnSpc>
              <a:spcAft>
                <a:spcPts val="0"/>
              </a:spcAft>
            </a:pPr>
            <a:r>
              <a:rPr sz="2400" b="1" i="0">
                <a:solidFill>
                  <a:srgbClr val="2B2D42"/>
                </a:solidFill>
                <a:latin typeface="Times New Roman"/>
              </a:rPr>
              <a:t>2. MỤC TIÊU NGHIÊN CỨU</a:t>
            </a:r>
          </a:p>
        </p:txBody>
      </p:sp>
      <p:sp>
        <p:nvSpPr>
          <p:cNvPr id="3" name="Rectangle 2"/>
          <p:cNvSpPr/>
          <p:nvPr/>
        </p:nvSpPr>
        <p:spPr>
          <a:xfrm>
            <a:off x="731520" y="1051560"/>
            <a:ext cx="10725912" cy="18288"/>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725912" cy="4754880"/>
          </a:xfrm>
          <a:prstGeom prst="rect">
            <a:avLst/>
          </a:prstGeom>
          <a:noFill/>
        </p:spPr>
        <p:txBody>
          <a:bodyPr wrap="square" lIns="0" tIns="0" rIns="0" bIns="0">
            <a:spAutoFit/>
          </a:bodyPr>
          <a:lstStyle/>
          <a:p>
            <a:pPr algn="l">
              <a:lnSpc>
                <a:spcPct val="115000"/>
              </a:lnSpc>
              <a:spcAft>
                <a:spcPts val="1200"/>
              </a:spcAft>
            </a:pPr>
            <a:r>
              <a:rPr sz="1600" b="1" i="0">
                <a:solidFill>
                  <a:srgbClr val="1E5591"/>
                </a:solidFill>
                <a:latin typeface="Times New Roman"/>
              </a:rPr>
              <a:t>MỤC TIÊU TỔNG QUÁT: </a:t>
            </a:r>
            <a:r>
              <a:rPr sz="1500" b="0" i="0">
                <a:solidFill>
                  <a:srgbClr val="1B1B1E"/>
                </a:solidFill>
                <a:latin typeface="Times New Roman"/>
              </a:rPr>
              <a:t>Nghiên cứu, thiết kế và phát triển nền tảng học lập trình trực tuyến thích ứng đa ngôn ngữ để cá nhân hóa toàn diện lộ trình dựa trên mô hình PAL-Net.</a:t>
            </a:r>
          </a:p>
          <a:p>
            <a:pPr algn="l">
              <a:lnSpc>
                <a:spcPct val="115000"/>
              </a:lnSpc>
              <a:spcAft>
                <a:spcPts val="1000"/>
              </a:spcAft>
            </a:pPr>
            <a:r>
              <a:rPr sz="1600" b="1" i="0">
                <a:solidFill>
                  <a:srgbClr val="1E5591"/>
                </a:solidFill>
                <a:latin typeface="Times New Roman"/>
              </a:rPr>
              <a:t>MỤC TIÊU CỤ THỂ:</a:t>
            </a:r>
          </a:p>
          <a:p>
            <a:pPr algn="l">
              <a:lnSpc>
                <a:spcPct val="115000"/>
              </a:lnSpc>
              <a:spcAft>
                <a:spcPts val="800"/>
              </a:spcAft>
            </a:pPr>
            <a:r>
              <a:rPr sz="1400" b="0" i="0">
                <a:solidFill>
                  <a:srgbClr val="1B1B1E"/>
                </a:solidFill>
                <a:latin typeface="Times New Roman"/>
              </a:rPr>
              <a:t>•  Xây dựng mô hình người học động (Student Model) ước lượng qua tốc độ học, thói quen coding và sửa lỗi biên dịch.</a:t>
            </a:r>
          </a:p>
          <a:p>
            <a:pPr algn="l">
              <a:lnSpc>
                <a:spcPct val="115000"/>
              </a:lnSpc>
              <a:spcAft>
                <a:spcPts val="800"/>
              </a:spcAft>
            </a:pPr>
            <a:r>
              <a:rPr sz="1400" b="0" i="0">
                <a:solidFill>
                  <a:srgbClr val="1B1B1E"/>
                </a:solidFill>
                <a:latin typeface="Times New Roman"/>
              </a:rPr>
              <a:t>•  Hiện thực hóa đồ thị tri thức cấu trúc cây phân cấp kỹ năng cho Python, JS, SQL.</a:t>
            </a:r>
          </a:p>
          <a:p>
            <a:pPr algn="l">
              <a:lnSpc>
                <a:spcPct val="115000"/>
              </a:lnSpc>
              <a:spcAft>
                <a:spcPts val="800"/>
              </a:spcAft>
            </a:pPr>
            <a:r>
              <a:rPr sz="1400" b="0" i="0">
                <a:solidFill>
                  <a:srgbClr val="1B1B1E"/>
                </a:solidFill>
                <a:latin typeface="Times New Roman"/>
              </a:rPr>
              <a:t>•  Thiết lập môi trường Sandbox biên dịch codes an toàn và trình đối sánh bảng kết xuất SQL trực tuyến cách ly.</a:t>
            </a:r>
          </a:p>
          <a:p>
            <a:pPr algn="l">
              <a:lnSpc>
                <a:spcPct val="115000"/>
              </a:lnSpc>
              <a:spcAft>
                <a:spcPts val="800"/>
              </a:spcAft>
            </a:pPr>
            <a:r>
              <a:rPr sz="1400" b="0" i="0">
                <a:solidFill>
                  <a:srgbClr val="1B1B1E"/>
                </a:solidFill>
                <a:latin typeface="Times New Roman"/>
              </a:rPr>
              <a:t>•  Thử nghiệm định lượng trên nhóm mẫu 30-50 sinh viên Đại học Thủ Dầu Một để chứng minh tính hiệu quả của đề tài.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pPr algn="l">
              <a:lnSpc>
                <a:spcPct val="115000"/>
              </a:lnSpc>
              <a:spcAft>
                <a:spcPts val="0"/>
              </a:spcAft>
            </a:pPr>
            <a:r>
              <a:rPr sz="2400" b="1" i="0">
                <a:solidFill>
                  <a:srgbClr val="2B2D42"/>
                </a:solidFill>
                <a:latin typeface="Times New Roman"/>
              </a:rPr>
              <a:t>3. ĐỐI TƯỢNG &amp; PHẠM VI NGHIÊN CỨU</a:t>
            </a:r>
          </a:p>
        </p:txBody>
      </p:sp>
      <p:sp>
        <p:nvSpPr>
          <p:cNvPr id="3" name="Rectangle 2"/>
          <p:cNvSpPr/>
          <p:nvPr/>
        </p:nvSpPr>
        <p:spPr>
          <a:xfrm>
            <a:off x="731520" y="1051560"/>
            <a:ext cx="10725912" cy="18288"/>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5120640" cy="4754880"/>
          </a:xfrm>
          <a:prstGeom prst="rect">
            <a:avLst/>
          </a:prstGeom>
          <a:noFill/>
        </p:spPr>
        <p:txBody>
          <a:bodyPr wrap="square" lIns="0" tIns="0" rIns="0" bIns="0">
            <a:spAutoFit/>
          </a:bodyPr>
          <a:lstStyle/>
          <a:p>
            <a:pPr algn="l">
              <a:lnSpc>
                <a:spcPct val="115000"/>
              </a:lnSpc>
              <a:spcAft>
                <a:spcPts val="1200"/>
              </a:spcAft>
            </a:pPr>
            <a:r>
              <a:rPr sz="1600" b="1" i="0">
                <a:solidFill>
                  <a:srgbClr val="1E5591"/>
                </a:solidFill>
                <a:latin typeface="Times New Roman"/>
              </a:rPr>
              <a:t>ĐỐI TƯỢNG NGHIÊN CỨU:</a:t>
            </a:r>
          </a:p>
          <a:p>
            <a:pPr algn="l">
              <a:lnSpc>
                <a:spcPct val="115000"/>
              </a:lnSpc>
              <a:spcAft>
                <a:spcPts val="1000"/>
              </a:spcAft>
            </a:pPr>
            <a:r>
              <a:rPr sz="1400" b="0" i="0">
                <a:solidFill>
                  <a:srgbClr val="1B1B1E"/>
                </a:solidFill>
                <a:latin typeface="Times New Roman"/>
              </a:rPr>
              <a:t>•  Khung mô hình mạng học thích ứng cá nhân hóa PAL-Net.</a:t>
            </a:r>
          </a:p>
          <a:p>
            <a:pPr algn="l">
              <a:lnSpc>
                <a:spcPct val="115000"/>
              </a:lnSpc>
              <a:spcAft>
                <a:spcPts val="1000"/>
              </a:spcAft>
            </a:pPr>
            <a:r>
              <a:rPr sz="1400" b="0" i="0">
                <a:solidFill>
                  <a:srgbClr val="1B1B1E"/>
                </a:solidFill>
                <a:latin typeface="Times New Roman"/>
              </a:rPr>
              <a:t>•  Hành vi viết mã nguồn và kết quả thực thi kiểm thử từ sandbox của người học.</a:t>
            </a:r>
          </a:p>
          <a:p>
            <a:pPr algn="l">
              <a:lnSpc>
                <a:spcPct val="115000"/>
              </a:lnSpc>
              <a:spcAft>
                <a:spcPts val="1000"/>
              </a:spcAft>
            </a:pPr>
            <a:r>
              <a:rPr sz="1400" b="0" i="0">
                <a:solidFill>
                  <a:srgbClr val="1B1B1E"/>
                </a:solidFill>
                <a:latin typeface="Times New Roman"/>
              </a:rPr>
              <a:t>•  Thuật toán định lượng năng lực và ZPD đề xuất lộ trình.</a:t>
            </a:r>
          </a:p>
        </p:txBody>
      </p:sp>
      <p:sp>
        <p:nvSpPr>
          <p:cNvPr id="5" name="TextBox 4"/>
          <p:cNvSpPr txBox="1"/>
          <p:nvPr/>
        </p:nvSpPr>
        <p:spPr>
          <a:xfrm>
            <a:off x="6217920" y="1371600"/>
            <a:ext cx="5120640" cy="4754880"/>
          </a:xfrm>
          <a:prstGeom prst="rect">
            <a:avLst/>
          </a:prstGeom>
          <a:noFill/>
        </p:spPr>
        <p:txBody>
          <a:bodyPr wrap="square" lIns="0" tIns="0" rIns="0" bIns="0">
            <a:spAutoFit/>
          </a:bodyPr>
          <a:lstStyle/>
          <a:p>
            <a:pPr algn="l">
              <a:lnSpc>
                <a:spcPct val="115000"/>
              </a:lnSpc>
              <a:spcAft>
                <a:spcPts val="1200"/>
              </a:spcAft>
            </a:pPr>
            <a:r>
              <a:rPr sz="1600" b="1" i="0">
                <a:solidFill>
                  <a:srgbClr val="1E5591"/>
                </a:solidFill>
                <a:latin typeface="Times New Roman"/>
              </a:rPr>
              <a:t>PHẠM VI NGHIÊN CỨU:</a:t>
            </a:r>
          </a:p>
          <a:p>
            <a:pPr algn="l">
              <a:lnSpc>
                <a:spcPct val="115000"/>
              </a:lnSpc>
              <a:spcAft>
                <a:spcPts val="1000"/>
              </a:spcAft>
            </a:pPr>
            <a:r>
              <a:rPr sz="1400" b="0" i="0">
                <a:solidFill>
                  <a:srgbClr val="1B1B1E"/>
                </a:solidFill>
                <a:latin typeface="Times New Roman"/>
              </a:rPr>
              <a:t>•  Nội dung học liệu: 3 ngôn ngữ/công nghệ: Python (Cú pháp cơ bản, OOP), JavaScript (Mảng, Async JS), SQL (JOIN, GROUP BY, CTE).</a:t>
            </a:r>
          </a:p>
          <a:p>
            <a:pPr algn="l">
              <a:lnSpc>
                <a:spcPct val="115000"/>
              </a:lnSpc>
              <a:spcAft>
                <a:spcPts val="1000"/>
              </a:spcAft>
            </a:pPr>
            <a:r>
              <a:rPr sz="1400" b="0" i="0">
                <a:solidFill>
                  <a:srgbClr val="1B1B1E"/>
                </a:solidFill>
                <a:latin typeface="Times New Roman"/>
              </a:rPr>
              <a:t>•  Hạ tầng Web: React, Node.js Express, FastAPI PyTorch, PostgreSQL (Supabase).</a:t>
            </a:r>
          </a:p>
          <a:p>
            <a:pPr algn="l">
              <a:lnSpc>
                <a:spcPct val="115000"/>
              </a:lnSpc>
              <a:spcAft>
                <a:spcPts val="1000"/>
              </a:spcAft>
            </a:pPr>
            <a:r>
              <a:rPr sz="1400" b="0" i="0">
                <a:solidFill>
                  <a:srgbClr val="1B1B1E"/>
                </a:solidFill>
                <a:latin typeface="Times New Roman"/>
              </a:rPr>
              <a:t>•  Khảo sát thực chứng: Quy mô khảo sát 30-50 sinh viên tại Đại học Thủ Dầu Một.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pPr algn="l">
              <a:lnSpc>
                <a:spcPct val="115000"/>
              </a:lnSpc>
              <a:spcAft>
                <a:spcPts val="0"/>
              </a:spcAft>
            </a:pPr>
            <a:r>
              <a:rPr sz="2400" b="1" i="0">
                <a:solidFill>
                  <a:srgbClr val="2B2D42"/>
                </a:solidFill>
                <a:latin typeface="Times New Roman"/>
              </a:rPr>
              <a:t>4. KHUNG MÔ HÌNH THÍCH ỨNG PAL-NET</a:t>
            </a:r>
          </a:p>
        </p:txBody>
      </p:sp>
      <p:sp>
        <p:nvSpPr>
          <p:cNvPr id="3" name="Rectangle 2"/>
          <p:cNvSpPr/>
          <p:nvPr/>
        </p:nvSpPr>
        <p:spPr>
          <a:xfrm>
            <a:off x="731520" y="1051560"/>
            <a:ext cx="10725912" cy="18288"/>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725912" cy="4754880"/>
          </a:xfrm>
          <a:prstGeom prst="rect">
            <a:avLst/>
          </a:prstGeom>
          <a:noFill/>
        </p:spPr>
        <p:txBody>
          <a:bodyPr wrap="square" lIns="0" tIns="0" rIns="0" bIns="0">
            <a:spAutoFit/>
          </a:bodyPr>
          <a:lstStyle/>
          <a:p>
            <a:pPr algn="l">
              <a:lnSpc>
                <a:spcPct val="115000"/>
              </a:lnSpc>
              <a:spcAft>
                <a:spcPts val="1000"/>
              </a:spcAft>
            </a:pPr>
            <a:r>
              <a:rPr sz="1400" b="1" i="0">
                <a:solidFill>
                  <a:srgbClr val="1E5591"/>
                </a:solidFill>
                <a:latin typeface="Times New Roman"/>
              </a:rPr>
              <a:t>•  1. Đồ thị tri thức (Knowledge Graph):</a:t>
            </a:r>
            <a:r>
              <a:rPr sz="1400" b="0" i="0">
                <a:solidFill>
                  <a:srgbClr val="1B1B1E"/>
                </a:solidFill>
                <a:latin typeface="Times New Roman"/>
              </a:rPr>
              <a:t> Nhúng cây kỹ năng có hướng của cả 3 ngôn ngữ thành đặc trưng qua Graph Convolutional Network (GCN). Cập nhật tri thức lan truyền tự động giữa các khái niệm có liên kết.</a:t>
            </a:r>
          </a:p>
          <a:p>
            <a:pPr algn="l">
              <a:lnSpc>
                <a:spcPct val="115000"/>
              </a:lnSpc>
              <a:spcAft>
                <a:spcPts val="1000"/>
              </a:spcAft>
            </a:pPr>
            <a:r>
              <a:rPr sz="1400" b="1" i="0">
                <a:solidFill>
                  <a:srgbClr val="1E5591"/>
                </a:solidFill>
                <a:latin typeface="Times New Roman"/>
              </a:rPr>
              <a:t>•  2. Nhúng người học (Learner Embedding):</a:t>
            </a:r>
            <a:r>
              <a:rPr sz="1400" b="0" i="0">
                <a:solidFill>
                  <a:srgbClr val="1B1B1E"/>
                </a:solidFill>
                <a:latin typeface="Times New Roman"/>
              </a:rPr>
              <a:t> Tích hợp hồ sơ tĩnh và kiểm tra Pre-test nhanh để tìm điểm xuất phát mặc định của học viên, giải quyết triệt để rào cản khởi động lạnh (Cold-start).</a:t>
            </a:r>
          </a:p>
          <a:p>
            <a:pPr algn="l">
              <a:lnSpc>
                <a:spcPct val="115000"/>
              </a:lnSpc>
              <a:spcAft>
                <a:spcPts val="1000"/>
              </a:spcAft>
            </a:pPr>
            <a:r>
              <a:rPr sz="1400" b="1" i="0">
                <a:solidFill>
                  <a:srgbClr val="1E5591"/>
                </a:solidFill>
                <a:latin typeface="Times New Roman"/>
              </a:rPr>
              <a:t>•  3. Cơ chế chú ý thời gian (Seq Attention):</a:t>
            </a:r>
            <a:r>
              <a:rPr sz="1400" b="0" i="0">
                <a:solidFill>
                  <a:srgbClr val="1B1B1E"/>
                </a:solidFill>
                <a:latin typeface="Times New Roman"/>
              </a:rPr>
              <a:t> Sử dụng mạng hồi quy GRU và cơ chế Attention để đánh giá sâu chuỗi lịch sử tương tác code, nhận dạng các lỗi logic lặp lại.</a:t>
            </a:r>
          </a:p>
          <a:p>
            <a:pPr algn="l">
              <a:lnSpc>
                <a:spcPct val="115000"/>
              </a:lnSpc>
              <a:spcAft>
                <a:spcPts val="1000"/>
              </a:spcAft>
            </a:pPr>
            <a:r>
              <a:rPr sz="1400" b="1" i="0">
                <a:solidFill>
                  <a:srgbClr val="1E5591"/>
                </a:solidFill>
                <a:latin typeface="Times New Roman"/>
              </a:rPr>
              <a:t>•  4. Cập nhật trạng thái thời gian thực:</a:t>
            </a:r>
            <a:r>
              <a:rPr sz="1400" b="0" i="0">
                <a:solidFill>
                  <a:srgbClr val="1B1B1E"/>
                </a:solidFill>
                <a:latin typeface="Times New Roman"/>
              </a:rPr>
              <a:t> Biến dữ liệu đầu ra Sandbox (lỗi biên dịch, thời gian chạy, số lần thử) thành vector cập nhật trực tiếp độ thành thạo kỹ năng ẩn.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pPr algn="l">
              <a:lnSpc>
                <a:spcPct val="115000"/>
              </a:lnSpc>
              <a:spcAft>
                <a:spcPts val="0"/>
              </a:spcAft>
            </a:pPr>
            <a:r>
              <a:rPr sz="2400" b="1" i="0">
                <a:solidFill>
                  <a:srgbClr val="2B2D42"/>
                </a:solidFill>
                <a:latin typeface="Times New Roman"/>
              </a:rPr>
              <a:t>5. CHI TIẾT ĐỒ THỊ TRI THỨC ĐA NGÔN NGỮ</a:t>
            </a:r>
          </a:p>
        </p:txBody>
      </p:sp>
      <p:sp>
        <p:nvSpPr>
          <p:cNvPr id="3" name="Rectangle 2"/>
          <p:cNvSpPr/>
          <p:nvPr/>
        </p:nvSpPr>
        <p:spPr>
          <a:xfrm>
            <a:off x="731520" y="1051560"/>
            <a:ext cx="10725912" cy="18288"/>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3383280" cy="4754880"/>
          </a:xfrm>
          <a:prstGeom prst="rect">
            <a:avLst/>
          </a:prstGeom>
          <a:noFill/>
        </p:spPr>
        <p:txBody>
          <a:bodyPr wrap="square">
            <a:spAutoFit/>
          </a:bodyPr>
          <a:lstStyle/>
          <a:p>
            <a:pPr algn="l">
              <a:lnSpc>
                <a:spcPct val="115000"/>
              </a:lnSpc>
              <a:spcAft>
                <a:spcPts val="1000"/>
              </a:spcAft>
            </a:pPr>
            <a:r>
              <a:rPr sz="1500" b="1" i="0">
                <a:solidFill>
                  <a:srgbClr val="E64C59"/>
                </a:solidFill>
                <a:latin typeface="Times New Roman"/>
              </a:rPr>
              <a:t>NHÁNH PYTHON (OOP &amp; Logic)</a:t>
            </a:r>
          </a:p>
          <a:p>
            <a:pPr algn="l">
              <a:lnSpc>
                <a:spcPct val="115000"/>
              </a:lnSpc>
              <a:spcAft>
                <a:spcPts val="600"/>
              </a:spcAft>
            </a:pPr>
            <a:r>
              <a:rPr sz="1300" b="0" i="0">
                <a:solidFill>
                  <a:srgbClr val="1B1B1E"/>
                </a:solidFill>
                <a:latin typeface="Times New Roman"/>
              </a:rPr>
              <a:t>- KC_PY_VAR: Biến &amp; kiểu dữ liệu</a:t>
            </a:r>
          </a:p>
          <a:p>
            <a:pPr algn="l">
              <a:lnSpc>
                <a:spcPct val="115000"/>
              </a:lnSpc>
              <a:spcAft>
                <a:spcPts val="600"/>
              </a:spcAft>
            </a:pPr>
            <a:r>
              <a:rPr sz="1300" b="0" i="0">
                <a:solidFill>
                  <a:srgbClr val="1B1B1E"/>
                </a:solidFill>
                <a:latin typeface="Times New Roman"/>
              </a:rPr>
              <a:t>- KC_PY_COND: Rẽ nhánh if-else</a:t>
            </a:r>
          </a:p>
          <a:p>
            <a:pPr algn="l">
              <a:lnSpc>
                <a:spcPct val="115000"/>
              </a:lnSpc>
              <a:spcAft>
                <a:spcPts val="600"/>
              </a:spcAft>
            </a:pPr>
            <a:r>
              <a:rPr sz="1300" b="0" i="0">
                <a:solidFill>
                  <a:srgbClr val="1B1B1E"/>
                </a:solidFill>
                <a:latin typeface="Times New Roman"/>
              </a:rPr>
              <a:t>- KC_PY_LOOP: Vòng lặp for/while</a:t>
            </a:r>
          </a:p>
          <a:p>
            <a:pPr algn="l">
              <a:lnSpc>
                <a:spcPct val="115000"/>
              </a:lnSpc>
              <a:spcAft>
                <a:spcPts val="600"/>
              </a:spcAft>
            </a:pPr>
            <a:r>
              <a:rPr sz="1300" b="0" i="0">
                <a:solidFill>
                  <a:srgbClr val="1B1B1E"/>
                </a:solidFill>
                <a:latin typeface="Times New Roman"/>
              </a:rPr>
              <a:t>- KC_PY_LIST: List, Tuple, Dict, Set</a:t>
            </a:r>
          </a:p>
          <a:p>
            <a:pPr algn="l">
              <a:lnSpc>
                <a:spcPct val="115000"/>
              </a:lnSpc>
              <a:spcAft>
                <a:spcPts val="600"/>
              </a:spcAft>
            </a:pPr>
            <a:r>
              <a:rPr sz="1300" b="0" i="0">
                <a:solidFill>
                  <a:srgbClr val="1B1B1E"/>
                </a:solidFill>
                <a:latin typeface="Times New Roman"/>
              </a:rPr>
              <a:t>- KC_PY_FUNC: Đóng gói hàm &amp; Scope</a:t>
            </a:r>
          </a:p>
          <a:p>
            <a:pPr algn="l">
              <a:lnSpc>
                <a:spcPct val="115000"/>
              </a:lnSpc>
              <a:spcAft>
                <a:spcPts val="600"/>
              </a:spcAft>
            </a:pPr>
            <a:r>
              <a:rPr sz="1300" b="0" i="0">
                <a:solidFill>
                  <a:srgbClr val="1B1B1E"/>
                </a:solidFill>
                <a:latin typeface="Times New Roman"/>
              </a:rPr>
              <a:t>- KC_PY_OOP: Thiết kế Class &amp; Kế thừa</a:t>
            </a:r>
          </a:p>
        </p:txBody>
      </p:sp>
      <p:sp>
        <p:nvSpPr>
          <p:cNvPr id="5" name="TextBox 4"/>
          <p:cNvSpPr txBox="1"/>
          <p:nvPr/>
        </p:nvSpPr>
        <p:spPr>
          <a:xfrm>
            <a:off x="4480560" y="1371600"/>
            <a:ext cx="3383280" cy="4754880"/>
          </a:xfrm>
          <a:prstGeom prst="rect">
            <a:avLst/>
          </a:prstGeom>
          <a:noFill/>
        </p:spPr>
        <p:txBody>
          <a:bodyPr wrap="square">
            <a:spAutoFit/>
          </a:bodyPr>
          <a:lstStyle/>
          <a:p>
            <a:pPr algn="l">
              <a:lnSpc>
                <a:spcPct val="115000"/>
              </a:lnSpc>
              <a:spcAft>
                <a:spcPts val="1000"/>
              </a:spcAft>
            </a:pPr>
            <a:r>
              <a:rPr sz="1500" b="1" i="0">
                <a:solidFill>
                  <a:srgbClr val="1E5591"/>
                </a:solidFill>
                <a:latin typeface="Times New Roman"/>
              </a:rPr>
              <a:t>NHÁNH JAVASCRIPT (Web &amp; Async)</a:t>
            </a:r>
          </a:p>
          <a:p>
            <a:pPr algn="l">
              <a:lnSpc>
                <a:spcPct val="115000"/>
              </a:lnSpc>
              <a:spcAft>
                <a:spcPts val="600"/>
              </a:spcAft>
            </a:pPr>
            <a:r>
              <a:rPr sz="1300" b="0" i="0">
                <a:solidFill>
                  <a:srgbClr val="1B1B1E"/>
                </a:solidFill>
                <a:latin typeface="Times New Roman"/>
              </a:rPr>
              <a:t>- KC_JS_VAR: let/const/var biến</a:t>
            </a:r>
          </a:p>
          <a:p>
            <a:pPr algn="l">
              <a:lnSpc>
                <a:spcPct val="115000"/>
              </a:lnSpc>
              <a:spcAft>
                <a:spcPts val="600"/>
              </a:spcAft>
            </a:pPr>
            <a:r>
              <a:rPr sz="1300" b="0" i="0">
                <a:solidFill>
                  <a:srgbClr val="1B1B1E"/>
                </a:solidFill>
                <a:latin typeface="Times New Roman"/>
              </a:rPr>
              <a:t>- KC_JS_COND: Logic rẽ nhánh &amp; 3 ngôi</a:t>
            </a:r>
          </a:p>
          <a:p>
            <a:pPr algn="l">
              <a:lnSpc>
                <a:spcPct val="115000"/>
              </a:lnSpc>
              <a:spcAft>
                <a:spcPts val="600"/>
              </a:spcAft>
            </a:pPr>
            <a:r>
              <a:rPr sz="1300" b="0" i="0">
                <a:solidFill>
                  <a:srgbClr val="1B1B1E"/>
                </a:solidFill>
                <a:latin typeface="Times New Roman"/>
              </a:rPr>
              <a:t>- KC_JS_ARRAY: map, filter, reduce</a:t>
            </a:r>
          </a:p>
          <a:p>
            <a:pPr algn="l">
              <a:lnSpc>
                <a:spcPct val="115000"/>
              </a:lnSpc>
              <a:spcAft>
                <a:spcPts val="600"/>
              </a:spcAft>
            </a:pPr>
            <a:r>
              <a:rPr sz="1300" b="0" i="0">
                <a:solidFill>
                  <a:srgbClr val="1B1B1E"/>
                </a:solidFill>
                <a:latin typeface="Times New Roman"/>
              </a:rPr>
              <a:t>- KC_JS_FUNC: Arrow function &amp; scope</a:t>
            </a:r>
          </a:p>
          <a:p>
            <a:pPr algn="l">
              <a:lnSpc>
                <a:spcPct val="115000"/>
              </a:lnSpc>
              <a:spcAft>
                <a:spcPts val="600"/>
              </a:spcAft>
            </a:pPr>
            <a:r>
              <a:rPr sz="1300" b="0" i="0">
                <a:solidFill>
                  <a:srgbClr val="1B1B1E"/>
                </a:solidFill>
                <a:latin typeface="Times New Roman"/>
              </a:rPr>
              <a:t>- KC_JS_ASYNC: Promise &amp; Async/Await</a:t>
            </a:r>
          </a:p>
          <a:p>
            <a:pPr algn="l">
              <a:lnSpc>
                <a:spcPct val="115000"/>
              </a:lnSpc>
              <a:spcAft>
                <a:spcPts val="600"/>
              </a:spcAft>
            </a:pPr>
            <a:r>
              <a:rPr sz="1300" b="0" i="0">
                <a:solidFill>
                  <a:srgbClr val="1B1B1E"/>
                </a:solidFill>
                <a:latin typeface="Times New Roman"/>
              </a:rPr>
              <a:t>- KC_JS_OBJECT: ES6 Class &amp; Prototype</a:t>
            </a:r>
          </a:p>
        </p:txBody>
      </p:sp>
      <p:sp>
        <p:nvSpPr>
          <p:cNvPr id="6" name="TextBox 5"/>
          <p:cNvSpPr txBox="1"/>
          <p:nvPr/>
        </p:nvSpPr>
        <p:spPr>
          <a:xfrm>
            <a:off x="8229600" y="1371600"/>
            <a:ext cx="3383280" cy="4754880"/>
          </a:xfrm>
          <a:prstGeom prst="rect">
            <a:avLst/>
          </a:prstGeom>
          <a:noFill/>
        </p:spPr>
        <p:txBody>
          <a:bodyPr wrap="square">
            <a:spAutoFit/>
          </a:bodyPr>
          <a:lstStyle/>
          <a:p>
            <a:pPr algn="l">
              <a:lnSpc>
                <a:spcPct val="115000"/>
              </a:lnSpc>
              <a:spcAft>
                <a:spcPts val="1000"/>
              </a:spcAft>
            </a:pPr>
            <a:r>
              <a:rPr sz="1500" b="1" i="0">
                <a:solidFill>
                  <a:srgbClr val="2E7559"/>
                </a:solidFill>
                <a:latin typeface="Times New Roman"/>
              </a:rPr>
              <a:t>NHÁNH SQL (Database)</a:t>
            </a:r>
          </a:p>
          <a:p>
            <a:pPr algn="l">
              <a:lnSpc>
                <a:spcPct val="115000"/>
              </a:lnSpc>
              <a:spcAft>
                <a:spcPts val="600"/>
              </a:spcAft>
            </a:pPr>
            <a:r>
              <a:rPr sz="1300" b="0" i="0">
                <a:solidFill>
                  <a:srgbClr val="1B1B1E"/>
                </a:solidFill>
                <a:latin typeface="Times New Roman"/>
              </a:rPr>
              <a:t>- KC_SQL_SEL: SELECT &amp; WHERE căn bản</a:t>
            </a:r>
          </a:p>
          <a:p>
            <a:pPr algn="l">
              <a:lnSpc>
                <a:spcPct val="115000"/>
              </a:lnSpc>
              <a:spcAft>
                <a:spcPts val="600"/>
              </a:spcAft>
            </a:pPr>
            <a:r>
              <a:rPr sz="1300" b="0" i="0">
                <a:solidFill>
                  <a:srgbClr val="1B1B1E"/>
                </a:solidFill>
                <a:latin typeface="Times New Roman"/>
              </a:rPr>
              <a:t>- KC_SQL_AGG: GROUP BY &amp; Aggregation</a:t>
            </a:r>
          </a:p>
          <a:p>
            <a:pPr algn="l">
              <a:lnSpc>
                <a:spcPct val="115000"/>
              </a:lnSpc>
              <a:spcAft>
                <a:spcPts val="600"/>
              </a:spcAft>
            </a:pPr>
            <a:r>
              <a:rPr sz="1300" b="0" i="0">
                <a:solidFill>
                  <a:srgbClr val="1B1B1E"/>
                </a:solidFill>
                <a:latin typeface="Times New Roman"/>
              </a:rPr>
              <a:t>- KC_SQL_JOIN: INNER, LEFT/RIGHT JOIN</a:t>
            </a:r>
          </a:p>
          <a:p>
            <a:pPr algn="l">
              <a:lnSpc>
                <a:spcPct val="115000"/>
              </a:lnSpc>
              <a:spcAft>
                <a:spcPts val="600"/>
              </a:spcAft>
            </a:pPr>
            <a:r>
              <a:rPr sz="1300" b="0" i="0">
                <a:solidFill>
                  <a:srgbClr val="1B1B1E"/>
                </a:solidFill>
                <a:latin typeface="Times New Roman"/>
              </a:rPr>
              <a:t>- KC_SQL_SUB: Truy vấn con Subqueries</a:t>
            </a:r>
          </a:p>
          <a:p>
            <a:pPr algn="l">
              <a:lnSpc>
                <a:spcPct val="115000"/>
              </a:lnSpc>
              <a:spcAft>
                <a:spcPts val="600"/>
              </a:spcAft>
            </a:pPr>
            <a:r>
              <a:rPr sz="1300" b="0" i="0">
                <a:solidFill>
                  <a:srgbClr val="1B1B1E"/>
                </a:solidFill>
                <a:latin typeface="Times New Roman"/>
              </a:rPr>
              <a:t>- KC_SQL_CTE: Common Table Expression</a:t>
            </a:r>
          </a:p>
          <a:p>
            <a:pPr algn="l">
              <a:lnSpc>
                <a:spcPct val="115000"/>
              </a:lnSpc>
              <a:spcAft>
                <a:spcPts val="600"/>
              </a:spcAft>
            </a:pPr>
            <a:r>
              <a:rPr sz="1300" b="0" i="0">
                <a:solidFill>
                  <a:srgbClr val="1B1B1E"/>
                </a:solidFill>
                <a:latin typeface="Times New Roman"/>
              </a:rPr>
              <a:t>- KC_SQL_DML: INSERT, UPDATE, DDL, DML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pPr algn="l">
              <a:lnSpc>
                <a:spcPct val="115000"/>
              </a:lnSpc>
              <a:spcAft>
                <a:spcPts val="0"/>
              </a:spcAft>
            </a:pPr>
            <a:r>
              <a:rPr sz="2400" b="1" i="0">
                <a:solidFill>
                  <a:srgbClr val="2B2D42"/>
                </a:solidFill>
                <a:latin typeface="Times New Roman"/>
              </a:rPr>
              <a:t>6. ÔN LUYỆN THÍCH ỨNG THEO VÙNG ZPD</a:t>
            </a:r>
          </a:p>
        </p:txBody>
      </p:sp>
      <p:sp>
        <p:nvSpPr>
          <p:cNvPr id="3" name="Rectangle 2"/>
          <p:cNvSpPr/>
          <p:nvPr/>
        </p:nvSpPr>
        <p:spPr>
          <a:xfrm>
            <a:off x="731520" y="1051560"/>
            <a:ext cx="10725912" cy="18288"/>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725912" cy="4754880"/>
          </a:xfrm>
          <a:prstGeom prst="rect">
            <a:avLst/>
          </a:prstGeom>
          <a:noFill/>
        </p:spPr>
        <p:txBody>
          <a:bodyPr wrap="square" lIns="0" tIns="0" rIns="0" bIns="0">
            <a:spAutoFit/>
          </a:bodyPr>
          <a:lstStyle/>
          <a:p>
            <a:pPr algn="l">
              <a:lnSpc>
                <a:spcPct val="115000"/>
              </a:lnSpc>
              <a:spcAft>
                <a:spcPts val="1200"/>
              </a:spcAft>
            </a:pPr>
            <a:r>
              <a:rPr sz="1500" b="1" i="0">
                <a:solidFill>
                  <a:srgbClr val="1E5591"/>
                </a:solidFill>
                <a:latin typeface="Times New Roman"/>
              </a:rPr>
              <a:t>•  Cơ chế Vùng ZPD (Zone of Proximal Development):</a:t>
            </a:r>
            <a:r>
              <a:rPr sz="1500" b="0" i="0">
                <a:solidFill>
                  <a:srgbClr val="1B1B1E"/>
                </a:solidFill>
                <a:latin typeface="Times New Roman"/>
              </a:rPr>
              <a:t> Lọc bỏ các bài tập quá dễ (P_correct &gt; 85%) và quá khó (P_correct &lt; 70%). AI đề xuất các bài tập tiệm cận giới hạn năng lực tại biên ZPD vàng [70% - 85%].</a:t>
            </a:r>
          </a:p>
          <a:p>
            <a:pPr algn="l">
              <a:lnSpc>
                <a:spcPct val="115000"/>
              </a:lnSpc>
              <a:spcAft>
                <a:spcPts val="1200"/>
              </a:spcAft>
            </a:pPr>
            <a:r>
              <a:rPr sz="1500" b="1" i="0">
                <a:solidFill>
                  <a:srgbClr val="1E5591"/>
                </a:solidFill>
                <a:latin typeface="Times New Roman"/>
              </a:rPr>
              <a:t>•  Explainable AI (AI Giải thích Lộ trình):</a:t>
            </a:r>
            <a:r>
              <a:rPr sz="1500" b="0" i="0">
                <a:solidFill>
                  <a:srgbClr val="1B1B1E"/>
                </a:solidFill>
                <a:latin typeface="Times New Roman"/>
              </a:rPr>
              <a:t> Hiển thị cụ thể lý do gợi ý ngay tại không gian code, giúp người học tin tưởng: 'Gợi ý bài SQL Join vì bạn đã vững Select (82%) nhưng cần củng cố kết nối dữ liệu trước khi lên CTE'.</a:t>
            </a:r>
          </a:p>
          <a:p>
            <a:pPr algn="l">
              <a:lnSpc>
                <a:spcPct val="115000"/>
              </a:lnSpc>
              <a:spcAft>
                <a:spcPts val="1200"/>
              </a:spcAft>
            </a:pPr>
            <a:r>
              <a:rPr sz="1500" b="1" i="0">
                <a:solidFill>
                  <a:srgbClr val="1E5591"/>
                </a:solidFill>
                <a:latin typeface="Times New Roman"/>
              </a:rPr>
              <a:t>•  Đồ thị Radar Đa năng lực:</a:t>
            </a:r>
            <a:r>
              <a:rPr sz="1500" b="0" i="0">
                <a:solidFill>
                  <a:srgbClr val="1B1B1E"/>
                </a:solidFill>
                <a:latin typeface="Times New Roman"/>
              </a:rPr>
              <a:t> Hiển thị 3 biểu đồ Radar độc lập trên Profile, tương tự như các chỉ số năng lực kỹ năng giúp người học trực quan hóa lộ trình tiến bộ.</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pPr algn="l">
              <a:lnSpc>
                <a:spcPct val="115000"/>
              </a:lnSpc>
              <a:spcAft>
                <a:spcPts val="0"/>
              </a:spcAft>
            </a:pPr>
            <a:r>
              <a:rPr sz="2400" b="1" i="0">
                <a:solidFill>
                  <a:srgbClr val="2B2D42"/>
                </a:solidFill>
                <a:latin typeface="Times New Roman"/>
              </a:rPr>
              <a:t>7. AI CODE REVIEWER &amp; CONTEXT-AWARE SANDBOX</a:t>
            </a:r>
          </a:p>
        </p:txBody>
      </p:sp>
      <p:sp>
        <p:nvSpPr>
          <p:cNvPr id="3" name="Rectangle 2"/>
          <p:cNvSpPr/>
          <p:nvPr/>
        </p:nvSpPr>
        <p:spPr>
          <a:xfrm>
            <a:off x="731520" y="1051560"/>
            <a:ext cx="10725912" cy="18288"/>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725912" cy="4754880"/>
          </a:xfrm>
          <a:prstGeom prst="rect">
            <a:avLst/>
          </a:prstGeom>
          <a:noFill/>
        </p:spPr>
        <p:txBody>
          <a:bodyPr wrap="square" lIns="0" tIns="0" rIns="0" bIns="0">
            <a:spAutoFit/>
          </a:bodyPr>
          <a:lstStyle/>
          <a:p>
            <a:pPr algn="l">
              <a:lnSpc>
                <a:spcPct val="115000"/>
              </a:lnSpc>
              <a:spcAft>
                <a:spcPts val="1200"/>
              </a:spcAft>
            </a:pPr>
            <a:r>
              <a:rPr sz="1500" b="1" i="0">
                <a:solidFill>
                  <a:srgbClr val="1E5591"/>
                </a:solidFill>
                <a:latin typeface="Times New Roman"/>
              </a:rPr>
              <a:t>•  Môi trường Sandbox tích hợp đa ngôn ngữ:</a:t>
            </a:r>
            <a:r>
              <a:rPr sz="1500" b="0" i="0">
                <a:solidFill>
                  <a:srgbClr val="1B1B1E"/>
                </a:solidFill>
                <a:latin typeface="Times New Roman"/>
              </a:rPr>
              <a:t> Thực thi codes Python, JS an toàn thông qua container Docker cô lập. Cấu hình schema/table động SQLite/PostgreSQL để so sánh bảng dữ liệu đầu ra SQL khách quan.</a:t>
            </a:r>
          </a:p>
          <a:p>
            <a:pPr algn="l">
              <a:lnSpc>
                <a:spcPct val="115000"/>
              </a:lnSpc>
              <a:spcAft>
                <a:spcPts val="1200"/>
              </a:spcAft>
            </a:pPr>
            <a:r>
              <a:rPr sz="1500" b="1" i="0">
                <a:solidFill>
                  <a:srgbClr val="1E5591"/>
                </a:solidFill>
                <a:latin typeface="Times New Roman"/>
              </a:rPr>
              <a:t>•  AI chẩn đoán lỗi chuyên sâu:</a:t>
            </a:r>
            <a:r>
              <a:rPr sz="1500" b="0" i="0">
                <a:solidFill>
                  <a:srgbClr val="1B1B1E"/>
                </a:solidFill>
                <a:latin typeface="Times New Roman"/>
              </a:rPr>
              <a:t> Chuyển đổi thông báo lỗi thô của compiler thành ngôn ngữ sư phạm dễ hiểu, giúp học viên nhận rõ dòng code lỗi cú pháp hoặc logic.</a:t>
            </a:r>
          </a:p>
          <a:p>
            <a:pPr algn="l">
              <a:lnSpc>
                <a:spcPct val="115000"/>
              </a:lnSpc>
              <a:spcAft>
                <a:spcPts val="1200"/>
              </a:spcAft>
            </a:pPr>
            <a:r>
              <a:rPr sz="1500" b="1" i="0">
                <a:solidFill>
                  <a:srgbClr val="1E5591"/>
                </a:solidFill>
                <a:latin typeface="Times New Roman"/>
              </a:rPr>
              <a:t>•  AI Code Reviewer định hướng tối ưu:</a:t>
            </a:r>
            <a:r>
              <a:rPr sz="1500" b="0" i="0">
                <a:solidFill>
                  <a:srgbClr val="1B1B1E"/>
                </a:solidFill>
                <a:latin typeface="Times New Roman"/>
              </a:rPr>
              <a:t> Đề xuất tối ưu hóa thuật toán (như chuyển nested loop O(N^2) thành map O(N) ở JS/Python hoặc tối ưu index ở SQL) nhưng TUYỆT ĐỐI không viết hộ code, bảo vệ tính sư phạm chủ động.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pPr algn="l">
              <a:lnSpc>
                <a:spcPct val="115000"/>
              </a:lnSpc>
              <a:spcAft>
                <a:spcPts val="0"/>
              </a:spcAft>
            </a:pPr>
            <a:r>
              <a:rPr sz="2400" b="1" i="0">
                <a:solidFill>
                  <a:srgbClr val="2B2D42"/>
                </a:solidFill>
                <a:latin typeface="Times New Roman"/>
              </a:rPr>
              <a:t>8. TRỢ GIẢNG AI SOCRATIC &amp; CẢNH BÁO BẾ TẮC (STUCK)</a:t>
            </a:r>
          </a:p>
        </p:txBody>
      </p:sp>
      <p:sp>
        <p:nvSpPr>
          <p:cNvPr id="3" name="Rectangle 2"/>
          <p:cNvSpPr/>
          <p:nvPr/>
        </p:nvSpPr>
        <p:spPr>
          <a:xfrm>
            <a:off x="731520" y="1051560"/>
            <a:ext cx="10725912" cy="18288"/>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5120640" cy="4754880"/>
          </a:xfrm>
          <a:prstGeom prst="rect">
            <a:avLst/>
          </a:prstGeom>
          <a:noFill/>
        </p:spPr>
        <p:txBody>
          <a:bodyPr wrap="square" lIns="0" tIns="0" rIns="0" bIns="0">
            <a:spAutoFit/>
          </a:bodyPr>
          <a:lstStyle/>
          <a:p>
            <a:pPr algn="l">
              <a:lnSpc>
                <a:spcPct val="115000"/>
              </a:lnSpc>
              <a:spcAft>
                <a:spcPts val="1200"/>
              </a:spcAft>
            </a:pPr>
            <a:r>
              <a:rPr sz="1600" b="1" i="0" dirty="0">
                <a:solidFill>
                  <a:srgbClr val="1E5591"/>
                </a:solidFill>
                <a:latin typeface="Times New Roman"/>
              </a:rPr>
              <a:t>TRỢ GIẢNG SOCRATIC 24/7:</a:t>
            </a:r>
          </a:p>
          <a:p>
            <a:pPr algn="l">
              <a:lnSpc>
                <a:spcPct val="115000"/>
              </a:lnSpc>
              <a:spcAft>
                <a:spcPts val="1000"/>
              </a:spcAft>
            </a:pPr>
            <a:r>
              <a:rPr sz="1400" b="0" i="0" dirty="0">
                <a:solidFill>
                  <a:srgbClr val="1B1B1E"/>
                </a:solidFill>
                <a:latin typeface="Times New Roman"/>
              </a:rPr>
              <a:t>•  </a:t>
            </a:r>
            <a:r>
              <a:rPr sz="1400" b="0" i="0" dirty="0" err="1">
                <a:solidFill>
                  <a:srgbClr val="1B1B1E"/>
                </a:solidFill>
                <a:latin typeface="Times New Roman"/>
              </a:rPr>
              <a:t>Hoạt</a:t>
            </a:r>
            <a:r>
              <a:rPr sz="1400" b="0" i="0" dirty="0">
                <a:solidFill>
                  <a:srgbClr val="1B1B1E"/>
                </a:solidFill>
                <a:latin typeface="Times New Roman"/>
              </a:rPr>
              <a:t> </a:t>
            </a:r>
            <a:r>
              <a:rPr sz="1400" b="0" i="0" dirty="0" err="1">
                <a:solidFill>
                  <a:srgbClr val="1B1B1E"/>
                </a:solidFill>
                <a:latin typeface="Times New Roman"/>
              </a:rPr>
              <a:t>động</a:t>
            </a:r>
            <a:r>
              <a:rPr sz="1400" b="0" i="0" dirty="0">
                <a:solidFill>
                  <a:srgbClr val="1B1B1E"/>
                </a:solidFill>
                <a:latin typeface="Times New Roman"/>
              </a:rPr>
              <a:t> </a:t>
            </a:r>
            <a:r>
              <a:rPr sz="1400" b="0" i="0" dirty="0" err="1">
                <a:solidFill>
                  <a:srgbClr val="1B1B1E"/>
                </a:solidFill>
                <a:latin typeface="Times New Roman"/>
              </a:rPr>
              <a:t>ngay</a:t>
            </a:r>
            <a:r>
              <a:rPr sz="1400" b="0" i="0" dirty="0">
                <a:solidFill>
                  <a:srgbClr val="1B1B1E"/>
                </a:solidFill>
                <a:latin typeface="Times New Roman"/>
              </a:rPr>
              <a:t> </a:t>
            </a:r>
            <a:r>
              <a:rPr sz="1400" b="0" i="0" dirty="0" err="1">
                <a:solidFill>
                  <a:srgbClr val="1B1B1E"/>
                </a:solidFill>
                <a:latin typeface="Times New Roman"/>
              </a:rPr>
              <a:t>cạnh</a:t>
            </a:r>
            <a:r>
              <a:rPr sz="1400" b="0" i="0" dirty="0">
                <a:solidFill>
                  <a:srgbClr val="1B1B1E"/>
                </a:solidFill>
                <a:latin typeface="Times New Roman"/>
              </a:rPr>
              <a:t> Coding Workspace, </a:t>
            </a:r>
            <a:r>
              <a:rPr sz="1400" b="0" i="0" dirty="0" err="1">
                <a:solidFill>
                  <a:srgbClr val="1B1B1E"/>
                </a:solidFill>
                <a:latin typeface="Times New Roman"/>
              </a:rPr>
              <a:t>tự</a:t>
            </a:r>
            <a:r>
              <a:rPr sz="1400" b="0" i="0" dirty="0">
                <a:solidFill>
                  <a:srgbClr val="1B1B1E"/>
                </a:solidFill>
                <a:latin typeface="Times New Roman"/>
              </a:rPr>
              <a:t> </a:t>
            </a:r>
            <a:r>
              <a:rPr sz="1400" b="0" i="0" dirty="0" err="1">
                <a:solidFill>
                  <a:srgbClr val="1B1B1E"/>
                </a:solidFill>
                <a:latin typeface="Times New Roman"/>
              </a:rPr>
              <a:t>nạp</a:t>
            </a:r>
            <a:r>
              <a:rPr sz="1400" b="0" i="0" dirty="0">
                <a:solidFill>
                  <a:srgbClr val="1B1B1E"/>
                </a:solidFill>
                <a:latin typeface="Times New Roman"/>
              </a:rPr>
              <a:t> </a:t>
            </a:r>
            <a:r>
              <a:rPr sz="1400" b="0" i="0" dirty="0" err="1">
                <a:solidFill>
                  <a:srgbClr val="1B1B1E"/>
                </a:solidFill>
                <a:latin typeface="Times New Roman"/>
              </a:rPr>
              <a:t>ngữ</a:t>
            </a:r>
            <a:r>
              <a:rPr sz="1400" b="0" i="0" dirty="0">
                <a:solidFill>
                  <a:srgbClr val="1B1B1E"/>
                </a:solidFill>
                <a:latin typeface="Times New Roman"/>
              </a:rPr>
              <a:t> </a:t>
            </a:r>
            <a:r>
              <a:rPr sz="1400" b="0" i="0" dirty="0" err="1">
                <a:solidFill>
                  <a:srgbClr val="1B1B1E"/>
                </a:solidFill>
                <a:latin typeface="Times New Roman"/>
              </a:rPr>
              <a:t>cảnh</a:t>
            </a:r>
            <a:r>
              <a:rPr sz="1400" b="0" i="0" dirty="0">
                <a:solidFill>
                  <a:srgbClr val="1B1B1E"/>
                </a:solidFill>
                <a:latin typeface="Times New Roman"/>
              </a:rPr>
              <a:t> code </a:t>
            </a:r>
            <a:r>
              <a:rPr sz="1400" b="0" i="0" dirty="0" err="1">
                <a:solidFill>
                  <a:srgbClr val="1B1B1E"/>
                </a:solidFill>
                <a:latin typeface="Times New Roman"/>
              </a:rPr>
              <a:t>hiện</a:t>
            </a:r>
            <a:r>
              <a:rPr sz="1400" b="0" i="0" dirty="0">
                <a:solidFill>
                  <a:srgbClr val="1B1B1E"/>
                </a:solidFill>
                <a:latin typeface="Times New Roman"/>
              </a:rPr>
              <a:t> </a:t>
            </a:r>
            <a:r>
              <a:rPr sz="1400" b="0" i="0" dirty="0" err="1">
                <a:solidFill>
                  <a:srgbClr val="1B1B1E"/>
                </a:solidFill>
                <a:latin typeface="Times New Roman"/>
              </a:rPr>
              <a:t>tại</a:t>
            </a:r>
            <a:r>
              <a:rPr sz="1400" b="0" i="0" dirty="0">
                <a:solidFill>
                  <a:srgbClr val="1B1B1E"/>
                </a:solidFill>
                <a:latin typeface="Times New Roman"/>
              </a:rPr>
              <a:t>, </a:t>
            </a:r>
            <a:r>
              <a:rPr sz="1400" b="0" i="0" dirty="0" err="1">
                <a:solidFill>
                  <a:srgbClr val="1B1B1E"/>
                </a:solidFill>
                <a:latin typeface="Times New Roman"/>
              </a:rPr>
              <a:t>đề</a:t>
            </a:r>
            <a:r>
              <a:rPr sz="1400" b="0" i="0" dirty="0">
                <a:solidFill>
                  <a:srgbClr val="1B1B1E"/>
                </a:solidFill>
                <a:latin typeface="Times New Roman"/>
              </a:rPr>
              <a:t> </a:t>
            </a:r>
            <a:r>
              <a:rPr sz="1400" b="0" i="0" dirty="0" err="1">
                <a:solidFill>
                  <a:srgbClr val="1B1B1E"/>
                </a:solidFill>
                <a:latin typeface="Times New Roman"/>
              </a:rPr>
              <a:t>bài</a:t>
            </a:r>
            <a:r>
              <a:rPr sz="1400" b="0" i="0" dirty="0">
                <a:solidFill>
                  <a:srgbClr val="1B1B1E"/>
                </a:solidFill>
                <a:latin typeface="Times New Roman"/>
              </a:rPr>
              <a:t> </a:t>
            </a:r>
            <a:r>
              <a:rPr sz="1400" b="0" i="0" dirty="0" err="1">
                <a:solidFill>
                  <a:srgbClr val="1B1B1E"/>
                </a:solidFill>
                <a:latin typeface="Times New Roman"/>
              </a:rPr>
              <a:t>và</a:t>
            </a:r>
            <a:r>
              <a:rPr sz="1400" b="0" i="0" dirty="0">
                <a:solidFill>
                  <a:srgbClr val="1B1B1E"/>
                </a:solidFill>
                <a:latin typeface="Times New Roman"/>
              </a:rPr>
              <a:t> </a:t>
            </a:r>
            <a:r>
              <a:rPr sz="1400" b="0" i="0" dirty="0" err="1">
                <a:solidFill>
                  <a:srgbClr val="1B1B1E"/>
                </a:solidFill>
                <a:latin typeface="Times New Roman"/>
              </a:rPr>
              <a:t>lịch</a:t>
            </a:r>
            <a:r>
              <a:rPr sz="1400" b="0" i="0" dirty="0">
                <a:solidFill>
                  <a:srgbClr val="1B1B1E"/>
                </a:solidFill>
                <a:latin typeface="Times New Roman"/>
              </a:rPr>
              <a:t> </a:t>
            </a:r>
            <a:r>
              <a:rPr sz="1400" b="0" i="0" dirty="0" err="1">
                <a:solidFill>
                  <a:srgbClr val="1B1B1E"/>
                </a:solidFill>
                <a:latin typeface="Times New Roman"/>
              </a:rPr>
              <a:t>sử</a:t>
            </a:r>
            <a:r>
              <a:rPr sz="1400" b="0" i="0" dirty="0">
                <a:solidFill>
                  <a:srgbClr val="1B1B1E"/>
                </a:solidFill>
                <a:latin typeface="Times New Roman"/>
              </a:rPr>
              <a:t>.</a:t>
            </a:r>
          </a:p>
          <a:p>
            <a:pPr algn="l">
              <a:lnSpc>
                <a:spcPct val="115000"/>
              </a:lnSpc>
              <a:spcAft>
                <a:spcPts val="1000"/>
              </a:spcAft>
            </a:pPr>
            <a:r>
              <a:rPr sz="1400" b="0" i="0" dirty="0">
                <a:solidFill>
                  <a:srgbClr val="1B1B1E"/>
                </a:solidFill>
                <a:latin typeface="Times New Roman"/>
              </a:rPr>
              <a:t>•  </a:t>
            </a:r>
            <a:r>
              <a:rPr sz="1400" b="0" i="0" dirty="0" err="1">
                <a:solidFill>
                  <a:srgbClr val="1B1B1E"/>
                </a:solidFill>
                <a:latin typeface="Times New Roman"/>
              </a:rPr>
              <a:t>Sử</a:t>
            </a:r>
            <a:r>
              <a:rPr sz="1400" b="0" i="0" dirty="0">
                <a:solidFill>
                  <a:srgbClr val="1B1B1E"/>
                </a:solidFill>
                <a:latin typeface="Times New Roman"/>
              </a:rPr>
              <a:t> </a:t>
            </a:r>
            <a:r>
              <a:rPr sz="1400" b="0" i="0" dirty="0" err="1">
                <a:solidFill>
                  <a:srgbClr val="1B1B1E"/>
                </a:solidFill>
                <a:latin typeface="Times New Roman"/>
              </a:rPr>
              <a:t>dụng</a:t>
            </a:r>
            <a:r>
              <a:rPr sz="1400" b="0" i="0" dirty="0">
                <a:solidFill>
                  <a:srgbClr val="1B1B1E"/>
                </a:solidFill>
                <a:latin typeface="Times New Roman"/>
              </a:rPr>
              <a:t> </a:t>
            </a:r>
            <a:r>
              <a:rPr sz="1400" b="0" i="0" dirty="0" err="1">
                <a:solidFill>
                  <a:srgbClr val="1B1B1E"/>
                </a:solidFill>
                <a:latin typeface="Times New Roman"/>
              </a:rPr>
              <a:t>phương</a:t>
            </a:r>
            <a:r>
              <a:rPr sz="1400" b="0" i="0" dirty="0">
                <a:solidFill>
                  <a:srgbClr val="1B1B1E"/>
                </a:solidFill>
                <a:latin typeface="Times New Roman"/>
              </a:rPr>
              <a:t> </a:t>
            </a:r>
            <a:r>
              <a:rPr sz="1400" b="0" i="0" dirty="0" err="1">
                <a:solidFill>
                  <a:srgbClr val="1B1B1E"/>
                </a:solidFill>
                <a:latin typeface="Times New Roman"/>
              </a:rPr>
              <a:t>pháp</a:t>
            </a:r>
            <a:r>
              <a:rPr sz="1400" b="0" i="0" dirty="0">
                <a:solidFill>
                  <a:srgbClr val="1B1B1E"/>
                </a:solidFill>
                <a:latin typeface="Times New Roman"/>
              </a:rPr>
              <a:t> </a:t>
            </a:r>
            <a:r>
              <a:rPr sz="1400" b="0" i="0" dirty="0" err="1">
                <a:solidFill>
                  <a:srgbClr val="1B1B1E"/>
                </a:solidFill>
                <a:latin typeface="Times New Roman"/>
              </a:rPr>
              <a:t>đối</a:t>
            </a:r>
            <a:r>
              <a:rPr sz="1400" b="0" i="0" dirty="0">
                <a:solidFill>
                  <a:srgbClr val="1B1B1E"/>
                </a:solidFill>
                <a:latin typeface="Times New Roman"/>
              </a:rPr>
              <a:t> </a:t>
            </a:r>
            <a:r>
              <a:rPr sz="1400" b="0" i="0" dirty="0" err="1">
                <a:solidFill>
                  <a:srgbClr val="1B1B1E"/>
                </a:solidFill>
                <a:latin typeface="Times New Roman"/>
              </a:rPr>
              <a:t>thoại</a:t>
            </a:r>
            <a:r>
              <a:rPr sz="1400" b="0" i="0" dirty="0">
                <a:solidFill>
                  <a:srgbClr val="1B1B1E"/>
                </a:solidFill>
                <a:latin typeface="Times New Roman"/>
              </a:rPr>
              <a:t> Socratic, </a:t>
            </a:r>
            <a:r>
              <a:rPr sz="1400" b="0" i="0" dirty="0" err="1">
                <a:solidFill>
                  <a:srgbClr val="1B1B1E"/>
                </a:solidFill>
                <a:latin typeface="Times New Roman"/>
              </a:rPr>
              <a:t>chỉ</a:t>
            </a:r>
            <a:r>
              <a:rPr sz="1400" b="0" i="0" dirty="0">
                <a:solidFill>
                  <a:srgbClr val="1B1B1E"/>
                </a:solidFill>
                <a:latin typeface="Times New Roman"/>
              </a:rPr>
              <a:t> </a:t>
            </a:r>
            <a:r>
              <a:rPr sz="1400" b="0" i="0" dirty="0" err="1">
                <a:solidFill>
                  <a:srgbClr val="1B1B1E"/>
                </a:solidFill>
                <a:latin typeface="Times New Roman"/>
              </a:rPr>
              <a:t>gợi</a:t>
            </a:r>
            <a:r>
              <a:rPr sz="1400" b="0" i="0" dirty="0">
                <a:solidFill>
                  <a:srgbClr val="1B1B1E"/>
                </a:solidFill>
                <a:latin typeface="Times New Roman"/>
              </a:rPr>
              <a:t> ý </a:t>
            </a:r>
            <a:r>
              <a:rPr sz="1400" b="0" i="0" dirty="0" err="1">
                <a:solidFill>
                  <a:srgbClr val="1B1B1E"/>
                </a:solidFill>
                <a:latin typeface="Times New Roman"/>
              </a:rPr>
              <a:t>định</a:t>
            </a:r>
            <a:r>
              <a:rPr sz="1400" b="0" i="0" dirty="0">
                <a:solidFill>
                  <a:srgbClr val="1B1B1E"/>
                </a:solidFill>
                <a:latin typeface="Times New Roman"/>
              </a:rPr>
              <a:t> </a:t>
            </a:r>
            <a:r>
              <a:rPr sz="1400" b="0" i="0" dirty="0" err="1">
                <a:solidFill>
                  <a:srgbClr val="1B1B1E"/>
                </a:solidFill>
                <a:latin typeface="Times New Roman"/>
              </a:rPr>
              <a:t>hướng</a:t>
            </a:r>
            <a:r>
              <a:rPr sz="1400" b="0" i="0" dirty="0">
                <a:solidFill>
                  <a:srgbClr val="1B1B1E"/>
                </a:solidFill>
                <a:latin typeface="Times New Roman"/>
              </a:rPr>
              <a:t> </a:t>
            </a:r>
            <a:r>
              <a:rPr sz="1400" b="0" i="0" dirty="0" err="1">
                <a:solidFill>
                  <a:srgbClr val="1B1B1E"/>
                </a:solidFill>
                <a:latin typeface="Times New Roman"/>
              </a:rPr>
              <a:t>bằng</a:t>
            </a:r>
            <a:r>
              <a:rPr sz="1400" b="0" i="0" dirty="0">
                <a:solidFill>
                  <a:srgbClr val="1B1B1E"/>
                </a:solidFill>
                <a:latin typeface="Times New Roman"/>
              </a:rPr>
              <a:t> </a:t>
            </a:r>
            <a:r>
              <a:rPr sz="1400" b="0" i="0" dirty="0" err="1">
                <a:solidFill>
                  <a:srgbClr val="1B1B1E"/>
                </a:solidFill>
                <a:latin typeface="Times New Roman"/>
              </a:rPr>
              <a:t>các</a:t>
            </a:r>
            <a:r>
              <a:rPr sz="1400" b="0" i="0" dirty="0">
                <a:solidFill>
                  <a:srgbClr val="1B1B1E"/>
                </a:solidFill>
                <a:latin typeface="Times New Roman"/>
              </a:rPr>
              <a:t> </a:t>
            </a:r>
            <a:r>
              <a:rPr sz="1400" b="0" i="0" dirty="0" err="1">
                <a:solidFill>
                  <a:srgbClr val="1B1B1E"/>
                </a:solidFill>
                <a:latin typeface="Times New Roman"/>
              </a:rPr>
              <a:t>câu</a:t>
            </a:r>
            <a:r>
              <a:rPr sz="1400" b="0" i="0" dirty="0">
                <a:solidFill>
                  <a:srgbClr val="1B1B1E"/>
                </a:solidFill>
                <a:latin typeface="Times New Roman"/>
              </a:rPr>
              <a:t> </a:t>
            </a:r>
            <a:r>
              <a:rPr sz="1400" b="0" i="0" dirty="0" err="1">
                <a:solidFill>
                  <a:srgbClr val="1B1B1E"/>
                </a:solidFill>
                <a:latin typeface="Times New Roman"/>
              </a:rPr>
              <a:t>hỏi</a:t>
            </a:r>
            <a:r>
              <a:rPr sz="1400" b="0" i="0" dirty="0">
                <a:solidFill>
                  <a:srgbClr val="1B1B1E"/>
                </a:solidFill>
                <a:latin typeface="Times New Roman"/>
              </a:rPr>
              <a:t> </a:t>
            </a:r>
            <a:r>
              <a:rPr sz="1400" b="0" i="0" dirty="0" err="1">
                <a:solidFill>
                  <a:srgbClr val="1B1B1E"/>
                </a:solidFill>
                <a:latin typeface="Times New Roman"/>
              </a:rPr>
              <a:t>phản</a:t>
            </a:r>
            <a:r>
              <a:rPr sz="1400" b="0" i="0" dirty="0">
                <a:solidFill>
                  <a:srgbClr val="1B1B1E"/>
                </a:solidFill>
                <a:latin typeface="Times New Roman"/>
              </a:rPr>
              <a:t> </a:t>
            </a:r>
            <a:r>
              <a:rPr sz="1400" b="0" i="0" dirty="0" err="1">
                <a:solidFill>
                  <a:srgbClr val="1B1B1E"/>
                </a:solidFill>
                <a:latin typeface="Times New Roman"/>
              </a:rPr>
              <a:t>biện</a:t>
            </a:r>
            <a:r>
              <a:rPr sz="1400" b="0" i="0" dirty="0">
                <a:solidFill>
                  <a:srgbClr val="1B1B1E"/>
                </a:solidFill>
                <a:latin typeface="Times New Roman"/>
              </a:rPr>
              <a:t>, </a:t>
            </a:r>
            <a:r>
              <a:rPr sz="1400" b="0" i="0" dirty="0" err="1">
                <a:solidFill>
                  <a:srgbClr val="1B1B1E"/>
                </a:solidFill>
                <a:latin typeface="Times New Roman"/>
              </a:rPr>
              <a:t>hướng</a:t>
            </a:r>
            <a:r>
              <a:rPr sz="1400" b="0" i="0" dirty="0">
                <a:solidFill>
                  <a:srgbClr val="1B1B1E"/>
                </a:solidFill>
                <a:latin typeface="Times New Roman"/>
              </a:rPr>
              <a:t> </a:t>
            </a:r>
            <a:r>
              <a:rPr sz="1400" b="0" i="0" dirty="0" err="1">
                <a:solidFill>
                  <a:srgbClr val="1B1B1E"/>
                </a:solidFill>
                <a:latin typeface="Times New Roman"/>
              </a:rPr>
              <a:t>dẫn</a:t>
            </a:r>
            <a:r>
              <a:rPr sz="1400" b="0" i="0" dirty="0">
                <a:solidFill>
                  <a:srgbClr val="1B1B1E"/>
                </a:solidFill>
                <a:latin typeface="Times New Roman"/>
              </a:rPr>
              <a:t> </a:t>
            </a:r>
            <a:r>
              <a:rPr sz="1400" b="0" i="0" dirty="0" err="1">
                <a:solidFill>
                  <a:srgbClr val="1B1B1E"/>
                </a:solidFill>
                <a:latin typeface="Times New Roman"/>
              </a:rPr>
              <a:t>từng</a:t>
            </a:r>
            <a:r>
              <a:rPr sz="1400" b="0" i="0" dirty="0">
                <a:solidFill>
                  <a:srgbClr val="1B1B1E"/>
                </a:solidFill>
                <a:latin typeface="Times New Roman"/>
              </a:rPr>
              <a:t> </a:t>
            </a:r>
            <a:r>
              <a:rPr sz="1400" b="0" i="0" dirty="0" err="1">
                <a:solidFill>
                  <a:srgbClr val="1B1B1E"/>
                </a:solidFill>
                <a:latin typeface="Times New Roman"/>
              </a:rPr>
              <a:t>bước</a:t>
            </a:r>
            <a:r>
              <a:rPr sz="1400" b="0" i="0" dirty="0">
                <a:solidFill>
                  <a:srgbClr val="1B1B1E"/>
                </a:solidFill>
                <a:latin typeface="Times New Roman"/>
              </a:rPr>
              <a:t> </a:t>
            </a:r>
            <a:r>
              <a:rPr sz="1400" b="0" i="0" dirty="0" err="1">
                <a:solidFill>
                  <a:srgbClr val="1B1B1E"/>
                </a:solidFill>
                <a:latin typeface="Times New Roman"/>
              </a:rPr>
              <a:t>nhỏ</a:t>
            </a:r>
            <a:r>
              <a:rPr sz="1400" b="0" i="0" dirty="0">
                <a:solidFill>
                  <a:srgbClr val="1B1B1E"/>
                </a:solidFill>
                <a:latin typeface="Times New Roman"/>
              </a:rPr>
              <a:t> </a:t>
            </a:r>
            <a:r>
              <a:rPr sz="1400" b="0" i="0" dirty="0" err="1">
                <a:solidFill>
                  <a:srgbClr val="1B1B1E"/>
                </a:solidFill>
                <a:latin typeface="Times New Roman"/>
              </a:rPr>
              <a:t>thay</a:t>
            </a:r>
            <a:r>
              <a:rPr sz="1400" b="0" i="0" dirty="0">
                <a:solidFill>
                  <a:srgbClr val="1B1B1E"/>
                </a:solidFill>
                <a:latin typeface="Times New Roman"/>
              </a:rPr>
              <a:t> </a:t>
            </a:r>
            <a:r>
              <a:rPr sz="1400" b="0" i="0" dirty="0" err="1">
                <a:solidFill>
                  <a:srgbClr val="1B1B1E"/>
                </a:solidFill>
                <a:latin typeface="Times New Roman"/>
              </a:rPr>
              <a:t>vì</a:t>
            </a:r>
            <a:r>
              <a:rPr sz="1400" b="0" i="0" dirty="0">
                <a:solidFill>
                  <a:srgbClr val="1B1B1E"/>
                </a:solidFill>
                <a:latin typeface="Times New Roman"/>
              </a:rPr>
              <a:t> </a:t>
            </a:r>
            <a:r>
              <a:rPr sz="1400" b="0" i="0" dirty="0" err="1">
                <a:solidFill>
                  <a:srgbClr val="1B1B1E"/>
                </a:solidFill>
                <a:latin typeface="Times New Roman"/>
              </a:rPr>
              <a:t>đưa</a:t>
            </a:r>
            <a:r>
              <a:rPr sz="1400" b="0" i="0" dirty="0">
                <a:solidFill>
                  <a:srgbClr val="1B1B1E"/>
                </a:solidFill>
                <a:latin typeface="Times New Roman"/>
              </a:rPr>
              <a:t> </a:t>
            </a:r>
            <a:r>
              <a:rPr sz="1400" b="0" i="0" dirty="0" err="1">
                <a:solidFill>
                  <a:srgbClr val="1B1B1E"/>
                </a:solidFill>
                <a:latin typeface="Times New Roman"/>
              </a:rPr>
              <a:t>ra</a:t>
            </a:r>
            <a:r>
              <a:rPr sz="1400" b="0" i="0" dirty="0">
                <a:solidFill>
                  <a:srgbClr val="1B1B1E"/>
                </a:solidFill>
                <a:latin typeface="Times New Roman"/>
              </a:rPr>
              <a:t> </a:t>
            </a:r>
            <a:r>
              <a:rPr sz="1400" b="0" i="0" dirty="0" err="1">
                <a:solidFill>
                  <a:srgbClr val="1B1B1E"/>
                </a:solidFill>
                <a:latin typeface="Times New Roman"/>
              </a:rPr>
              <a:t>lời</a:t>
            </a:r>
            <a:r>
              <a:rPr sz="1400" b="0" i="0" dirty="0">
                <a:solidFill>
                  <a:srgbClr val="1B1B1E"/>
                </a:solidFill>
                <a:latin typeface="Times New Roman"/>
              </a:rPr>
              <a:t> </a:t>
            </a:r>
            <a:r>
              <a:rPr sz="1400" b="0" i="0" dirty="0" err="1">
                <a:solidFill>
                  <a:srgbClr val="1B1B1E"/>
                </a:solidFill>
                <a:latin typeface="Times New Roman"/>
              </a:rPr>
              <a:t>giải</a:t>
            </a:r>
            <a:r>
              <a:rPr sz="1400" b="0" i="0" dirty="0">
                <a:solidFill>
                  <a:srgbClr val="1B1B1E"/>
                </a:solidFill>
                <a:latin typeface="Times New Roman"/>
              </a:rPr>
              <a:t> </a:t>
            </a:r>
            <a:r>
              <a:rPr sz="1400" b="0" i="0" dirty="0" err="1">
                <a:solidFill>
                  <a:srgbClr val="1B1B1E"/>
                </a:solidFill>
                <a:latin typeface="Times New Roman"/>
              </a:rPr>
              <a:t>ăn</a:t>
            </a:r>
            <a:r>
              <a:rPr sz="1400" b="0" i="0" dirty="0">
                <a:solidFill>
                  <a:srgbClr val="1B1B1E"/>
                </a:solidFill>
                <a:latin typeface="Times New Roman"/>
              </a:rPr>
              <a:t> </a:t>
            </a:r>
            <a:r>
              <a:rPr sz="1400" b="0" i="0" dirty="0" err="1">
                <a:solidFill>
                  <a:srgbClr val="1B1B1E"/>
                </a:solidFill>
                <a:latin typeface="Times New Roman"/>
              </a:rPr>
              <a:t>sẵn</a:t>
            </a:r>
            <a:r>
              <a:rPr sz="1400" b="0" i="0" dirty="0">
                <a:solidFill>
                  <a:srgbClr val="1B1B1E"/>
                </a:solidFill>
                <a:latin typeface="Times New Roman"/>
              </a:rPr>
              <a:t>.</a:t>
            </a:r>
          </a:p>
        </p:txBody>
      </p:sp>
      <p:sp>
        <p:nvSpPr>
          <p:cNvPr id="5" name="TextBox 4"/>
          <p:cNvSpPr txBox="1"/>
          <p:nvPr/>
        </p:nvSpPr>
        <p:spPr>
          <a:xfrm>
            <a:off x="6217920" y="1371600"/>
            <a:ext cx="5120640" cy="4754880"/>
          </a:xfrm>
          <a:prstGeom prst="rect">
            <a:avLst/>
          </a:prstGeom>
          <a:noFill/>
        </p:spPr>
        <p:txBody>
          <a:bodyPr wrap="square" lIns="0" tIns="0" rIns="0" bIns="0">
            <a:spAutoFit/>
          </a:bodyPr>
          <a:lstStyle/>
          <a:p>
            <a:pPr algn="l">
              <a:lnSpc>
                <a:spcPct val="115000"/>
              </a:lnSpc>
              <a:spcAft>
                <a:spcPts val="1200"/>
              </a:spcAft>
            </a:pPr>
            <a:r>
              <a:rPr sz="1600" b="1" i="0" dirty="0">
                <a:solidFill>
                  <a:srgbClr val="E64C59"/>
                </a:solidFill>
                <a:latin typeface="Times New Roman"/>
              </a:rPr>
              <a:t>NGĂN NGỪA CHÁN NẢN / BỎ CUỘC:</a:t>
            </a:r>
          </a:p>
          <a:p>
            <a:pPr algn="l">
              <a:lnSpc>
                <a:spcPct val="115000"/>
              </a:lnSpc>
              <a:spcAft>
                <a:spcPts val="1000"/>
              </a:spcAft>
            </a:pPr>
            <a:r>
              <a:rPr sz="1400" b="0" i="0" dirty="0">
                <a:solidFill>
                  <a:srgbClr val="1B1B1E"/>
                </a:solidFill>
                <a:latin typeface="Times New Roman"/>
              </a:rPr>
              <a:t>•  Thu </a:t>
            </a:r>
            <a:r>
              <a:rPr sz="1400" b="0" i="0" dirty="0" err="1">
                <a:solidFill>
                  <a:srgbClr val="1B1B1E"/>
                </a:solidFill>
                <a:latin typeface="Times New Roman"/>
              </a:rPr>
              <a:t>thập</a:t>
            </a:r>
            <a:r>
              <a:rPr sz="1400" b="0" i="0" dirty="0">
                <a:solidFill>
                  <a:srgbClr val="1B1B1E"/>
                </a:solidFill>
                <a:latin typeface="Times New Roman"/>
              </a:rPr>
              <a:t> metrics </a:t>
            </a:r>
            <a:r>
              <a:rPr sz="1400" b="0" i="0" dirty="0" err="1">
                <a:solidFill>
                  <a:srgbClr val="1B1B1E"/>
                </a:solidFill>
                <a:latin typeface="Times New Roman"/>
              </a:rPr>
              <a:t>thời</a:t>
            </a:r>
            <a:r>
              <a:rPr sz="1400" b="0" i="0" dirty="0">
                <a:solidFill>
                  <a:srgbClr val="1B1B1E"/>
                </a:solidFill>
                <a:latin typeface="Times New Roman"/>
              </a:rPr>
              <a:t> </a:t>
            </a:r>
            <a:r>
              <a:rPr sz="1400" b="0" i="0" dirty="0" err="1">
                <a:solidFill>
                  <a:srgbClr val="1B1B1E"/>
                </a:solidFill>
                <a:latin typeface="Times New Roman"/>
              </a:rPr>
              <a:t>gian</a:t>
            </a:r>
            <a:r>
              <a:rPr sz="1400" b="0" i="0" dirty="0">
                <a:solidFill>
                  <a:srgbClr val="1B1B1E"/>
                </a:solidFill>
                <a:latin typeface="Times New Roman"/>
              </a:rPr>
              <a:t> </a:t>
            </a:r>
            <a:r>
              <a:rPr sz="1400" b="0" i="0" dirty="0" err="1">
                <a:solidFill>
                  <a:srgbClr val="1B1B1E"/>
                </a:solidFill>
                <a:latin typeface="Times New Roman"/>
              </a:rPr>
              <a:t>gõ</a:t>
            </a:r>
            <a:r>
              <a:rPr sz="1400" b="0" i="0" dirty="0">
                <a:solidFill>
                  <a:srgbClr val="1B1B1E"/>
                </a:solidFill>
                <a:latin typeface="Times New Roman"/>
              </a:rPr>
              <a:t> code, attempt count, </a:t>
            </a:r>
            <a:r>
              <a:rPr sz="1400" b="0" i="0" dirty="0" err="1">
                <a:solidFill>
                  <a:srgbClr val="1B1B1E"/>
                </a:solidFill>
                <a:latin typeface="Times New Roman"/>
              </a:rPr>
              <a:t>loại</a:t>
            </a:r>
            <a:r>
              <a:rPr sz="1400" b="0" i="0" dirty="0">
                <a:solidFill>
                  <a:srgbClr val="1B1B1E"/>
                </a:solidFill>
                <a:latin typeface="Times New Roman"/>
              </a:rPr>
              <a:t> </a:t>
            </a:r>
            <a:r>
              <a:rPr sz="1400" b="0" i="0" dirty="0" err="1">
                <a:solidFill>
                  <a:srgbClr val="1B1B1E"/>
                </a:solidFill>
                <a:latin typeface="Times New Roman"/>
              </a:rPr>
              <a:t>lỗi</a:t>
            </a:r>
            <a:r>
              <a:rPr sz="1400" b="0" i="0" dirty="0">
                <a:solidFill>
                  <a:srgbClr val="1B1B1E"/>
                </a:solidFill>
                <a:latin typeface="Times New Roman"/>
              </a:rPr>
              <a:t> </a:t>
            </a:r>
            <a:r>
              <a:rPr sz="1400" b="0" i="0" dirty="0" err="1">
                <a:solidFill>
                  <a:srgbClr val="1B1B1E"/>
                </a:solidFill>
                <a:latin typeface="Times New Roman"/>
              </a:rPr>
              <a:t>để</a:t>
            </a:r>
            <a:r>
              <a:rPr sz="1400" b="0" i="0" dirty="0">
                <a:solidFill>
                  <a:srgbClr val="1B1B1E"/>
                </a:solidFill>
                <a:latin typeface="Times New Roman"/>
              </a:rPr>
              <a:t> </a:t>
            </a:r>
            <a:r>
              <a:rPr sz="1400" b="0" i="0" dirty="0" err="1">
                <a:solidFill>
                  <a:srgbClr val="1B1B1E"/>
                </a:solidFill>
                <a:latin typeface="Times New Roman"/>
              </a:rPr>
              <a:t>phân</a:t>
            </a:r>
            <a:r>
              <a:rPr sz="1400" b="0" i="0" dirty="0">
                <a:solidFill>
                  <a:srgbClr val="1B1B1E"/>
                </a:solidFill>
                <a:latin typeface="Times New Roman"/>
              </a:rPr>
              <a:t> </a:t>
            </a:r>
            <a:r>
              <a:rPr sz="1400" b="0" i="0" dirty="0" err="1">
                <a:solidFill>
                  <a:srgbClr val="1B1B1E"/>
                </a:solidFill>
                <a:latin typeface="Times New Roman"/>
              </a:rPr>
              <a:t>cụm</a:t>
            </a:r>
            <a:r>
              <a:rPr sz="1400" b="0" i="0" dirty="0">
                <a:solidFill>
                  <a:srgbClr val="1B1B1E"/>
                </a:solidFill>
                <a:latin typeface="Times New Roman"/>
              </a:rPr>
              <a:t> </a:t>
            </a:r>
            <a:r>
              <a:rPr sz="1400" b="0" i="0" dirty="0" err="1">
                <a:solidFill>
                  <a:srgbClr val="1B1B1E"/>
                </a:solidFill>
                <a:latin typeface="Times New Roman"/>
              </a:rPr>
              <a:t>người</a:t>
            </a:r>
            <a:r>
              <a:rPr sz="1400" b="0" i="0" dirty="0">
                <a:solidFill>
                  <a:srgbClr val="1B1B1E"/>
                </a:solidFill>
                <a:latin typeface="Times New Roman"/>
              </a:rPr>
              <a:t> </a:t>
            </a:r>
            <a:r>
              <a:rPr sz="1400" b="0" i="0" dirty="0" err="1">
                <a:solidFill>
                  <a:srgbClr val="1B1B1E"/>
                </a:solidFill>
                <a:latin typeface="Times New Roman"/>
              </a:rPr>
              <a:t>học</a:t>
            </a:r>
            <a:r>
              <a:rPr sz="1400" b="0" i="0" dirty="0">
                <a:solidFill>
                  <a:srgbClr val="1B1B1E"/>
                </a:solidFill>
                <a:latin typeface="Times New Roman"/>
              </a:rPr>
              <a:t> (K-Means/DBSCAN).</a:t>
            </a:r>
          </a:p>
          <a:p>
            <a:pPr algn="l">
              <a:lnSpc>
                <a:spcPct val="115000"/>
              </a:lnSpc>
              <a:spcAft>
                <a:spcPts val="1000"/>
              </a:spcAft>
            </a:pPr>
            <a:r>
              <a:rPr sz="1400" b="0" i="0" dirty="0">
                <a:solidFill>
                  <a:srgbClr val="1B1B1E"/>
                </a:solidFill>
                <a:latin typeface="Times New Roman"/>
              </a:rPr>
              <a:t>•  Khi </a:t>
            </a:r>
            <a:r>
              <a:rPr sz="1400" b="0" i="0" dirty="0" err="1">
                <a:solidFill>
                  <a:srgbClr val="1B1B1E"/>
                </a:solidFill>
                <a:latin typeface="Times New Roman"/>
              </a:rPr>
              <a:t>phát</a:t>
            </a:r>
            <a:r>
              <a:rPr sz="1400" b="0" i="0" dirty="0">
                <a:solidFill>
                  <a:srgbClr val="1B1B1E"/>
                </a:solidFill>
                <a:latin typeface="Times New Roman"/>
              </a:rPr>
              <a:t> </a:t>
            </a:r>
            <a:r>
              <a:rPr sz="1400" b="0" i="0" dirty="0" err="1">
                <a:solidFill>
                  <a:srgbClr val="1B1B1E"/>
                </a:solidFill>
                <a:latin typeface="Times New Roman"/>
              </a:rPr>
              <a:t>hiện</a:t>
            </a:r>
            <a:r>
              <a:rPr sz="1400" b="0" i="0" dirty="0">
                <a:solidFill>
                  <a:srgbClr val="1B1B1E"/>
                </a:solidFill>
                <a:latin typeface="Times New Roman"/>
              </a:rPr>
              <a:t> </a:t>
            </a:r>
            <a:r>
              <a:rPr sz="1400" b="0" i="0" dirty="0" err="1">
                <a:solidFill>
                  <a:srgbClr val="1B1B1E"/>
                </a:solidFill>
                <a:latin typeface="Times New Roman"/>
              </a:rPr>
              <a:t>lỗi</a:t>
            </a:r>
            <a:r>
              <a:rPr sz="1400" b="0" i="0" dirty="0">
                <a:solidFill>
                  <a:srgbClr val="1B1B1E"/>
                </a:solidFill>
                <a:latin typeface="Times New Roman"/>
              </a:rPr>
              <a:t> </a:t>
            </a:r>
            <a:r>
              <a:rPr sz="1400" b="0" i="0" dirty="0" err="1">
                <a:solidFill>
                  <a:srgbClr val="1B1B1E"/>
                </a:solidFill>
                <a:latin typeface="Times New Roman"/>
              </a:rPr>
              <a:t>liên</a:t>
            </a:r>
            <a:r>
              <a:rPr sz="1400" b="0" i="0" dirty="0">
                <a:solidFill>
                  <a:srgbClr val="1B1B1E"/>
                </a:solidFill>
                <a:latin typeface="Times New Roman"/>
              </a:rPr>
              <a:t> </a:t>
            </a:r>
            <a:r>
              <a:rPr sz="1400" b="0" i="0" dirty="0" err="1">
                <a:solidFill>
                  <a:srgbClr val="1B1B1E"/>
                </a:solidFill>
                <a:latin typeface="Times New Roman"/>
              </a:rPr>
              <a:t>tiếp</a:t>
            </a:r>
            <a:r>
              <a:rPr sz="1400" b="0" i="0" dirty="0">
                <a:solidFill>
                  <a:srgbClr val="1B1B1E"/>
                </a:solidFill>
                <a:latin typeface="Times New Roman"/>
              </a:rPr>
              <a:t> </a:t>
            </a:r>
            <a:r>
              <a:rPr sz="1400" b="0" i="0" dirty="0" err="1">
                <a:solidFill>
                  <a:srgbClr val="1B1B1E"/>
                </a:solidFill>
                <a:latin typeface="Times New Roman"/>
              </a:rPr>
              <a:t>hoặc</a:t>
            </a:r>
            <a:r>
              <a:rPr sz="1400" b="0" i="0" dirty="0">
                <a:solidFill>
                  <a:srgbClr val="1B1B1E"/>
                </a:solidFill>
                <a:latin typeface="Times New Roman"/>
              </a:rPr>
              <a:t> </a:t>
            </a:r>
            <a:r>
              <a:rPr sz="1400" b="0" i="0" dirty="0" err="1">
                <a:solidFill>
                  <a:srgbClr val="1B1B1E"/>
                </a:solidFill>
                <a:latin typeface="Times New Roman"/>
              </a:rPr>
              <a:t>thời</a:t>
            </a:r>
            <a:r>
              <a:rPr sz="1400" b="0" i="0" dirty="0">
                <a:solidFill>
                  <a:srgbClr val="1B1B1E"/>
                </a:solidFill>
                <a:latin typeface="Times New Roman"/>
              </a:rPr>
              <a:t> </a:t>
            </a:r>
            <a:r>
              <a:rPr sz="1400" b="0" i="0" dirty="0" err="1">
                <a:solidFill>
                  <a:srgbClr val="1B1B1E"/>
                </a:solidFill>
                <a:latin typeface="Times New Roman"/>
              </a:rPr>
              <a:t>gian</a:t>
            </a:r>
            <a:r>
              <a:rPr sz="1400" b="0" i="0" dirty="0">
                <a:solidFill>
                  <a:srgbClr val="1B1B1E"/>
                </a:solidFill>
                <a:latin typeface="Times New Roman"/>
              </a:rPr>
              <a:t> </a:t>
            </a:r>
            <a:r>
              <a:rPr sz="1400" b="0" i="0" dirty="0" err="1">
                <a:solidFill>
                  <a:srgbClr val="1B1B1E"/>
                </a:solidFill>
                <a:latin typeface="Times New Roman"/>
              </a:rPr>
              <a:t>rỗng</a:t>
            </a:r>
            <a:r>
              <a:rPr sz="1400" b="0" i="0" dirty="0">
                <a:solidFill>
                  <a:srgbClr val="1B1B1E"/>
                </a:solidFill>
                <a:latin typeface="Times New Roman"/>
              </a:rPr>
              <a:t> </a:t>
            </a:r>
            <a:r>
              <a:rPr sz="1400" b="0" i="0" dirty="0" err="1">
                <a:solidFill>
                  <a:srgbClr val="1B1B1E"/>
                </a:solidFill>
                <a:latin typeface="Times New Roman"/>
              </a:rPr>
              <a:t>kéo</a:t>
            </a:r>
            <a:r>
              <a:rPr sz="1400" b="0" i="0" dirty="0">
                <a:solidFill>
                  <a:srgbClr val="1B1B1E"/>
                </a:solidFill>
                <a:latin typeface="Times New Roman"/>
              </a:rPr>
              <a:t> </a:t>
            </a:r>
            <a:r>
              <a:rPr sz="1400" b="0" i="0" dirty="0" err="1">
                <a:solidFill>
                  <a:srgbClr val="1B1B1E"/>
                </a:solidFill>
                <a:latin typeface="Times New Roman"/>
              </a:rPr>
              <a:t>dài</a:t>
            </a:r>
            <a:r>
              <a:rPr sz="1400" b="0" i="0" dirty="0">
                <a:solidFill>
                  <a:srgbClr val="1B1B1E"/>
                </a:solidFill>
                <a:latin typeface="Times New Roman"/>
              </a:rPr>
              <a:t> </a:t>
            </a:r>
            <a:r>
              <a:rPr sz="1400" b="0" i="0" dirty="0" err="1">
                <a:solidFill>
                  <a:srgbClr val="1B1B1E"/>
                </a:solidFill>
                <a:latin typeface="Times New Roman"/>
              </a:rPr>
              <a:t>thuộc</a:t>
            </a:r>
            <a:r>
              <a:rPr sz="1400" b="0" i="0" dirty="0">
                <a:solidFill>
                  <a:srgbClr val="1B1B1E"/>
                </a:solidFill>
                <a:latin typeface="Times New Roman"/>
              </a:rPr>
              <a:t> </a:t>
            </a:r>
            <a:r>
              <a:rPr sz="1400" b="0" i="0" dirty="0" err="1">
                <a:solidFill>
                  <a:srgbClr val="1B1B1E"/>
                </a:solidFill>
                <a:latin typeface="Times New Roman"/>
              </a:rPr>
              <a:t>cụm</a:t>
            </a:r>
            <a:r>
              <a:rPr sz="1400" b="0" i="0" dirty="0">
                <a:solidFill>
                  <a:srgbClr val="1B1B1E"/>
                </a:solidFill>
                <a:latin typeface="Times New Roman"/>
              </a:rPr>
              <a:t> 'Stuck' (</a:t>
            </a:r>
            <a:r>
              <a:rPr sz="1400" b="0" i="0" dirty="0" err="1">
                <a:solidFill>
                  <a:srgbClr val="1B1B1E"/>
                </a:solidFill>
                <a:latin typeface="Times New Roman"/>
              </a:rPr>
              <a:t>bế</a:t>
            </a:r>
            <a:r>
              <a:rPr sz="1400" b="0" i="0" dirty="0">
                <a:solidFill>
                  <a:srgbClr val="1B1B1E"/>
                </a:solidFill>
                <a:latin typeface="Times New Roman"/>
              </a:rPr>
              <a:t> </a:t>
            </a:r>
            <a:r>
              <a:rPr sz="1400" b="0" i="0" dirty="0" err="1">
                <a:solidFill>
                  <a:srgbClr val="1B1B1E"/>
                </a:solidFill>
                <a:latin typeface="Times New Roman"/>
              </a:rPr>
              <a:t>tắc</a:t>
            </a:r>
            <a:r>
              <a:rPr sz="1400" b="0" i="0" dirty="0">
                <a:solidFill>
                  <a:srgbClr val="1B1B1E"/>
                </a:solidFill>
                <a:latin typeface="Times New Roman"/>
              </a:rPr>
              <a:t>), Chatbot </a:t>
            </a:r>
            <a:r>
              <a:rPr sz="1400" b="0" i="0" dirty="0" err="1">
                <a:solidFill>
                  <a:srgbClr val="1B1B1E"/>
                </a:solidFill>
                <a:latin typeface="Times New Roman"/>
              </a:rPr>
              <a:t>tự</a:t>
            </a:r>
            <a:r>
              <a:rPr sz="1400" b="0" i="0" dirty="0">
                <a:solidFill>
                  <a:srgbClr val="1B1B1E"/>
                </a:solidFill>
                <a:latin typeface="Times New Roman"/>
              </a:rPr>
              <a:t> </a:t>
            </a:r>
            <a:r>
              <a:rPr sz="1400" b="0" i="0" dirty="0" err="1">
                <a:solidFill>
                  <a:srgbClr val="1B1B1E"/>
                </a:solidFill>
                <a:latin typeface="Times New Roman"/>
              </a:rPr>
              <a:t>động</a:t>
            </a:r>
            <a:r>
              <a:rPr sz="1400" b="0" i="0" dirty="0">
                <a:solidFill>
                  <a:srgbClr val="1B1B1E"/>
                </a:solidFill>
                <a:latin typeface="Times New Roman"/>
              </a:rPr>
              <a:t> </a:t>
            </a:r>
            <a:r>
              <a:rPr sz="1400" b="0" i="0" dirty="0" err="1">
                <a:solidFill>
                  <a:srgbClr val="1B1B1E"/>
                </a:solidFill>
                <a:latin typeface="Times New Roman"/>
              </a:rPr>
              <a:t>gợi</a:t>
            </a:r>
            <a:r>
              <a:rPr sz="1400" b="0" i="0" dirty="0">
                <a:solidFill>
                  <a:srgbClr val="1B1B1E"/>
                </a:solidFill>
                <a:latin typeface="Times New Roman"/>
              </a:rPr>
              <a:t> ý </a:t>
            </a:r>
            <a:r>
              <a:rPr sz="1400" b="0" i="0" dirty="0" err="1">
                <a:solidFill>
                  <a:srgbClr val="1B1B1E"/>
                </a:solidFill>
                <a:latin typeface="Times New Roman"/>
              </a:rPr>
              <a:t>chủ</a:t>
            </a:r>
            <a:r>
              <a:rPr sz="1400" b="0" i="0" dirty="0">
                <a:solidFill>
                  <a:srgbClr val="1B1B1E"/>
                </a:solidFill>
                <a:latin typeface="Times New Roman"/>
              </a:rPr>
              <a:t> </a:t>
            </a:r>
            <a:r>
              <a:rPr sz="1400" b="0" i="0" dirty="0" err="1">
                <a:solidFill>
                  <a:srgbClr val="1B1B1E"/>
                </a:solidFill>
                <a:latin typeface="Times New Roman"/>
              </a:rPr>
              <a:t>động</a:t>
            </a:r>
            <a:r>
              <a:rPr sz="1400" b="0" i="0" dirty="0">
                <a:solidFill>
                  <a:srgbClr val="1B1B1E"/>
                </a:solidFill>
                <a:latin typeface="Times New Roman"/>
              </a:rPr>
              <a:t>: '</a:t>
            </a:r>
            <a:r>
              <a:rPr sz="1400" b="0" i="0" dirty="0" err="1">
                <a:solidFill>
                  <a:srgbClr val="1B1B1E"/>
                </a:solidFill>
                <a:latin typeface="Times New Roman"/>
              </a:rPr>
              <a:t>Tôi</a:t>
            </a:r>
            <a:r>
              <a:rPr sz="1400" b="0" i="0" dirty="0">
                <a:solidFill>
                  <a:srgbClr val="1B1B1E"/>
                </a:solidFill>
                <a:latin typeface="Times New Roman"/>
              </a:rPr>
              <a:t> </a:t>
            </a:r>
            <a:r>
              <a:rPr sz="1400" b="0" i="0" dirty="0" err="1">
                <a:solidFill>
                  <a:srgbClr val="1B1B1E"/>
                </a:solidFill>
                <a:latin typeface="Times New Roman"/>
              </a:rPr>
              <a:t>thấy</a:t>
            </a:r>
            <a:r>
              <a:rPr sz="1400" b="0" i="0" dirty="0">
                <a:solidFill>
                  <a:srgbClr val="1B1B1E"/>
                </a:solidFill>
                <a:latin typeface="Times New Roman"/>
              </a:rPr>
              <a:t> </a:t>
            </a:r>
            <a:r>
              <a:rPr sz="1400" b="0" i="0" dirty="0" err="1">
                <a:solidFill>
                  <a:srgbClr val="1B1B1E"/>
                </a:solidFill>
                <a:latin typeface="Times New Roman"/>
              </a:rPr>
              <a:t>bạn</a:t>
            </a:r>
            <a:r>
              <a:rPr sz="1400" b="0" i="0" dirty="0">
                <a:solidFill>
                  <a:srgbClr val="1B1B1E"/>
                </a:solidFill>
                <a:latin typeface="Times New Roman"/>
              </a:rPr>
              <a:t> </a:t>
            </a:r>
            <a:r>
              <a:rPr sz="1400" b="0" i="0" dirty="0" err="1">
                <a:solidFill>
                  <a:srgbClr val="1B1B1E"/>
                </a:solidFill>
                <a:latin typeface="Times New Roman"/>
              </a:rPr>
              <a:t>bị</a:t>
            </a:r>
            <a:r>
              <a:rPr sz="1400" b="0" i="0" dirty="0">
                <a:solidFill>
                  <a:srgbClr val="1B1B1E"/>
                </a:solidFill>
                <a:latin typeface="Times New Roman"/>
              </a:rPr>
              <a:t> </a:t>
            </a:r>
            <a:r>
              <a:rPr sz="1400" b="0" i="0" dirty="0" err="1">
                <a:solidFill>
                  <a:srgbClr val="1B1B1E"/>
                </a:solidFill>
                <a:latin typeface="Times New Roman"/>
              </a:rPr>
              <a:t>lỗi</a:t>
            </a:r>
            <a:r>
              <a:rPr sz="1400" b="0" i="0" dirty="0">
                <a:solidFill>
                  <a:srgbClr val="1B1B1E"/>
                </a:solidFill>
                <a:latin typeface="Times New Roman"/>
              </a:rPr>
              <a:t> </a:t>
            </a:r>
            <a:r>
              <a:rPr sz="1400" b="0" i="0" dirty="0" err="1">
                <a:solidFill>
                  <a:srgbClr val="1B1B1E"/>
                </a:solidFill>
                <a:latin typeface="Times New Roman"/>
              </a:rPr>
              <a:t>IndexError</a:t>
            </a:r>
            <a:r>
              <a:rPr sz="1400" b="0" i="0" dirty="0">
                <a:solidFill>
                  <a:srgbClr val="1B1B1E"/>
                </a:solidFill>
                <a:latin typeface="Times New Roman"/>
              </a:rPr>
              <a:t> </a:t>
            </a:r>
            <a:r>
              <a:rPr sz="1400" b="0" i="0" dirty="0" err="1">
                <a:solidFill>
                  <a:srgbClr val="1B1B1E"/>
                </a:solidFill>
                <a:latin typeface="Times New Roman"/>
              </a:rPr>
              <a:t>tại</a:t>
            </a:r>
            <a:r>
              <a:rPr sz="1400" b="0" i="0" dirty="0">
                <a:solidFill>
                  <a:srgbClr val="1B1B1E"/>
                </a:solidFill>
                <a:latin typeface="Times New Roman"/>
              </a:rPr>
              <a:t> </a:t>
            </a:r>
            <a:r>
              <a:rPr sz="1400" b="0" i="0" dirty="0" err="1">
                <a:solidFill>
                  <a:srgbClr val="1B1B1E"/>
                </a:solidFill>
                <a:latin typeface="Times New Roman"/>
              </a:rPr>
              <a:t>dòng</a:t>
            </a:r>
            <a:r>
              <a:rPr sz="1400" b="0" i="0" dirty="0">
                <a:solidFill>
                  <a:srgbClr val="1B1B1E"/>
                </a:solidFill>
                <a:latin typeface="Times New Roman"/>
              </a:rPr>
              <a:t> </a:t>
            </a:r>
            <a:r>
              <a:rPr sz="1400" b="0" i="0" dirty="0" err="1">
                <a:solidFill>
                  <a:srgbClr val="1B1B1E"/>
                </a:solidFill>
                <a:latin typeface="Times New Roman"/>
              </a:rPr>
              <a:t>số</a:t>
            </a:r>
            <a:r>
              <a:rPr sz="1400" b="0" i="0" dirty="0">
                <a:solidFill>
                  <a:srgbClr val="1B1B1E"/>
                </a:solidFill>
                <a:latin typeface="Times New Roman"/>
              </a:rPr>
              <a:t> 5, </a:t>
            </a:r>
            <a:r>
              <a:rPr sz="1400" b="0" i="0" dirty="0" err="1">
                <a:solidFill>
                  <a:srgbClr val="1B1B1E"/>
                </a:solidFill>
                <a:latin typeface="Times New Roman"/>
              </a:rPr>
              <a:t>bạn</a:t>
            </a:r>
            <a:r>
              <a:rPr sz="1400" b="0" i="0" dirty="0">
                <a:solidFill>
                  <a:srgbClr val="1B1B1E"/>
                </a:solidFill>
                <a:latin typeface="Times New Roman"/>
              </a:rPr>
              <a:t> </a:t>
            </a:r>
            <a:r>
              <a:rPr sz="1400" b="0" i="0" dirty="0" err="1">
                <a:solidFill>
                  <a:srgbClr val="1B1B1E"/>
                </a:solidFill>
                <a:latin typeface="Times New Roman"/>
              </a:rPr>
              <a:t>cần</a:t>
            </a:r>
            <a:r>
              <a:rPr sz="1400" b="0" i="0" dirty="0">
                <a:solidFill>
                  <a:srgbClr val="1B1B1E"/>
                </a:solidFill>
                <a:latin typeface="Times New Roman"/>
              </a:rPr>
              <a:t> </a:t>
            </a:r>
            <a:r>
              <a:rPr sz="1400" b="0" i="0" dirty="0" err="1">
                <a:solidFill>
                  <a:srgbClr val="1B1B1E"/>
                </a:solidFill>
                <a:latin typeface="Times New Roman"/>
              </a:rPr>
              <a:t>tôi</a:t>
            </a:r>
            <a:r>
              <a:rPr sz="1400" b="0" i="0" dirty="0">
                <a:solidFill>
                  <a:srgbClr val="1B1B1E"/>
                </a:solidFill>
                <a:latin typeface="Times New Roman"/>
              </a:rPr>
              <a:t> </a:t>
            </a:r>
            <a:r>
              <a:rPr sz="1400" b="0" i="0" dirty="0" err="1">
                <a:solidFill>
                  <a:srgbClr val="1B1B1E"/>
                </a:solidFill>
                <a:latin typeface="Times New Roman"/>
              </a:rPr>
              <a:t>gợi</a:t>
            </a:r>
            <a:r>
              <a:rPr sz="1400" b="0" i="0" dirty="0">
                <a:solidFill>
                  <a:srgbClr val="1B1B1E"/>
                </a:solidFill>
                <a:latin typeface="Times New Roman"/>
              </a:rPr>
              <a:t> ý </a:t>
            </a:r>
            <a:r>
              <a:rPr sz="1400" b="0" i="0" dirty="0" err="1">
                <a:solidFill>
                  <a:srgbClr val="1B1B1E"/>
                </a:solidFill>
                <a:latin typeface="Times New Roman"/>
              </a:rPr>
              <a:t>về</a:t>
            </a:r>
            <a:r>
              <a:rPr sz="1400" b="0" i="0" dirty="0">
                <a:solidFill>
                  <a:srgbClr val="1B1B1E"/>
                </a:solidFill>
                <a:latin typeface="Times New Roman"/>
              </a:rPr>
              <a:t> </a:t>
            </a:r>
            <a:r>
              <a:rPr sz="1400" b="0" i="0" dirty="0" err="1">
                <a:solidFill>
                  <a:srgbClr val="1B1B1E"/>
                </a:solidFill>
                <a:latin typeface="Times New Roman"/>
              </a:rPr>
              <a:t>chỉ</a:t>
            </a:r>
            <a:r>
              <a:rPr sz="1400" b="0" i="0" dirty="0">
                <a:solidFill>
                  <a:srgbClr val="1B1B1E"/>
                </a:solidFill>
                <a:latin typeface="Times New Roman"/>
              </a:rPr>
              <a:t> </a:t>
            </a:r>
            <a:r>
              <a:rPr sz="1400" b="0" i="0" dirty="0" err="1">
                <a:solidFill>
                  <a:srgbClr val="1B1B1E"/>
                </a:solidFill>
                <a:latin typeface="Times New Roman"/>
              </a:rPr>
              <a:t>mục</a:t>
            </a:r>
            <a:r>
              <a:rPr sz="1400" b="0" i="0" dirty="0">
                <a:solidFill>
                  <a:srgbClr val="1B1B1E"/>
                </a:solidFill>
                <a:latin typeface="Times New Roman"/>
              </a:rPr>
              <a:t> </a:t>
            </a:r>
            <a:r>
              <a:rPr sz="1400" b="0" i="0" dirty="0" err="1">
                <a:solidFill>
                  <a:srgbClr val="1B1B1E"/>
                </a:solidFill>
                <a:latin typeface="Times New Roman"/>
              </a:rPr>
              <a:t>phần</a:t>
            </a:r>
            <a:r>
              <a:rPr sz="1400" b="0" i="0" dirty="0">
                <a:solidFill>
                  <a:srgbClr val="1B1B1E"/>
                </a:solidFill>
                <a:latin typeface="Times New Roman"/>
              </a:rPr>
              <a:t> </a:t>
            </a:r>
            <a:r>
              <a:rPr sz="1400" b="0" i="0" dirty="0" err="1">
                <a:solidFill>
                  <a:srgbClr val="1B1B1E"/>
                </a:solidFill>
                <a:latin typeface="Times New Roman"/>
              </a:rPr>
              <a:t>tử</a:t>
            </a:r>
            <a:r>
              <a:rPr sz="1400" b="0" i="0" dirty="0">
                <a:solidFill>
                  <a:srgbClr val="1B1B1E"/>
                </a:solidFill>
                <a:latin typeface="Times New Roman"/>
              </a:rPr>
              <a:t> </a:t>
            </a:r>
            <a:r>
              <a:rPr sz="1400" b="0" i="0" dirty="0" err="1">
                <a:solidFill>
                  <a:srgbClr val="1B1B1E"/>
                </a:solidFill>
                <a:latin typeface="Times New Roman"/>
              </a:rPr>
              <a:t>không</a:t>
            </a:r>
            <a:r>
              <a:rPr sz="1400" b="0" i="0" dirty="0">
                <a:solidFill>
                  <a:srgbClr val="1B1B1E"/>
                </a:solidFill>
                <a:latin typeface="Times New Roman"/>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pPr algn="l">
              <a:lnSpc>
                <a:spcPct val="115000"/>
              </a:lnSpc>
              <a:spcAft>
                <a:spcPts val="0"/>
              </a:spcAft>
            </a:pPr>
            <a:r>
              <a:rPr sz="2400" b="1" i="0">
                <a:solidFill>
                  <a:srgbClr val="2B2D42"/>
                </a:solidFill>
                <a:latin typeface="Times New Roman"/>
              </a:rPr>
              <a:t>9. AI-DRIVEN COURSE CONTENT &amp; TESTCASE GENERATOR</a:t>
            </a:r>
          </a:p>
        </p:txBody>
      </p:sp>
      <p:sp>
        <p:nvSpPr>
          <p:cNvPr id="3" name="Rectangle 2"/>
          <p:cNvSpPr/>
          <p:nvPr/>
        </p:nvSpPr>
        <p:spPr>
          <a:xfrm>
            <a:off x="731520" y="1051560"/>
            <a:ext cx="10725912" cy="18288"/>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725912" cy="4754880"/>
          </a:xfrm>
          <a:prstGeom prst="rect">
            <a:avLst/>
          </a:prstGeom>
          <a:noFill/>
        </p:spPr>
        <p:txBody>
          <a:bodyPr wrap="square" lIns="0" tIns="0" rIns="0" bIns="0">
            <a:spAutoFit/>
          </a:bodyPr>
          <a:lstStyle/>
          <a:p>
            <a:pPr algn="l">
              <a:lnSpc>
                <a:spcPct val="115000"/>
              </a:lnSpc>
              <a:spcAft>
                <a:spcPts val="1200"/>
              </a:spcAft>
            </a:pPr>
            <a:r>
              <a:rPr sz="1500" b="1" i="0" dirty="0">
                <a:solidFill>
                  <a:srgbClr val="1E5591"/>
                </a:solidFill>
                <a:latin typeface="Times New Roman"/>
              </a:rPr>
              <a:t>•  </a:t>
            </a:r>
            <a:r>
              <a:rPr sz="1500" b="1" i="0" dirty="0" err="1">
                <a:solidFill>
                  <a:srgbClr val="1E5591"/>
                </a:solidFill>
                <a:latin typeface="Times New Roman"/>
              </a:rPr>
              <a:t>Tự</a:t>
            </a:r>
            <a:r>
              <a:rPr sz="1500" b="1" i="0" dirty="0">
                <a:solidFill>
                  <a:srgbClr val="1E5591"/>
                </a:solidFill>
                <a:latin typeface="Times New Roman"/>
              </a:rPr>
              <a:t> </a:t>
            </a:r>
            <a:r>
              <a:rPr sz="1500" b="1" i="0" dirty="0" err="1">
                <a:solidFill>
                  <a:srgbClr val="1E5591"/>
                </a:solidFill>
                <a:latin typeface="Times New Roman"/>
              </a:rPr>
              <a:t>động</a:t>
            </a:r>
            <a:r>
              <a:rPr sz="1500" b="1" i="0" dirty="0">
                <a:solidFill>
                  <a:srgbClr val="1E5591"/>
                </a:solidFill>
                <a:latin typeface="Times New Roman"/>
              </a:rPr>
              <a:t> </a:t>
            </a:r>
            <a:r>
              <a:rPr sz="1500" b="1" i="0" dirty="0" err="1">
                <a:solidFill>
                  <a:srgbClr val="1E5591"/>
                </a:solidFill>
                <a:latin typeface="Times New Roman"/>
              </a:rPr>
              <a:t>xây</a:t>
            </a:r>
            <a:r>
              <a:rPr sz="1500" b="1" i="0" dirty="0">
                <a:solidFill>
                  <a:srgbClr val="1E5591"/>
                </a:solidFill>
                <a:latin typeface="Times New Roman"/>
              </a:rPr>
              <a:t> </a:t>
            </a:r>
            <a:r>
              <a:rPr sz="1500" b="1" i="0" dirty="0" err="1">
                <a:solidFill>
                  <a:srgbClr val="1E5591"/>
                </a:solidFill>
                <a:latin typeface="Times New Roman"/>
              </a:rPr>
              <a:t>dựng</a:t>
            </a:r>
            <a:r>
              <a:rPr sz="1500" b="1" i="0" dirty="0">
                <a:solidFill>
                  <a:srgbClr val="1E5591"/>
                </a:solidFill>
                <a:latin typeface="Times New Roman"/>
              </a:rPr>
              <a:t> </a:t>
            </a:r>
            <a:r>
              <a:rPr sz="1500" b="1" i="0" dirty="0" err="1">
                <a:solidFill>
                  <a:srgbClr val="1E5591"/>
                </a:solidFill>
                <a:latin typeface="Times New Roman"/>
              </a:rPr>
              <a:t>bài</a:t>
            </a:r>
            <a:r>
              <a:rPr sz="1500" b="1" i="0" dirty="0">
                <a:solidFill>
                  <a:srgbClr val="1E5591"/>
                </a:solidFill>
                <a:latin typeface="Times New Roman"/>
              </a:rPr>
              <a:t> </a:t>
            </a:r>
            <a:r>
              <a:rPr sz="1500" b="1" i="0" dirty="0" err="1">
                <a:solidFill>
                  <a:srgbClr val="1E5591"/>
                </a:solidFill>
                <a:latin typeface="Times New Roman"/>
              </a:rPr>
              <a:t>học</a:t>
            </a:r>
            <a:r>
              <a:rPr sz="1500" b="1" i="0" dirty="0">
                <a:solidFill>
                  <a:srgbClr val="1E5591"/>
                </a:solidFill>
                <a:latin typeface="Times New Roman"/>
              </a:rPr>
              <a:t> </a:t>
            </a:r>
            <a:r>
              <a:rPr sz="1500" b="1" i="0" dirty="0" err="1">
                <a:solidFill>
                  <a:srgbClr val="1E5591"/>
                </a:solidFill>
                <a:latin typeface="Times New Roman"/>
              </a:rPr>
              <a:t>lý</a:t>
            </a:r>
            <a:r>
              <a:rPr sz="1500" b="1" i="0" dirty="0">
                <a:solidFill>
                  <a:srgbClr val="1E5591"/>
                </a:solidFill>
                <a:latin typeface="Times New Roman"/>
              </a:rPr>
              <a:t> </a:t>
            </a:r>
            <a:r>
              <a:rPr sz="1500" b="1" i="0" dirty="0" err="1">
                <a:solidFill>
                  <a:srgbClr val="1E5591"/>
                </a:solidFill>
                <a:latin typeface="Times New Roman"/>
              </a:rPr>
              <a:t>thuyết</a:t>
            </a:r>
            <a:r>
              <a:rPr sz="1500" b="1" i="0" dirty="0">
                <a:solidFill>
                  <a:srgbClr val="1E5591"/>
                </a:solidFill>
                <a:latin typeface="Times New Roman"/>
              </a:rPr>
              <a:t>:</a:t>
            </a:r>
            <a:r>
              <a:rPr sz="1500" b="0" i="0" dirty="0">
                <a:solidFill>
                  <a:srgbClr val="1B1B1E"/>
                </a:solidFill>
                <a:latin typeface="Times New Roman"/>
              </a:rPr>
              <a:t> </a:t>
            </a:r>
            <a:r>
              <a:rPr sz="1500" b="0" i="0" dirty="0" err="1">
                <a:solidFill>
                  <a:srgbClr val="1B1B1E"/>
                </a:solidFill>
                <a:latin typeface="Times New Roman"/>
              </a:rPr>
              <a:t>Giáo</a:t>
            </a:r>
            <a:r>
              <a:rPr sz="1500" b="0" i="0" dirty="0">
                <a:solidFill>
                  <a:srgbClr val="1B1B1E"/>
                </a:solidFill>
                <a:latin typeface="Times New Roman"/>
              </a:rPr>
              <a:t> </a:t>
            </a:r>
            <a:r>
              <a:rPr sz="1500" b="0" i="0" dirty="0" err="1">
                <a:solidFill>
                  <a:srgbClr val="1B1B1E"/>
                </a:solidFill>
                <a:latin typeface="Times New Roman"/>
              </a:rPr>
              <a:t>viên</a:t>
            </a:r>
            <a:r>
              <a:rPr sz="1500" b="0" i="0" dirty="0">
                <a:solidFill>
                  <a:srgbClr val="1B1B1E"/>
                </a:solidFill>
                <a:latin typeface="Times New Roman"/>
              </a:rPr>
              <a:t> </a:t>
            </a:r>
            <a:r>
              <a:rPr sz="1500" b="0" i="0" dirty="0" err="1">
                <a:solidFill>
                  <a:srgbClr val="1B1B1E"/>
                </a:solidFill>
                <a:latin typeface="Times New Roman"/>
              </a:rPr>
              <a:t>chỉ</a:t>
            </a:r>
            <a:r>
              <a:rPr sz="1500" b="0" i="0" dirty="0">
                <a:solidFill>
                  <a:srgbClr val="1B1B1E"/>
                </a:solidFill>
                <a:latin typeface="Times New Roman"/>
              </a:rPr>
              <a:t> </a:t>
            </a:r>
            <a:r>
              <a:rPr sz="1500" b="0" i="0" dirty="0" err="1">
                <a:solidFill>
                  <a:srgbClr val="1B1B1E"/>
                </a:solidFill>
                <a:latin typeface="Times New Roman"/>
              </a:rPr>
              <a:t>cần</a:t>
            </a:r>
            <a:r>
              <a:rPr sz="1500" b="0" i="0" dirty="0">
                <a:solidFill>
                  <a:srgbClr val="1B1B1E"/>
                </a:solidFill>
                <a:latin typeface="Times New Roman"/>
              </a:rPr>
              <a:t> </a:t>
            </a:r>
            <a:r>
              <a:rPr sz="1500" b="0" i="0" dirty="0" err="1">
                <a:solidFill>
                  <a:srgbClr val="1B1B1E"/>
                </a:solidFill>
                <a:latin typeface="Times New Roman"/>
              </a:rPr>
              <a:t>nhập</a:t>
            </a:r>
            <a:r>
              <a:rPr sz="1500" b="0" i="0" dirty="0">
                <a:solidFill>
                  <a:srgbClr val="1B1B1E"/>
                </a:solidFill>
                <a:latin typeface="Times New Roman"/>
              </a:rPr>
              <a:t> </a:t>
            </a:r>
            <a:r>
              <a:rPr sz="1500" b="0" i="0" dirty="0" err="1">
                <a:solidFill>
                  <a:srgbClr val="1B1B1E"/>
                </a:solidFill>
                <a:latin typeface="Times New Roman"/>
              </a:rPr>
              <a:t>chủ</a:t>
            </a:r>
            <a:r>
              <a:rPr sz="1500" b="0" i="0" dirty="0">
                <a:solidFill>
                  <a:srgbClr val="1B1B1E"/>
                </a:solidFill>
                <a:latin typeface="Times New Roman"/>
              </a:rPr>
              <a:t> </a:t>
            </a:r>
            <a:r>
              <a:rPr sz="1500" b="0" i="0" dirty="0" err="1">
                <a:solidFill>
                  <a:srgbClr val="1B1B1E"/>
                </a:solidFill>
                <a:latin typeface="Times New Roman"/>
              </a:rPr>
              <a:t>đề</a:t>
            </a:r>
            <a:r>
              <a:rPr sz="1500" b="0" i="0" dirty="0">
                <a:solidFill>
                  <a:srgbClr val="1B1B1E"/>
                </a:solidFill>
                <a:latin typeface="Times New Roman"/>
              </a:rPr>
              <a:t> </a:t>
            </a:r>
            <a:r>
              <a:rPr sz="1500" b="0" i="0" dirty="0" err="1">
                <a:solidFill>
                  <a:srgbClr val="1B1B1E"/>
                </a:solidFill>
                <a:latin typeface="Times New Roman"/>
              </a:rPr>
              <a:t>lập</a:t>
            </a:r>
            <a:r>
              <a:rPr sz="1500" b="0" i="0" dirty="0">
                <a:solidFill>
                  <a:srgbClr val="1B1B1E"/>
                </a:solidFill>
                <a:latin typeface="Times New Roman"/>
              </a:rPr>
              <a:t> </a:t>
            </a:r>
            <a:r>
              <a:rPr sz="1500" b="0" i="0" dirty="0" err="1">
                <a:solidFill>
                  <a:srgbClr val="1B1B1E"/>
                </a:solidFill>
                <a:latin typeface="Times New Roman"/>
              </a:rPr>
              <a:t>trình</a:t>
            </a:r>
            <a:r>
              <a:rPr sz="1500" b="0" i="0" dirty="0">
                <a:solidFill>
                  <a:srgbClr val="1B1B1E"/>
                </a:solidFill>
                <a:latin typeface="Times New Roman"/>
              </a:rPr>
              <a:t>/</a:t>
            </a:r>
            <a:r>
              <a:rPr sz="1500" b="0" i="0" dirty="0" err="1">
                <a:solidFill>
                  <a:srgbClr val="1B1B1E"/>
                </a:solidFill>
                <a:latin typeface="Times New Roman"/>
              </a:rPr>
              <a:t>truy</a:t>
            </a:r>
            <a:r>
              <a:rPr sz="1500" b="0" i="0" dirty="0">
                <a:solidFill>
                  <a:srgbClr val="1B1B1E"/>
                </a:solidFill>
                <a:latin typeface="Times New Roman"/>
              </a:rPr>
              <a:t> </a:t>
            </a:r>
            <a:r>
              <a:rPr sz="1500" b="0" i="0" dirty="0" err="1">
                <a:solidFill>
                  <a:srgbClr val="1B1B1E"/>
                </a:solidFill>
                <a:latin typeface="Times New Roman"/>
              </a:rPr>
              <a:t>vấn</a:t>
            </a:r>
            <a:r>
              <a:rPr sz="1500" b="0" i="0" dirty="0">
                <a:solidFill>
                  <a:srgbClr val="1B1B1E"/>
                </a:solidFill>
                <a:latin typeface="Times New Roman"/>
              </a:rPr>
              <a:t>, AI </a:t>
            </a:r>
            <a:r>
              <a:rPr sz="1500" b="0" i="0" dirty="0" err="1">
                <a:solidFill>
                  <a:srgbClr val="1B1B1E"/>
                </a:solidFill>
                <a:latin typeface="Times New Roman"/>
              </a:rPr>
              <a:t>sẽ</a:t>
            </a:r>
            <a:r>
              <a:rPr sz="1500" b="0" i="0" dirty="0">
                <a:solidFill>
                  <a:srgbClr val="1B1B1E"/>
                </a:solidFill>
                <a:latin typeface="Times New Roman"/>
              </a:rPr>
              <a:t> </a:t>
            </a:r>
            <a:r>
              <a:rPr sz="1500" b="0" i="0" dirty="0" err="1">
                <a:solidFill>
                  <a:srgbClr val="1B1B1E"/>
                </a:solidFill>
                <a:latin typeface="Times New Roman"/>
              </a:rPr>
              <a:t>tự</a:t>
            </a:r>
            <a:r>
              <a:rPr sz="1500" b="0" i="0" dirty="0">
                <a:solidFill>
                  <a:srgbClr val="1B1B1E"/>
                </a:solidFill>
                <a:latin typeface="Times New Roman"/>
              </a:rPr>
              <a:t> </a:t>
            </a:r>
            <a:r>
              <a:rPr sz="1500" b="0" i="0" dirty="0" err="1">
                <a:solidFill>
                  <a:srgbClr val="1B1B1E"/>
                </a:solidFill>
                <a:latin typeface="Times New Roman"/>
              </a:rPr>
              <a:t>động</a:t>
            </a:r>
            <a:r>
              <a:rPr sz="1500" b="0" i="0" dirty="0">
                <a:solidFill>
                  <a:srgbClr val="1B1B1E"/>
                </a:solidFill>
                <a:latin typeface="Times New Roman"/>
              </a:rPr>
              <a:t> </a:t>
            </a:r>
            <a:r>
              <a:rPr sz="1500" b="0" i="0" dirty="0" err="1">
                <a:solidFill>
                  <a:srgbClr val="1B1B1E"/>
                </a:solidFill>
                <a:latin typeface="Times New Roman"/>
              </a:rPr>
              <a:t>sinh</a:t>
            </a:r>
            <a:r>
              <a:rPr sz="1500" b="0" i="0" dirty="0">
                <a:solidFill>
                  <a:srgbClr val="1B1B1E"/>
                </a:solidFill>
                <a:latin typeface="Times New Roman"/>
              </a:rPr>
              <a:t> </a:t>
            </a:r>
            <a:r>
              <a:rPr sz="1500" b="0" i="0" dirty="0" err="1">
                <a:solidFill>
                  <a:srgbClr val="1B1B1E"/>
                </a:solidFill>
                <a:latin typeface="Times New Roman"/>
              </a:rPr>
              <a:t>giáo</a:t>
            </a:r>
            <a:r>
              <a:rPr sz="1500" b="0" i="0" dirty="0">
                <a:solidFill>
                  <a:srgbClr val="1B1B1E"/>
                </a:solidFill>
                <a:latin typeface="Times New Roman"/>
              </a:rPr>
              <a:t> </a:t>
            </a:r>
            <a:r>
              <a:rPr sz="1500" b="0" i="0" dirty="0" err="1">
                <a:solidFill>
                  <a:srgbClr val="1B1B1E"/>
                </a:solidFill>
                <a:latin typeface="Times New Roman"/>
              </a:rPr>
              <a:t>án</a:t>
            </a:r>
            <a:r>
              <a:rPr sz="1500" b="0" i="0" dirty="0">
                <a:solidFill>
                  <a:srgbClr val="1B1B1E"/>
                </a:solidFill>
                <a:latin typeface="Times New Roman"/>
              </a:rPr>
              <a:t> </a:t>
            </a:r>
            <a:r>
              <a:rPr sz="1500" b="0" i="0" dirty="0" err="1">
                <a:solidFill>
                  <a:srgbClr val="1B1B1E"/>
                </a:solidFill>
                <a:latin typeface="Times New Roman"/>
              </a:rPr>
              <a:t>chuẩn</a:t>
            </a:r>
            <a:r>
              <a:rPr sz="1500" b="0" i="0" dirty="0">
                <a:solidFill>
                  <a:srgbClr val="1B1B1E"/>
                </a:solidFill>
                <a:latin typeface="Times New Roman"/>
              </a:rPr>
              <a:t> 5 </a:t>
            </a:r>
            <a:r>
              <a:rPr sz="1500" b="0" i="0" dirty="0" err="1">
                <a:solidFill>
                  <a:srgbClr val="1B1B1E"/>
                </a:solidFill>
                <a:latin typeface="Times New Roman"/>
              </a:rPr>
              <a:t>phần</a:t>
            </a:r>
            <a:r>
              <a:rPr sz="1500" b="0" i="0" dirty="0">
                <a:solidFill>
                  <a:srgbClr val="1B1B1E"/>
                </a:solidFill>
                <a:latin typeface="Times New Roman"/>
              </a:rPr>
              <a:t> </a:t>
            </a:r>
            <a:r>
              <a:rPr sz="1500" b="0" i="0" dirty="0" err="1">
                <a:solidFill>
                  <a:srgbClr val="1B1B1E"/>
                </a:solidFill>
                <a:latin typeface="Times New Roman"/>
              </a:rPr>
              <a:t>gồm</a:t>
            </a:r>
            <a:r>
              <a:rPr sz="1500" b="0" i="0" dirty="0">
                <a:solidFill>
                  <a:srgbClr val="1B1B1E"/>
                </a:solidFill>
                <a:latin typeface="Times New Roman"/>
              </a:rPr>
              <a:t> </a:t>
            </a:r>
            <a:r>
              <a:rPr sz="1500" b="0" i="0" dirty="0" err="1">
                <a:solidFill>
                  <a:srgbClr val="1B1B1E"/>
                </a:solidFill>
                <a:latin typeface="Times New Roman"/>
              </a:rPr>
              <a:t>lý</a:t>
            </a:r>
            <a:r>
              <a:rPr sz="1500" b="0" i="0" dirty="0">
                <a:solidFill>
                  <a:srgbClr val="1B1B1E"/>
                </a:solidFill>
                <a:latin typeface="Times New Roman"/>
              </a:rPr>
              <a:t> </a:t>
            </a:r>
            <a:r>
              <a:rPr sz="1500" b="0" i="0" dirty="0" err="1">
                <a:solidFill>
                  <a:srgbClr val="1B1B1E"/>
                </a:solidFill>
                <a:latin typeface="Times New Roman"/>
              </a:rPr>
              <a:t>thuyết</a:t>
            </a:r>
            <a:r>
              <a:rPr sz="1500" b="0" i="0" dirty="0">
                <a:solidFill>
                  <a:srgbClr val="1B1B1E"/>
                </a:solidFill>
                <a:latin typeface="Times New Roman"/>
              </a:rPr>
              <a:t>, </a:t>
            </a:r>
            <a:r>
              <a:rPr sz="1500" b="0" i="0" dirty="0" err="1">
                <a:solidFill>
                  <a:srgbClr val="1B1B1E"/>
                </a:solidFill>
                <a:latin typeface="Times New Roman"/>
              </a:rPr>
              <a:t>cú</a:t>
            </a:r>
            <a:r>
              <a:rPr sz="1500" b="0" i="0" dirty="0">
                <a:solidFill>
                  <a:srgbClr val="1B1B1E"/>
                </a:solidFill>
                <a:latin typeface="Times New Roman"/>
              </a:rPr>
              <a:t> </a:t>
            </a:r>
            <a:r>
              <a:rPr sz="1500" b="0" i="0" dirty="0" err="1">
                <a:solidFill>
                  <a:srgbClr val="1B1B1E"/>
                </a:solidFill>
                <a:latin typeface="Times New Roman"/>
              </a:rPr>
              <a:t>pháp</a:t>
            </a:r>
            <a:r>
              <a:rPr sz="1500" b="0" i="0" dirty="0">
                <a:solidFill>
                  <a:srgbClr val="1B1B1E"/>
                </a:solidFill>
                <a:latin typeface="Times New Roman"/>
              </a:rPr>
              <a:t>, </a:t>
            </a:r>
            <a:r>
              <a:rPr sz="1500" b="0" i="0" dirty="0" err="1">
                <a:solidFill>
                  <a:srgbClr val="1B1B1E"/>
                </a:solidFill>
                <a:latin typeface="Times New Roman"/>
              </a:rPr>
              <a:t>lỗi</a:t>
            </a:r>
            <a:r>
              <a:rPr sz="1500" b="0" i="0" dirty="0">
                <a:solidFill>
                  <a:srgbClr val="1B1B1E"/>
                </a:solidFill>
                <a:latin typeface="Times New Roman"/>
              </a:rPr>
              <a:t> </a:t>
            </a:r>
            <a:r>
              <a:rPr sz="1500" b="0" i="0" dirty="0" err="1">
                <a:solidFill>
                  <a:srgbClr val="1B1B1E"/>
                </a:solidFill>
                <a:latin typeface="Times New Roman"/>
              </a:rPr>
              <a:t>thường</a:t>
            </a:r>
            <a:r>
              <a:rPr sz="1500" b="0" i="0" dirty="0">
                <a:solidFill>
                  <a:srgbClr val="1B1B1E"/>
                </a:solidFill>
                <a:latin typeface="Times New Roman"/>
              </a:rPr>
              <a:t> </a:t>
            </a:r>
            <a:r>
              <a:rPr sz="1500" b="0" i="0" dirty="0" err="1">
                <a:solidFill>
                  <a:srgbClr val="1B1B1E"/>
                </a:solidFill>
                <a:latin typeface="Times New Roman"/>
              </a:rPr>
              <a:t>gặp</a:t>
            </a:r>
            <a:r>
              <a:rPr sz="1500" b="0" i="0" dirty="0">
                <a:solidFill>
                  <a:srgbClr val="1B1B1E"/>
                </a:solidFill>
                <a:latin typeface="Times New Roman"/>
              </a:rPr>
              <a:t>, </a:t>
            </a:r>
            <a:r>
              <a:rPr sz="1500" b="0" i="0" dirty="0" err="1">
                <a:solidFill>
                  <a:srgbClr val="1B1B1E"/>
                </a:solidFill>
                <a:latin typeface="Times New Roman"/>
              </a:rPr>
              <a:t>câu</a:t>
            </a:r>
            <a:r>
              <a:rPr sz="1500" b="0" i="0" dirty="0">
                <a:solidFill>
                  <a:srgbClr val="1B1B1E"/>
                </a:solidFill>
                <a:latin typeface="Times New Roman"/>
              </a:rPr>
              <a:t> </a:t>
            </a:r>
            <a:r>
              <a:rPr sz="1500" b="0" i="0" dirty="0" err="1">
                <a:solidFill>
                  <a:srgbClr val="1B1B1E"/>
                </a:solidFill>
                <a:latin typeface="Times New Roman"/>
              </a:rPr>
              <a:t>hỏi</a:t>
            </a:r>
            <a:r>
              <a:rPr sz="1500" b="0" i="0" dirty="0">
                <a:solidFill>
                  <a:srgbClr val="1B1B1E"/>
                </a:solidFill>
                <a:latin typeface="Times New Roman"/>
              </a:rPr>
              <a:t> </a:t>
            </a:r>
            <a:r>
              <a:rPr sz="1500" b="0" i="0" dirty="0" err="1">
                <a:solidFill>
                  <a:srgbClr val="1B1B1E"/>
                </a:solidFill>
                <a:latin typeface="Times New Roman"/>
              </a:rPr>
              <a:t>trắc</a:t>
            </a:r>
            <a:r>
              <a:rPr sz="1500" b="0" i="0" dirty="0">
                <a:solidFill>
                  <a:srgbClr val="1B1B1E"/>
                </a:solidFill>
                <a:latin typeface="Times New Roman"/>
              </a:rPr>
              <a:t> </a:t>
            </a:r>
            <a:r>
              <a:rPr sz="1500" b="0" i="0" dirty="0" err="1">
                <a:solidFill>
                  <a:srgbClr val="1B1B1E"/>
                </a:solidFill>
                <a:latin typeface="Times New Roman"/>
              </a:rPr>
              <a:t>nghiệm</a:t>
            </a:r>
            <a:r>
              <a:rPr sz="1500" b="0" i="0" dirty="0">
                <a:solidFill>
                  <a:srgbClr val="1B1B1E"/>
                </a:solidFill>
                <a:latin typeface="Times New Roman"/>
              </a:rPr>
              <a:t> </a:t>
            </a:r>
            <a:r>
              <a:rPr sz="1500" b="0" i="0" dirty="0" err="1">
                <a:solidFill>
                  <a:srgbClr val="1B1B1E"/>
                </a:solidFill>
                <a:latin typeface="Times New Roman"/>
              </a:rPr>
              <a:t>và</a:t>
            </a:r>
            <a:r>
              <a:rPr sz="1500" b="0" i="0" dirty="0">
                <a:solidFill>
                  <a:srgbClr val="1B1B1E"/>
                </a:solidFill>
                <a:latin typeface="Times New Roman"/>
              </a:rPr>
              <a:t> mini-task </a:t>
            </a:r>
            <a:r>
              <a:rPr sz="1500" b="0" i="0" dirty="0" err="1">
                <a:solidFill>
                  <a:srgbClr val="1B1B1E"/>
                </a:solidFill>
                <a:latin typeface="Times New Roman"/>
              </a:rPr>
              <a:t>tối</a:t>
            </a:r>
            <a:r>
              <a:rPr sz="1500" b="0" i="0" dirty="0">
                <a:solidFill>
                  <a:srgbClr val="1B1B1E"/>
                </a:solidFill>
                <a:latin typeface="Times New Roman"/>
              </a:rPr>
              <a:t> </a:t>
            </a:r>
            <a:r>
              <a:rPr sz="1500" b="0" i="0" dirty="0" err="1">
                <a:solidFill>
                  <a:srgbClr val="1B1B1E"/>
                </a:solidFill>
                <a:latin typeface="Times New Roman"/>
              </a:rPr>
              <a:t>ưu</a:t>
            </a:r>
            <a:r>
              <a:rPr sz="1500" b="0" i="0" dirty="0">
                <a:solidFill>
                  <a:srgbClr val="1B1B1E"/>
                </a:solidFill>
                <a:latin typeface="Times New Roman"/>
              </a:rPr>
              <a:t>.</a:t>
            </a:r>
          </a:p>
          <a:p>
            <a:pPr algn="l">
              <a:lnSpc>
                <a:spcPct val="115000"/>
              </a:lnSpc>
              <a:spcAft>
                <a:spcPts val="1200"/>
              </a:spcAft>
            </a:pPr>
            <a:r>
              <a:rPr sz="1500" b="1" i="0" dirty="0">
                <a:solidFill>
                  <a:srgbClr val="1E5591"/>
                </a:solidFill>
                <a:latin typeface="Times New Roman"/>
              </a:rPr>
              <a:t>•  </a:t>
            </a:r>
            <a:r>
              <a:rPr sz="1500" b="1" i="0" dirty="0" err="1">
                <a:solidFill>
                  <a:srgbClr val="1E5591"/>
                </a:solidFill>
                <a:latin typeface="Times New Roman"/>
              </a:rPr>
              <a:t>Tự</a:t>
            </a:r>
            <a:r>
              <a:rPr sz="1500" b="1" i="0" dirty="0">
                <a:solidFill>
                  <a:srgbClr val="1E5591"/>
                </a:solidFill>
                <a:latin typeface="Times New Roman"/>
              </a:rPr>
              <a:t> </a:t>
            </a:r>
            <a:r>
              <a:rPr sz="1500" b="1" i="0" dirty="0" err="1">
                <a:solidFill>
                  <a:srgbClr val="1E5591"/>
                </a:solidFill>
                <a:latin typeface="Times New Roman"/>
              </a:rPr>
              <a:t>sinh</a:t>
            </a:r>
            <a:r>
              <a:rPr sz="1500" b="1" i="0" dirty="0">
                <a:solidFill>
                  <a:srgbClr val="1E5591"/>
                </a:solidFill>
                <a:latin typeface="Times New Roman"/>
              </a:rPr>
              <a:t> Testcase Code (</a:t>
            </a:r>
            <a:r>
              <a:rPr sz="1500" b="1" i="0" dirty="0" err="1">
                <a:solidFill>
                  <a:srgbClr val="1E5591"/>
                </a:solidFill>
                <a:latin typeface="Times New Roman"/>
              </a:rPr>
              <a:t>Phép</a:t>
            </a:r>
            <a:r>
              <a:rPr sz="1500" b="1" i="0" dirty="0">
                <a:solidFill>
                  <a:srgbClr val="1E5591"/>
                </a:solidFill>
                <a:latin typeface="Times New Roman"/>
              </a:rPr>
              <a:t> </a:t>
            </a:r>
            <a:r>
              <a:rPr sz="1500" b="1" i="0" dirty="0" err="1">
                <a:solidFill>
                  <a:srgbClr val="1E5591"/>
                </a:solidFill>
                <a:latin typeface="Times New Roman"/>
              </a:rPr>
              <a:t>thử</a:t>
            </a:r>
            <a:r>
              <a:rPr sz="1500" b="1" i="0" dirty="0">
                <a:solidFill>
                  <a:srgbClr val="1E5591"/>
                </a:solidFill>
                <a:latin typeface="Times New Roman"/>
              </a:rPr>
              <a:t> </a:t>
            </a:r>
            <a:r>
              <a:rPr sz="1500" b="1" i="0" dirty="0" err="1">
                <a:solidFill>
                  <a:srgbClr val="1E5591"/>
                </a:solidFill>
                <a:latin typeface="Times New Roman"/>
              </a:rPr>
              <a:t>lập</a:t>
            </a:r>
            <a:r>
              <a:rPr sz="1500" b="1" i="0" dirty="0">
                <a:solidFill>
                  <a:srgbClr val="1E5591"/>
                </a:solidFill>
                <a:latin typeface="Times New Roman"/>
              </a:rPr>
              <a:t> </a:t>
            </a:r>
            <a:r>
              <a:rPr sz="1500" b="1" i="0" dirty="0" err="1">
                <a:solidFill>
                  <a:srgbClr val="1E5591"/>
                </a:solidFill>
                <a:latin typeface="Times New Roman"/>
              </a:rPr>
              <a:t>trình</a:t>
            </a:r>
            <a:r>
              <a:rPr sz="1500" b="1" i="0" dirty="0">
                <a:solidFill>
                  <a:srgbClr val="1E5591"/>
                </a:solidFill>
                <a:latin typeface="Times New Roman"/>
              </a:rPr>
              <a:t>):</a:t>
            </a:r>
            <a:r>
              <a:rPr sz="1500" b="0" i="0" dirty="0">
                <a:solidFill>
                  <a:srgbClr val="1B1B1E"/>
                </a:solidFill>
                <a:latin typeface="Times New Roman"/>
              </a:rPr>
              <a:t> AI </a:t>
            </a:r>
            <a:r>
              <a:rPr sz="1500" b="0" i="0" dirty="0" err="1">
                <a:solidFill>
                  <a:srgbClr val="1B1B1E"/>
                </a:solidFill>
                <a:latin typeface="Times New Roman"/>
              </a:rPr>
              <a:t>tự</a:t>
            </a:r>
            <a:r>
              <a:rPr sz="1500" b="0" i="0" dirty="0">
                <a:solidFill>
                  <a:srgbClr val="1B1B1E"/>
                </a:solidFill>
                <a:latin typeface="Times New Roman"/>
              </a:rPr>
              <a:t> </a:t>
            </a:r>
            <a:r>
              <a:rPr sz="1500" b="0" i="0" dirty="0" err="1">
                <a:solidFill>
                  <a:srgbClr val="1B1B1E"/>
                </a:solidFill>
                <a:latin typeface="Times New Roman"/>
              </a:rPr>
              <a:t>động</a:t>
            </a:r>
            <a:r>
              <a:rPr sz="1500" b="0" i="0" dirty="0">
                <a:solidFill>
                  <a:srgbClr val="1B1B1E"/>
                </a:solidFill>
                <a:latin typeface="Times New Roman"/>
              </a:rPr>
              <a:t> </a:t>
            </a:r>
            <a:r>
              <a:rPr sz="1500" b="0" i="0" dirty="0" err="1">
                <a:solidFill>
                  <a:srgbClr val="1B1B1E"/>
                </a:solidFill>
                <a:latin typeface="Times New Roman"/>
              </a:rPr>
              <a:t>lập</a:t>
            </a:r>
            <a:r>
              <a:rPr sz="1500" b="0" i="0" dirty="0">
                <a:solidFill>
                  <a:srgbClr val="1B1B1E"/>
                </a:solidFill>
                <a:latin typeface="Times New Roman"/>
              </a:rPr>
              <a:t> </a:t>
            </a:r>
            <a:r>
              <a:rPr sz="1500" b="0" i="0" dirty="0" err="1">
                <a:solidFill>
                  <a:srgbClr val="1B1B1E"/>
                </a:solidFill>
                <a:latin typeface="Times New Roman"/>
              </a:rPr>
              <a:t>trình</a:t>
            </a:r>
            <a:r>
              <a:rPr sz="1500" b="0" i="0" dirty="0">
                <a:solidFill>
                  <a:srgbClr val="1B1B1E"/>
                </a:solidFill>
                <a:latin typeface="Times New Roman"/>
              </a:rPr>
              <a:t> </a:t>
            </a:r>
            <a:r>
              <a:rPr sz="1500" b="0" i="0" dirty="0" err="1">
                <a:solidFill>
                  <a:srgbClr val="1B1B1E"/>
                </a:solidFill>
                <a:latin typeface="Times New Roman"/>
              </a:rPr>
              <a:t>mã</a:t>
            </a:r>
            <a:r>
              <a:rPr sz="1500" b="0" i="0" dirty="0">
                <a:solidFill>
                  <a:srgbClr val="1B1B1E"/>
                </a:solidFill>
                <a:latin typeface="Times New Roman"/>
              </a:rPr>
              <a:t> </a:t>
            </a:r>
            <a:r>
              <a:rPr sz="1500" b="0" i="0" dirty="0" err="1">
                <a:solidFill>
                  <a:srgbClr val="1B1B1E"/>
                </a:solidFill>
                <a:latin typeface="Times New Roman"/>
              </a:rPr>
              <a:t>nguồn</a:t>
            </a:r>
            <a:r>
              <a:rPr sz="1500" b="0" i="0" dirty="0">
                <a:solidFill>
                  <a:srgbClr val="1B1B1E"/>
                </a:solidFill>
                <a:latin typeface="Times New Roman"/>
              </a:rPr>
              <a:t> </a:t>
            </a:r>
            <a:r>
              <a:rPr sz="1500" b="0" i="0" dirty="0" err="1">
                <a:solidFill>
                  <a:srgbClr val="1B1B1E"/>
                </a:solidFill>
                <a:latin typeface="Times New Roman"/>
              </a:rPr>
              <a:t>giải</a:t>
            </a:r>
            <a:r>
              <a:rPr sz="1500" b="0" i="0" dirty="0">
                <a:solidFill>
                  <a:srgbClr val="1B1B1E"/>
                </a:solidFill>
                <a:latin typeface="Times New Roman"/>
              </a:rPr>
              <a:t> </a:t>
            </a:r>
            <a:r>
              <a:rPr sz="1500" b="0" i="0" dirty="0" err="1">
                <a:solidFill>
                  <a:srgbClr val="1B1B1E"/>
                </a:solidFill>
                <a:latin typeface="Times New Roman"/>
              </a:rPr>
              <a:t>pháp</a:t>
            </a:r>
            <a:r>
              <a:rPr sz="1500" b="0" i="0" dirty="0">
                <a:solidFill>
                  <a:srgbClr val="1B1B1E"/>
                </a:solidFill>
                <a:latin typeface="Times New Roman"/>
              </a:rPr>
              <a:t>, </a:t>
            </a:r>
            <a:r>
              <a:rPr sz="1500" b="0" i="0" dirty="0" err="1">
                <a:solidFill>
                  <a:srgbClr val="1B1B1E"/>
                </a:solidFill>
                <a:latin typeface="Times New Roman"/>
              </a:rPr>
              <a:t>thiết</a:t>
            </a:r>
            <a:r>
              <a:rPr sz="1500" b="0" i="0" dirty="0">
                <a:solidFill>
                  <a:srgbClr val="1B1B1E"/>
                </a:solidFill>
                <a:latin typeface="Times New Roman"/>
              </a:rPr>
              <a:t> </a:t>
            </a:r>
            <a:r>
              <a:rPr sz="1500" b="0" i="0" dirty="0" err="1">
                <a:solidFill>
                  <a:srgbClr val="1B1B1E"/>
                </a:solidFill>
                <a:latin typeface="Times New Roman"/>
              </a:rPr>
              <a:t>kế</a:t>
            </a:r>
            <a:r>
              <a:rPr sz="1500" b="0" i="0" dirty="0">
                <a:solidFill>
                  <a:srgbClr val="1B1B1E"/>
                </a:solidFill>
                <a:latin typeface="Times New Roman"/>
              </a:rPr>
              <a:t> </a:t>
            </a:r>
            <a:r>
              <a:rPr sz="1500" b="0" i="0" dirty="0" err="1">
                <a:solidFill>
                  <a:srgbClr val="1B1B1E"/>
                </a:solidFill>
                <a:latin typeface="Times New Roman"/>
              </a:rPr>
              <a:t>và</a:t>
            </a:r>
            <a:r>
              <a:rPr sz="1500" b="0" i="0" dirty="0">
                <a:solidFill>
                  <a:srgbClr val="1B1B1E"/>
                </a:solidFill>
                <a:latin typeface="Times New Roman"/>
              </a:rPr>
              <a:t> </a:t>
            </a:r>
            <a:r>
              <a:rPr sz="1500" b="0" i="0" dirty="0" err="1">
                <a:solidFill>
                  <a:srgbClr val="1B1B1E"/>
                </a:solidFill>
                <a:latin typeface="Times New Roman"/>
              </a:rPr>
              <a:t>tối</a:t>
            </a:r>
            <a:r>
              <a:rPr sz="1500" b="0" i="0" dirty="0">
                <a:solidFill>
                  <a:srgbClr val="1B1B1E"/>
                </a:solidFill>
                <a:latin typeface="Times New Roman"/>
              </a:rPr>
              <a:t> </a:t>
            </a:r>
            <a:r>
              <a:rPr sz="1500" b="0" i="0" dirty="0" err="1">
                <a:solidFill>
                  <a:srgbClr val="1B1B1E"/>
                </a:solidFill>
                <a:latin typeface="Times New Roman"/>
              </a:rPr>
              <a:t>ưu</a:t>
            </a:r>
            <a:r>
              <a:rPr sz="1500" b="0" i="0" dirty="0">
                <a:solidFill>
                  <a:srgbClr val="1B1B1E"/>
                </a:solidFill>
                <a:latin typeface="Times New Roman"/>
              </a:rPr>
              <a:t> 5-10 </a:t>
            </a:r>
            <a:r>
              <a:rPr sz="1500" b="0" i="0" dirty="0" err="1">
                <a:solidFill>
                  <a:srgbClr val="1B1B1E"/>
                </a:solidFill>
                <a:latin typeface="Times New Roman"/>
              </a:rPr>
              <a:t>bộ</a:t>
            </a:r>
            <a:r>
              <a:rPr sz="1500" b="0" i="0" dirty="0">
                <a:solidFill>
                  <a:srgbClr val="1B1B1E"/>
                </a:solidFill>
                <a:latin typeface="Times New Roman"/>
              </a:rPr>
              <a:t> testcase input/expected output </a:t>
            </a:r>
            <a:r>
              <a:rPr sz="1500" b="0" i="0" dirty="0" err="1">
                <a:solidFill>
                  <a:srgbClr val="1B1B1E"/>
                </a:solidFill>
                <a:latin typeface="Times New Roman"/>
              </a:rPr>
              <a:t>trực</a:t>
            </a:r>
            <a:r>
              <a:rPr sz="1500" b="0" i="0" dirty="0">
                <a:solidFill>
                  <a:srgbClr val="1B1B1E"/>
                </a:solidFill>
                <a:latin typeface="Times New Roman"/>
              </a:rPr>
              <a:t> </a:t>
            </a:r>
            <a:r>
              <a:rPr sz="1500" b="0" i="0" dirty="0" err="1">
                <a:solidFill>
                  <a:srgbClr val="1B1B1E"/>
                </a:solidFill>
                <a:latin typeface="Times New Roman"/>
              </a:rPr>
              <a:t>tiếp</a:t>
            </a:r>
            <a:r>
              <a:rPr sz="1500" b="0" i="0" dirty="0">
                <a:solidFill>
                  <a:srgbClr val="1B1B1E"/>
                </a:solidFill>
                <a:latin typeface="Times New Roman"/>
              </a:rPr>
              <a:t> </a:t>
            </a:r>
            <a:r>
              <a:rPr sz="1500" b="0" i="0" dirty="0" err="1">
                <a:solidFill>
                  <a:srgbClr val="1B1B1E"/>
                </a:solidFill>
                <a:latin typeface="Times New Roman"/>
              </a:rPr>
              <a:t>cho</a:t>
            </a:r>
            <a:r>
              <a:rPr sz="1500" b="0" i="0" dirty="0">
                <a:solidFill>
                  <a:srgbClr val="1B1B1E"/>
                </a:solidFill>
                <a:latin typeface="Times New Roman"/>
              </a:rPr>
              <a:t> Python </a:t>
            </a:r>
            <a:r>
              <a:rPr sz="1500" b="0" i="0" dirty="0" err="1">
                <a:solidFill>
                  <a:srgbClr val="1B1B1E"/>
                </a:solidFill>
                <a:latin typeface="Times New Roman"/>
              </a:rPr>
              <a:t>và</a:t>
            </a:r>
            <a:r>
              <a:rPr sz="1500" b="0" i="0" dirty="0">
                <a:solidFill>
                  <a:srgbClr val="1B1B1E"/>
                </a:solidFill>
                <a:latin typeface="Times New Roman"/>
              </a:rPr>
              <a:t> JS sandbox.</a:t>
            </a:r>
          </a:p>
          <a:p>
            <a:pPr algn="l">
              <a:lnSpc>
                <a:spcPct val="115000"/>
              </a:lnSpc>
              <a:spcAft>
                <a:spcPts val="1200"/>
              </a:spcAft>
            </a:pPr>
            <a:r>
              <a:rPr sz="1500" b="1" i="0" dirty="0">
                <a:solidFill>
                  <a:srgbClr val="1E5591"/>
                </a:solidFill>
                <a:latin typeface="Times New Roman"/>
              </a:rPr>
              <a:t>•  </a:t>
            </a:r>
            <a:r>
              <a:rPr sz="1500" b="1" i="0" dirty="0" err="1">
                <a:solidFill>
                  <a:srgbClr val="1E5591"/>
                </a:solidFill>
                <a:latin typeface="Times New Roman"/>
              </a:rPr>
              <a:t>Tự</a:t>
            </a:r>
            <a:r>
              <a:rPr sz="1500" b="1" i="0" dirty="0">
                <a:solidFill>
                  <a:srgbClr val="1E5591"/>
                </a:solidFill>
                <a:latin typeface="Times New Roman"/>
              </a:rPr>
              <a:t> </a:t>
            </a:r>
            <a:r>
              <a:rPr sz="1500" b="1" i="0" dirty="0" err="1">
                <a:solidFill>
                  <a:srgbClr val="1E5591"/>
                </a:solidFill>
                <a:latin typeface="Times New Roman"/>
              </a:rPr>
              <a:t>thiết</a:t>
            </a:r>
            <a:r>
              <a:rPr sz="1500" b="1" i="0" dirty="0">
                <a:solidFill>
                  <a:srgbClr val="1E5591"/>
                </a:solidFill>
                <a:latin typeface="Times New Roman"/>
              </a:rPr>
              <a:t> </a:t>
            </a:r>
            <a:r>
              <a:rPr sz="1500" b="1" i="0" dirty="0" err="1">
                <a:solidFill>
                  <a:srgbClr val="1E5591"/>
                </a:solidFill>
                <a:latin typeface="Times New Roman"/>
              </a:rPr>
              <a:t>lập</a:t>
            </a:r>
            <a:r>
              <a:rPr sz="1500" b="1" i="0" dirty="0">
                <a:solidFill>
                  <a:srgbClr val="1E5591"/>
                </a:solidFill>
                <a:latin typeface="Times New Roman"/>
              </a:rPr>
              <a:t> Sandbox SQL (</a:t>
            </a:r>
            <a:r>
              <a:rPr sz="1500" b="1" i="0" dirty="0" err="1">
                <a:solidFill>
                  <a:srgbClr val="1E5591"/>
                </a:solidFill>
                <a:latin typeface="Times New Roman"/>
              </a:rPr>
              <a:t>Đặc</a:t>
            </a:r>
            <a:r>
              <a:rPr sz="1500" b="1" i="0" dirty="0">
                <a:solidFill>
                  <a:srgbClr val="1E5591"/>
                </a:solidFill>
                <a:latin typeface="Times New Roman"/>
              </a:rPr>
              <a:t> </a:t>
            </a:r>
            <a:r>
              <a:rPr sz="1500" b="1" i="0" dirty="0" err="1">
                <a:solidFill>
                  <a:srgbClr val="1E5591"/>
                </a:solidFill>
                <a:latin typeface="Times New Roman"/>
              </a:rPr>
              <a:t>tả</a:t>
            </a:r>
            <a:r>
              <a:rPr sz="1500" b="1" i="0" dirty="0">
                <a:solidFill>
                  <a:srgbClr val="1E5591"/>
                </a:solidFill>
                <a:latin typeface="Times New Roman"/>
              </a:rPr>
              <a:t> </a:t>
            </a:r>
            <a:r>
              <a:rPr sz="1500" b="1" i="0" dirty="0" err="1">
                <a:solidFill>
                  <a:srgbClr val="1E5591"/>
                </a:solidFill>
                <a:latin typeface="Times New Roman"/>
              </a:rPr>
              <a:t>dữ</a:t>
            </a:r>
            <a:r>
              <a:rPr sz="1500" b="1" i="0" dirty="0">
                <a:solidFill>
                  <a:srgbClr val="1E5591"/>
                </a:solidFill>
                <a:latin typeface="Times New Roman"/>
              </a:rPr>
              <a:t> </a:t>
            </a:r>
            <a:r>
              <a:rPr sz="1500" b="1" i="0" dirty="0" err="1">
                <a:solidFill>
                  <a:srgbClr val="1E5591"/>
                </a:solidFill>
                <a:latin typeface="Times New Roman"/>
              </a:rPr>
              <a:t>liệu</a:t>
            </a:r>
            <a:r>
              <a:rPr sz="1500" b="1" i="0" dirty="0">
                <a:solidFill>
                  <a:srgbClr val="1E5591"/>
                </a:solidFill>
                <a:latin typeface="Times New Roman"/>
              </a:rPr>
              <a:t> </a:t>
            </a:r>
            <a:r>
              <a:rPr sz="1500" b="1" i="0" dirty="0" err="1">
                <a:solidFill>
                  <a:srgbClr val="1E5591"/>
                </a:solidFill>
                <a:latin typeface="Times New Roman"/>
              </a:rPr>
              <a:t>quan</a:t>
            </a:r>
            <a:r>
              <a:rPr sz="1500" b="1" i="0" dirty="0">
                <a:solidFill>
                  <a:srgbClr val="1E5591"/>
                </a:solidFill>
                <a:latin typeface="Times New Roman"/>
              </a:rPr>
              <a:t> </a:t>
            </a:r>
            <a:r>
              <a:rPr sz="1500" b="1" i="0" dirty="0" err="1">
                <a:solidFill>
                  <a:srgbClr val="1E5591"/>
                </a:solidFill>
                <a:latin typeface="Times New Roman"/>
              </a:rPr>
              <a:t>hệ</a:t>
            </a:r>
            <a:r>
              <a:rPr sz="1500" b="1" i="0" dirty="0">
                <a:solidFill>
                  <a:srgbClr val="1E5591"/>
                </a:solidFill>
                <a:latin typeface="Times New Roman"/>
              </a:rPr>
              <a:t>):</a:t>
            </a:r>
            <a:r>
              <a:rPr sz="1500" b="0" i="0" dirty="0">
                <a:solidFill>
                  <a:srgbClr val="1B1B1E"/>
                </a:solidFill>
                <a:latin typeface="Times New Roman"/>
              </a:rPr>
              <a:t> AI </a:t>
            </a:r>
            <a:r>
              <a:rPr sz="1500" b="0" i="0" dirty="0" err="1">
                <a:solidFill>
                  <a:srgbClr val="1B1B1E"/>
                </a:solidFill>
                <a:latin typeface="Times New Roman"/>
              </a:rPr>
              <a:t>tự</a:t>
            </a:r>
            <a:r>
              <a:rPr sz="1500" b="0" i="0" dirty="0">
                <a:solidFill>
                  <a:srgbClr val="1B1B1E"/>
                </a:solidFill>
                <a:latin typeface="Times New Roman"/>
              </a:rPr>
              <a:t> </a:t>
            </a:r>
            <a:r>
              <a:rPr sz="1500" b="0" i="0" dirty="0" err="1">
                <a:solidFill>
                  <a:srgbClr val="1B1B1E"/>
                </a:solidFill>
                <a:latin typeface="Times New Roman"/>
              </a:rPr>
              <a:t>biên</a:t>
            </a:r>
            <a:r>
              <a:rPr sz="1500" b="0" i="0" dirty="0">
                <a:solidFill>
                  <a:srgbClr val="1B1B1E"/>
                </a:solidFill>
                <a:latin typeface="Times New Roman"/>
              </a:rPr>
              <a:t> </a:t>
            </a:r>
            <a:r>
              <a:rPr sz="1500" b="0" i="0" dirty="0" err="1">
                <a:solidFill>
                  <a:srgbClr val="1B1B1E"/>
                </a:solidFill>
                <a:latin typeface="Times New Roman"/>
              </a:rPr>
              <a:t>soạn</a:t>
            </a:r>
            <a:r>
              <a:rPr sz="1500" b="0" i="0" dirty="0">
                <a:solidFill>
                  <a:srgbClr val="1B1B1E"/>
                </a:solidFill>
                <a:latin typeface="Times New Roman"/>
              </a:rPr>
              <a:t> </a:t>
            </a:r>
            <a:r>
              <a:rPr sz="1500" b="0" i="0" dirty="0" err="1">
                <a:solidFill>
                  <a:srgbClr val="1B1B1E"/>
                </a:solidFill>
                <a:latin typeface="Times New Roman"/>
              </a:rPr>
              <a:t>câu</a:t>
            </a:r>
            <a:r>
              <a:rPr sz="1500" b="0" i="0" dirty="0">
                <a:solidFill>
                  <a:srgbClr val="1B1B1E"/>
                </a:solidFill>
                <a:latin typeface="Times New Roman"/>
              </a:rPr>
              <a:t> </a:t>
            </a:r>
            <a:r>
              <a:rPr sz="1500" b="0" i="0" dirty="0" err="1">
                <a:solidFill>
                  <a:srgbClr val="1B1B1E"/>
                </a:solidFill>
                <a:latin typeface="Times New Roman"/>
              </a:rPr>
              <a:t>lệnh</a:t>
            </a:r>
            <a:r>
              <a:rPr sz="1500" b="0" i="0" dirty="0">
                <a:solidFill>
                  <a:srgbClr val="1B1B1E"/>
                </a:solidFill>
                <a:latin typeface="Times New Roman"/>
              </a:rPr>
              <a:t> </a:t>
            </a:r>
            <a:r>
              <a:rPr sz="1500" b="0" i="0" dirty="0" err="1">
                <a:solidFill>
                  <a:srgbClr val="1B1B1E"/>
                </a:solidFill>
                <a:latin typeface="Times New Roman"/>
              </a:rPr>
              <a:t>tạo</a:t>
            </a:r>
            <a:r>
              <a:rPr sz="1500" b="0" i="0" dirty="0">
                <a:solidFill>
                  <a:srgbClr val="1B1B1E"/>
                </a:solidFill>
                <a:latin typeface="Times New Roman"/>
              </a:rPr>
              <a:t> </a:t>
            </a:r>
            <a:r>
              <a:rPr sz="1500" b="0" i="0" dirty="0" err="1">
                <a:solidFill>
                  <a:srgbClr val="1B1B1E"/>
                </a:solidFill>
                <a:latin typeface="Times New Roman"/>
              </a:rPr>
              <a:t>bảng</a:t>
            </a:r>
            <a:r>
              <a:rPr sz="1500" b="0" i="0" dirty="0">
                <a:solidFill>
                  <a:srgbClr val="1B1B1E"/>
                </a:solidFill>
                <a:latin typeface="Times New Roman"/>
              </a:rPr>
              <a:t> </a:t>
            </a:r>
            <a:r>
              <a:rPr sz="1500" b="0" i="0" dirty="0" err="1">
                <a:solidFill>
                  <a:srgbClr val="1B1B1E"/>
                </a:solidFill>
                <a:latin typeface="Times New Roman"/>
              </a:rPr>
              <a:t>dữ</a:t>
            </a:r>
            <a:r>
              <a:rPr sz="1500" b="0" i="0" dirty="0">
                <a:solidFill>
                  <a:srgbClr val="1B1B1E"/>
                </a:solidFill>
                <a:latin typeface="Times New Roman"/>
              </a:rPr>
              <a:t> </a:t>
            </a:r>
            <a:r>
              <a:rPr sz="1500" b="0" i="0" dirty="0" err="1">
                <a:solidFill>
                  <a:srgbClr val="1B1B1E"/>
                </a:solidFill>
                <a:latin typeface="Times New Roman"/>
              </a:rPr>
              <a:t>liệu</a:t>
            </a:r>
            <a:r>
              <a:rPr sz="1500" b="0" i="0" dirty="0">
                <a:solidFill>
                  <a:srgbClr val="1B1B1E"/>
                </a:solidFill>
                <a:latin typeface="Times New Roman"/>
              </a:rPr>
              <a:t> </a:t>
            </a:r>
            <a:r>
              <a:rPr sz="1500" b="0" i="0" dirty="0" err="1">
                <a:solidFill>
                  <a:srgbClr val="1B1B1E"/>
                </a:solidFill>
                <a:latin typeface="Times New Roman"/>
              </a:rPr>
              <a:t>mẫu</a:t>
            </a:r>
            <a:r>
              <a:rPr sz="1500" b="0" i="0" dirty="0">
                <a:solidFill>
                  <a:srgbClr val="1B1B1E"/>
                </a:solidFill>
                <a:latin typeface="Times New Roman"/>
              </a:rPr>
              <a:t> (CREATE TABLE), </a:t>
            </a:r>
            <a:r>
              <a:rPr sz="1500" b="0" i="0" dirty="0" err="1">
                <a:solidFill>
                  <a:srgbClr val="1B1B1E"/>
                </a:solidFill>
                <a:latin typeface="Times New Roman"/>
              </a:rPr>
              <a:t>sinh</a:t>
            </a:r>
            <a:r>
              <a:rPr sz="1500" b="0" i="0" dirty="0">
                <a:solidFill>
                  <a:srgbClr val="1B1B1E"/>
                </a:solidFill>
                <a:latin typeface="Times New Roman"/>
              </a:rPr>
              <a:t> mock data (INSERT INTO) </a:t>
            </a:r>
            <a:r>
              <a:rPr sz="1500" b="0" i="0" dirty="0" err="1">
                <a:solidFill>
                  <a:srgbClr val="1B1B1E"/>
                </a:solidFill>
                <a:latin typeface="Times New Roman"/>
              </a:rPr>
              <a:t>và</a:t>
            </a:r>
            <a:r>
              <a:rPr sz="1500" b="0" i="0" dirty="0">
                <a:solidFill>
                  <a:srgbClr val="1B1B1E"/>
                </a:solidFill>
                <a:latin typeface="Times New Roman"/>
              </a:rPr>
              <a:t> </a:t>
            </a:r>
            <a:r>
              <a:rPr sz="1500" b="0" i="0" dirty="0" err="1">
                <a:solidFill>
                  <a:srgbClr val="1B1B1E"/>
                </a:solidFill>
                <a:latin typeface="Times New Roman"/>
              </a:rPr>
              <a:t>viết</a:t>
            </a:r>
            <a:r>
              <a:rPr sz="1500" b="0" i="0" dirty="0">
                <a:solidFill>
                  <a:srgbClr val="1B1B1E"/>
                </a:solidFill>
                <a:latin typeface="Times New Roman"/>
              </a:rPr>
              <a:t> </a:t>
            </a:r>
            <a:r>
              <a:rPr sz="1500" b="0" i="0" dirty="0" err="1">
                <a:solidFill>
                  <a:srgbClr val="1B1B1E"/>
                </a:solidFill>
                <a:latin typeface="Times New Roman"/>
              </a:rPr>
              <a:t>câu</a:t>
            </a:r>
            <a:r>
              <a:rPr sz="1500" b="0" i="0" dirty="0">
                <a:solidFill>
                  <a:srgbClr val="1B1B1E"/>
                </a:solidFill>
                <a:latin typeface="Times New Roman"/>
              </a:rPr>
              <a:t> SQL </a:t>
            </a:r>
            <a:r>
              <a:rPr sz="1500" b="0" i="0" dirty="0" err="1">
                <a:solidFill>
                  <a:srgbClr val="1B1B1E"/>
                </a:solidFill>
                <a:latin typeface="Times New Roman"/>
              </a:rPr>
              <a:t>truy</a:t>
            </a:r>
            <a:r>
              <a:rPr sz="1500" b="0" i="0" dirty="0">
                <a:solidFill>
                  <a:srgbClr val="1B1B1E"/>
                </a:solidFill>
                <a:latin typeface="Times New Roman"/>
              </a:rPr>
              <a:t> </a:t>
            </a:r>
            <a:r>
              <a:rPr sz="1500" b="0" i="0" dirty="0" err="1">
                <a:solidFill>
                  <a:srgbClr val="1B1B1E"/>
                </a:solidFill>
                <a:latin typeface="Times New Roman"/>
              </a:rPr>
              <a:t>vấn</a:t>
            </a:r>
            <a:r>
              <a:rPr sz="1500" b="0" i="0" dirty="0">
                <a:solidFill>
                  <a:srgbClr val="1B1B1E"/>
                </a:solidFill>
                <a:latin typeface="Times New Roman"/>
              </a:rPr>
              <a:t> </a:t>
            </a:r>
            <a:r>
              <a:rPr sz="1500" b="0" i="0" dirty="0" err="1">
                <a:solidFill>
                  <a:srgbClr val="1B1B1E"/>
                </a:solidFill>
                <a:latin typeface="Times New Roman"/>
              </a:rPr>
              <a:t>đầu</a:t>
            </a:r>
            <a:r>
              <a:rPr sz="1500" b="0" i="0" dirty="0">
                <a:solidFill>
                  <a:srgbClr val="1B1B1E"/>
                </a:solidFill>
                <a:latin typeface="Times New Roman"/>
              </a:rPr>
              <a:t> </a:t>
            </a:r>
            <a:r>
              <a:rPr sz="1500" b="0" i="0" dirty="0" err="1">
                <a:solidFill>
                  <a:srgbClr val="1B1B1E"/>
                </a:solidFill>
                <a:latin typeface="Times New Roman"/>
              </a:rPr>
              <a:t>ra</a:t>
            </a:r>
            <a:r>
              <a:rPr sz="1500" b="0" i="0" dirty="0">
                <a:solidFill>
                  <a:srgbClr val="1B1B1E"/>
                </a:solidFill>
                <a:latin typeface="Times New Roman"/>
              </a:rPr>
              <a:t> </a:t>
            </a:r>
            <a:r>
              <a:rPr sz="1500" b="0" i="0" dirty="0" err="1">
                <a:solidFill>
                  <a:srgbClr val="1B1B1E"/>
                </a:solidFill>
                <a:latin typeface="Times New Roman"/>
              </a:rPr>
              <a:t>chuẩn</a:t>
            </a:r>
            <a:r>
              <a:rPr sz="1500" b="0" i="0" dirty="0">
                <a:solidFill>
                  <a:srgbClr val="1B1B1E"/>
                </a:solidFill>
                <a:latin typeface="Times New Roman"/>
              </a:rPr>
              <a:t> </a:t>
            </a:r>
            <a:r>
              <a:rPr sz="1500" b="0" i="0" dirty="0" err="1">
                <a:solidFill>
                  <a:srgbClr val="1B1B1E"/>
                </a:solidFill>
                <a:latin typeface="Times New Roman"/>
              </a:rPr>
              <a:t>mực</a:t>
            </a:r>
            <a:r>
              <a:rPr sz="1500" b="0" i="0" dirty="0">
                <a:solidFill>
                  <a:srgbClr val="1B1B1E"/>
                </a:solidFill>
                <a:latin typeface="Times New Roman"/>
              </a:rPr>
              <a:t> </a:t>
            </a:r>
            <a:r>
              <a:rPr sz="1500" b="0" i="0" dirty="0" err="1">
                <a:solidFill>
                  <a:srgbClr val="1B1B1E"/>
                </a:solidFill>
                <a:latin typeface="Times New Roman"/>
              </a:rPr>
              <a:t>để</a:t>
            </a:r>
            <a:r>
              <a:rPr sz="1500" b="0" i="0" dirty="0">
                <a:solidFill>
                  <a:srgbClr val="1B1B1E"/>
                </a:solidFill>
                <a:latin typeface="Times New Roman"/>
              </a:rPr>
              <a:t> so </a:t>
            </a:r>
            <a:r>
              <a:rPr sz="1500" b="0" i="0" dirty="0" err="1">
                <a:solidFill>
                  <a:srgbClr val="1B1B1E"/>
                </a:solidFill>
                <a:latin typeface="Times New Roman"/>
              </a:rPr>
              <a:t>sánh</a:t>
            </a:r>
            <a:r>
              <a:rPr sz="1500" b="0" i="0" dirty="0">
                <a:solidFill>
                  <a:srgbClr val="1B1B1E"/>
                </a:solidFill>
                <a:latin typeface="Times New Roman"/>
              </a:rPr>
              <a:t> </a:t>
            </a:r>
            <a:r>
              <a:rPr sz="1500" b="0" i="0" dirty="0" err="1">
                <a:solidFill>
                  <a:srgbClr val="1B1B1E"/>
                </a:solidFill>
                <a:latin typeface="Times New Roman"/>
              </a:rPr>
              <a:t>dữ</a:t>
            </a:r>
            <a:r>
              <a:rPr sz="1500" b="0" i="0" dirty="0">
                <a:solidFill>
                  <a:srgbClr val="1B1B1E"/>
                </a:solidFill>
                <a:latin typeface="Times New Roman"/>
              </a:rPr>
              <a:t> </a:t>
            </a:r>
            <a:r>
              <a:rPr sz="1500" b="0" i="0" dirty="0" err="1">
                <a:solidFill>
                  <a:srgbClr val="1B1B1E"/>
                </a:solidFill>
                <a:latin typeface="Times New Roman"/>
              </a:rPr>
              <a:t>liệu</a:t>
            </a:r>
            <a:r>
              <a:rPr sz="1500" b="0" i="0" dirty="0">
                <a:solidFill>
                  <a:srgbClr val="1B1B1E"/>
                </a:solidFill>
                <a:latin typeface="Times New Roman"/>
              </a:rPr>
              <a:t> </a:t>
            </a:r>
            <a:r>
              <a:rPr sz="1500" b="0" i="0" dirty="0" err="1">
                <a:solidFill>
                  <a:srgbClr val="1B1B1E"/>
                </a:solidFill>
                <a:latin typeface="Times New Roman"/>
              </a:rPr>
              <a:t>đầu</a:t>
            </a:r>
            <a:r>
              <a:rPr sz="1500" b="0" i="0" dirty="0">
                <a:solidFill>
                  <a:srgbClr val="1B1B1E"/>
                </a:solidFill>
                <a:latin typeface="Times New Roman"/>
              </a:rPr>
              <a:t> </a:t>
            </a:r>
            <a:r>
              <a:rPr sz="1500" b="0" i="0" dirty="0" err="1">
                <a:solidFill>
                  <a:srgbClr val="1B1B1E"/>
                </a:solidFill>
                <a:latin typeface="Times New Roman"/>
              </a:rPr>
              <a:t>ra.</a:t>
            </a:r>
            <a:endParaRPr sz="1500" b="0" i="0" dirty="0">
              <a:solidFill>
                <a:srgbClr val="1B1B1E"/>
              </a:solidFill>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pPr algn="l">
              <a:lnSpc>
                <a:spcPct val="115000"/>
              </a:lnSpc>
              <a:spcAft>
                <a:spcPts val="0"/>
              </a:spcAft>
            </a:pPr>
            <a:r>
              <a:rPr sz="2400" b="1" i="0">
                <a:solidFill>
                  <a:srgbClr val="2B2D42"/>
                </a:solidFill>
                <a:latin typeface="Times New Roman"/>
              </a:rPr>
              <a:t>10. KIẾN TRÚC CÔNG NGHỆ &amp; LỘ TRÌNH PHÁT TRIỂN</a:t>
            </a:r>
          </a:p>
        </p:txBody>
      </p:sp>
      <p:sp>
        <p:nvSpPr>
          <p:cNvPr id="3" name="Rectangle 2"/>
          <p:cNvSpPr/>
          <p:nvPr/>
        </p:nvSpPr>
        <p:spPr>
          <a:xfrm>
            <a:off x="731520" y="1051560"/>
            <a:ext cx="10725912" cy="18288"/>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5120640" cy="4754880"/>
          </a:xfrm>
          <a:prstGeom prst="rect">
            <a:avLst/>
          </a:prstGeom>
          <a:noFill/>
        </p:spPr>
        <p:txBody>
          <a:bodyPr wrap="square" lIns="0" tIns="0" rIns="0" bIns="0">
            <a:spAutoFit/>
          </a:bodyPr>
          <a:lstStyle/>
          <a:p>
            <a:pPr algn="l">
              <a:lnSpc>
                <a:spcPct val="115000"/>
              </a:lnSpc>
              <a:spcAft>
                <a:spcPts val="1200"/>
              </a:spcAft>
            </a:pPr>
            <a:r>
              <a:rPr sz="1600" b="1" i="0">
                <a:solidFill>
                  <a:srgbClr val="1E5591"/>
                </a:solidFill>
                <a:latin typeface="Times New Roman"/>
              </a:rPr>
              <a:t>KIẾN TRÚC CÔNG NGHỆ:</a:t>
            </a:r>
          </a:p>
          <a:p>
            <a:pPr algn="l">
              <a:lnSpc>
                <a:spcPct val="115000"/>
              </a:lnSpc>
              <a:spcAft>
                <a:spcPts val="1000"/>
              </a:spcAft>
            </a:pPr>
            <a:r>
              <a:rPr sz="1400" b="0" i="0">
                <a:solidFill>
                  <a:srgbClr val="1B1B1E"/>
                </a:solidFill>
                <a:latin typeface="Times New Roman"/>
              </a:rPr>
              <a:t>•  Frontend: React + Vite + TypeScript, Monaco Editor đa ngôn ngữ, Recharts vẽ Radar chart.</a:t>
            </a:r>
          </a:p>
          <a:p>
            <a:pPr algn="l">
              <a:lnSpc>
                <a:spcPct val="115000"/>
              </a:lnSpc>
              <a:spcAft>
                <a:spcPts val="1000"/>
              </a:spcAft>
            </a:pPr>
            <a:r>
              <a:rPr sz="1400" b="0" i="0">
                <a:solidFill>
                  <a:srgbClr val="1B1B1E"/>
                </a:solidFill>
                <a:latin typeface="Times New Roman"/>
              </a:rPr>
              <a:t>•  Core Backend: Node.js Express, Prisma ORM kết nối PostgreSQL (Supabase Cloud).</a:t>
            </a:r>
          </a:p>
          <a:p>
            <a:pPr algn="l">
              <a:lnSpc>
                <a:spcPct val="115000"/>
              </a:lnSpc>
              <a:spcAft>
                <a:spcPts val="1000"/>
              </a:spcAft>
            </a:pPr>
            <a:r>
              <a:rPr sz="1400" b="0" i="0">
                <a:solidFill>
                  <a:srgbClr val="1B1B1E"/>
                </a:solidFill>
                <a:latin typeface="Times New Roman"/>
              </a:rPr>
              <a:t>•  AI Endpoint API: FastAPI (Python), PyTorch huấn luyện mô hình học sâu PAL-Net.</a:t>
            </a:r>
          </a:p>
        </p:txBody>
      </p:sp>
      <p:sp>
        <p:nvSpPr>
          <p:cNvPr id="5" name="TextBox 4"/>
          <p:cNvSpPr txBox="1"/>
          <p:nvPr/>
        </p:nvSpPr>
        <p:spPr>
          <a:xfrm>
            <a:off x="6217920" y="1371600"/>
            <a:ext cx="5120640" cy="4754880"/>
          </a:xfrm>
          <a:prstGeom prst="rect">
            <a:avLst/>
          </a:prstGeom>
          <a:noFill/>
        </p:spPr>
        <p:txBody>
          <a:bodyPr wrap="square" lIns="0" tIns="0" rIns="0" bIns="0">
            <a:spAutoFit/>
          </a:bodyPr>
          <a:lstStyle/>
          <a:p>
            <a:pPr algn="l">
              <a:lnSpc>
                <a:spcPct val="115000"/>
              </a:lnSpc>
              <a:spcAft>
                <a:spcPts val="1200"/>
              </a:spcAft>
            </a:pPr>
            <a:r>
              <a:rPr sz="1600" b="1" i="0">
                <a:solidFill>
                  <a:srgbClr val="2E7559"/>
                </a:solidFill>
                <a:latin typeface="Times New Roman"/>
              </a:rPr>
              <a:t>LỘ TRÌNH 10 TUẦN (5 GIAI ĐOẠN):</a:t>
            </a:r>
          </a:p>
          <a:p>
            <a:pPr algn="l">
              <a:lnSpc>
                <a:spcPct val="115000"/>
              </a:lnSpc>
              <a:spcAft>
                <a:spcPts val="1000"/>
              </a:spcAft>
            </a:pPr>
            <a:r>
              <a:rPr sz="1300" b="0" i="0">
                <a:solidFill>
                  <a:srgbClr val="1B1B1E"/>
                </a:solidFill>
                <a:latin typeface="Times New Roman"/>
              </a:rPr>
              <a:t>•  GĐ 1 (Tuần 1-2): Thiết kế Đồ thị tri thức Python / JS / SQL &amp; Base Database Schema.</a:t>
            </a:r>
          </a:p>
          <a:p>
            <a:pPr algn="l">
              <a:lnSpc>
                <a:spcPct val="115000"/>
              </a:lnSpc>
              <a:spcAft>
                <a:spcPts val="1000"/>
              </a:spcAft>
            </a:pPr>
            <a:r>
              <a:rPr sz="1300" b="0" i="0">
                <a:solidFill>
                  <a:srgbClr val="1B1B1E"/>
                </a:solidFill>
                <a:latin typeface="Times New Roman"/>
              </a:rPr>
              <a:t>•  GĐ 2 (Tuần 3-4): Triển khai model PAL-Net trên PyTorch &amp; chuẩn bị tập dữ liệu Pre-train mô phỏng.</a:t>
            </a:r>
          </a:p>
          <a:p>
            <a:pPr algn="l">
              <a:lnSpc>
                <a:spcPct val="115000"/>
              </a:lnSpc>
              <a:spcAft>
                <a:spcPts val="1000"/>
              </a:spcAft>
            </a:pPr>
            <a:r>
              <a:rPr sz="1300" b="0" i="0">
                <a:solidFill>
                  <a:srgbClr val="1B1B1E"/>
                </a:solidFill>
                <a:latin typeface="Times New Roman"/>
              </a:rPr>
              <a:t>•  GĐ 3 (Tuần 5-6): Đóng gói API gợi ý thích ứng và tích hợp Sandbox đa cách ly (Docker &amp; SQLite Engine).</a:t>
            </a:r>
          </a:p>
          <a:p>
            <a:pPr algn="l">
              <a:lnSpc>
                <a:spcPct val="115000"/>
              </a:lnSpc>
              <a:spcAft>
                <a:spcPts val="1000"/>
              </a:spcAft>
            </a:pPr>
            <a:r>
              <a:rPr sz="1300" b="0" i="0">
                <a:solidFill>
                  <a:srgbClr val="1B1B1E"/>
                </a:solidFill>
                <a:latin typeface="Times New Roman"/>
              </a:rPr>
              <a:t>•  GĐ 4 (Tuần 7-8): Phát triển Trợ giảng Socratic, AI Reviewer và AI content generator.</a:t>
            </a:r>
          </a:p>
          <a:p>
            <a:pPr algn="l">
              <a:lnSpc>
                <a:spcPct val="115000"/>
              </a:lnSpc>
              <a:spcAft>
                <a:spcPts val="1000"/>
              </a:spcAft>
            </a:pPr>
            <a:r>
              <a:rPr sz="1300" b="0" i="0">
                <a:solidFill>
                  <a:srgbClr val="1B1B1E"/>
                </a:solidFill>
                <a:latin typeface="Times New Roman"/>
              </a:rPr>
              <a:t>•  GĐ 5 (Tuần 9-10): Tích hợp Frontend, kiểm thử tổng thể hệ thống (End-to-End) và deploy cloud.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B2D42"/>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360152" cy="2011680"/>
          </a:xfrm>
          <a:prstGeom prst="rect">
            <a:avLst/>
          </a:prstGeom>
          <a:noFill/>
        </p:spPr>
        <p:txBody>
          <a:bodyPr wrap="square" tIns="91440" bIns="91440">
            <a:spAutoFit/>
          </a:bodyPr>
          <a:lstStyle/>
          <a:p>
            <a:pPr algn="ctr">
              <a:lnSpc>
                <a:spcPct val="115000"/>
              </a:lnSpc>
              <a:spcAft>
                <a:spcPts val="1200"/>
              </a:spcAft>
            </a:pPr>
            <a:r>
              <a:rPr sz="2800" b="1" i="0">
                <a:solidFill>
                  <a:srgbClr val="FFFFFF"/>
                </a:solidFill>
                <a:latin typeface="Times New Roman"/>
              </a:rPr>
              <a:t>BÁO CÁO ĐỀ CƯƠNG TỐT NGHIỆP
SẢN PHẨM DỰ KIẾN &amp; LỜI CẢM ƠN</a:t>
            </a:r>
          </a:p>
        </p:txBody>
      </p:sp>
      <p:sp>
        <p:nvSpPr>
          <p:cNvPr id="3" name="Rectangle 2"/>
          <p:cNvSpPr/>
          <p:nvPr/>
        </p:nvSpPr>
        <p:spPr>
          <a:xfrm>
            <a:off x="3200400" y="3566160"/>
            <a:ext cx="5788152" cy="36576"/>
          </a:xfrm>
          <a:prstGeom prst="rect">
            <a:avLst/>
          </a:prstGeom>
          <a:solidFill>
            <a:srgbClr val="E6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840480"/>
            <a:ext cx="10360152" cy="2286000"/>
          </a:xfrm>
          <a:prstGeom prst="rect">
            <a:avLst/>
          </a:prstGeom>
          <a:noFill/>
        </p:spPr>
        <p:txBody>
          <a:bodyPr wrap="square" tIns="91440" bIns="91440">
            <a:spAutoFit/>
          </a:bodyPr>
          <a:lstStyle/>
          <a:p>
            <a:pPr algn="ctr">
              <a:lnSpc>
                <a:spcPct val="115000"/>
              </a:lnSpc>
              <a:spcAft>
                <a:spcPts val="400"/>
              </a:spcAft>
            </a:pPr>
            <a:r>
              <a:rPr sz="1400" b="0" i="0">
                <a:solidFill>
                  <a:srgbClr val="D2D6DB"/>
                </a:solidFill>
                <a:latin typeface="Times New Roman"/>
              </a:rPr>
              <a:t>SẢN PHẨM BÀN GIAO DỰ KIẾN:</a:t>
            </a:r>
          </a:p>
          <a:p>
            <a:pPr algn="ctr">
              <a:lnSpc>
                <a:spcPct val="115000"/>
              </a:lnSpc>
              <a:spcAft>
                <a:spcPts val="400"/>
              </a:spcAft>
            </a:pPr>
            <a:r>
              <a:rPr sz="1400" b="0" i="0">
                <a:solidFill>
                  <a:srgbClr val="D2D6DB"/>
                </a:solidFill>
                <a:latin typeface="Times New Roman"/>
              </a:rPr>
              <a:t>1. Hệ thống Website hoàn chỉnh: Phân hệ học tập thích ứng đa ngôn ngữ ổn định, an toàn.</a:t>
            </a:r>
          </a:p>
          <a:p>
            <a:pPr algn="ctr">
              <a:lnSpc>
                <a:spcPct val="115000"/>
              </a:lnSpc>
              <a:spcAft>
                <a:spcPts val="400"/>
              </a:spcAft>
            </a:pPr>
            <a:r>
              <a:rPr sz="1400" b="0" i="0">
                <a:solidFill>
                  <a:srgbClr val="D2D6DB"/>
                </a:solidFill>
                <a:latin typeface="Times New Roman"/>
              </a:rPr>
              <a:t>2. Tập dữ liệu thực nghiệm: Logs tương tác và lịch sử giải bài của sinh viên.</a:t>
            </a:r>
          </a:p>
          <a:p>
            <a:pPr algn="ctr">
              <a:lnSpc>
                <a:spcPct val="115000"/>
              </a:lnSpc>
              <a:spcAft>
                <a:spcPts val="400"/>
              </a:spcAft>
            </a:pPr>
            <a:r>
              <a:rPr sz="1400" b="0" i="0">
                <a:solidFill>
                  <a:srgbClr val="D2D6DB"/>
                </a:solidFill>
                <a:latin typeface="Times New Roman"/>
              </a:rPr>
              <a:t>3. Báo cáo đánh giá hiệu năng PAL-Net đối chuẩn bảo đảm AUC &gt; 0.82.</a:t>
            </a:r>
          </a:p>
          <a:p>
            <a:pPr algn="ctr">
              <a:lnSpc>
                <a:spcPct val="115000"/>
              </a:lnSpc>
              <a:spcAft>
                <a:spcPts val="400"/>
              </a:spcAft>
            </a:pPr>
            <a:endParaRPr sz="1400" b="0" i="0">
              <a:solidFill>
                <a:srgbClr val="D2D6DB"/>
              </a:solidFill>
              <a:latin typeface="Times New Roman"/>
            </a:endParaRPr>
          </a:p>
          <a:p>
            <a:pPr algn="ctr">
              <a:lnSpc>
                <a:spcPct val="115000"/>
              </a:lnSpc>
              <a:spcAft>
                <a:spcPts val="400"/>
              </a:spcAft>
            </a:pPr>
            <a:r>
              <a:rPr sz="1400" b="0" i="0">
                <a:solidFill>
                  <a:srgbClr val="D2D6DB"/>
                </a:solidFill>
                <a:latin typeface="Times New Roman"/>
              </a:rPr>
              <a:t>XIN CHÂN THÀNH CẢM ƠN QUÝ THẦY CÔ TRONG HỘI ĐỒNG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1928</Words>
  <Application>Microsoft Office PowerPoint</Application>
  <PresentationFormat>Custom</PresentationFormat>
  <Paragraphs>94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May 5</cp:lastModifiedBy>
  <cp:revision>2</cp:revision>
  <dcterms:created xsi:type="dcterms:W3CDTF">2013-01-27T09:14:16Z</dcterms:created>
  <dcterms:modified xsi:type="dcterms:W3CDTF">2026-08-04T16:47:33Z</dcterms:modified>
  <cp:category/>
</cp:coreProperties>
</file>